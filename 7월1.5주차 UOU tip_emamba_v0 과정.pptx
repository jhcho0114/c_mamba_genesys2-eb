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8" r:id="rId1"/>
  </p:sldMasterIdLst>
  <p:notesMasterIdLst>
    <p:notesMasterId r:id="rId31"/>
  </p:notesMasterIdLst>
  <p:handoutMasterIdLst>
    <p:handoutMasterId r:id="rId32"/>
  </p:handoutMasterIdLst>
  <p:sldIdLst>
    <p:sldId id="1047" r:id="rId2"/>
    <p:sldId id="1093" r:id="rId3"/>
    <p:sldId id="1098" r:id="rId4"/>
    <p:sldId id="1106" r:id="rId5"/>
    <p:sldId id="1108" r:id="rId6"/>
    <p:sldId id="1107" r:id="rId7"/>
    <p:sldId id="1109" r:id="rId8"/>
    <p:sldId id="1110" r:id="rId9"/>
    <p:sldId id="1111" r:id="rId10"/>
    <p:sldId id="1115" r:id="rId11"/>
    <p:sldId id="1112" r:id="rId12"/>
    <p:sldId id="1113" r:id="rId13"/>
    <p:sldId id="1114" r:id="rId14"/>
    <p:sldId id="1116" r:id="rId15"/>
    <p:sldId id="1120" r:id="rId16"/>
    <p:sldId id="1117" r:id="rId17"/>
    <p:sldId id="1118" r:id="rId18"/>
    <p:sldId id="1119" r:id="rId19"/>
    <p:sldId id="1121" r:id="rId20"/>
    <p:sldId id="1122" r:id="rId21"/>
    <p:sldId id="1123" r:id="rId22"/>
    <p:sldId id="1090" r:id="rId23"/>
    <p:sldId id="1100" r:id="rId24"/>
    <p:sldId id="1103" r:id="rId25"/>
    <p:sldId id="1104" r:id="rId26"/>
    <p:sldId id="1105" r:id="rId27"/>
    <p:sldId id="1094" r:id="rId28"/>
    <p:sldId id="1102" r:id="rId29"/>
    <p:sldId id="1101" r:id="rId30"/>
  </p:sldIdLst>
  <p:sldSz cx="13004800" cy="9753600"/>
  <p:notesSz cx="7099300" cy="102346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1800" b="0" i="0" u="none" strike="noStrike" cap="none" spc="0" normalizeH="0" baseline="0"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1">
          <p15:clr>
            <a:srgbClr val="A4A3A4"/>
          </p15:clr>
        </p15:guide>
        <p15:guide id="2" pos="40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D09403-A110-087A-D73C-0A2C9D25C75A}" name="이상완" initials="전이" userId="S::lso500@mail.ulsan.ac.kr::96b8e34a-8cbc-4d1c-bc14-d555da540f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6EFCE"/>
    <a:srgbClr val="7F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C3C2611-4C71-4FC5-86AE-919BDF0F9419}" styleName=""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178262"/>
              <a:satOff val="-8650"/>
              <a:lumOff val="-7250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Row>
  </a:tblStyle>
  <a:tblStyle styleId="{EEE7283C-3CF3-47DC-8721-378D4A62B228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chemeClr val="accent5">
              <a:hueOff val="-239254"/>
              <a:lumOff val="-1400"/>
            </a:schemeClr>
          </a:solidFill>
        </a:fill>
      </a:tcStyle>
    </a:firstRow>
  </a:tblStyle>
  <a:tblStyle styleId="{2708684C-4D16-4618-839F-0558EEFCDFE6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/>
            </a:ln>
          </a:left>
          <a:right>
            <a:ln w="25400" cap="flat">
              <a:solidFill>
                <a:srgbClr val="5F6568"/>
              </a:solidFill>
              <a:prstDash val="solid"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63500" cap="flat">
              <a:solidFill>
                <a:srgbClr val="5F6568"/>
              </a:solidFill>
              <a:prstDash val="solid"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/>
            </a:ln>
          </a:left>
          <a:right>
            <a:ln w="25400" cap="flat">
              <a:solidFill>
                <a:srgbClr val="5F6568"/>
              </a:solidFill>
              <a:prstDash val="solid"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firstRow>
  </a:tblStyle>
  <a:tblStyle styleId="{33BA23B1-9221-436E-865A-0063620EA4FD}" styleName=""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222222"/>
              </a:solidFill>
              <a:prstDash val="solid"/>
              <a:miter/>
            </a:ln>
          </a:top>
          <a:bottom>
            <a:ln w="254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/>
            </a:ln>
          </a:left>
          <a:right>
            <a:ln w="63500" cap="flat">
              <a:solidFill>
                <a:srgbClr val="222222"/>
              </a:solidFill>
              <a:prstDash val="solid"/>
              <a:miter/>
            </a:ln>
          </a:right>
          <a:top>
            <a:ln w="25400" cap="flat">
              <a:solidFill>
                <a:srgbClr val="222222"/>
              </a:solidFill>
              <a:prstDash val="solid"/>
              <a:miter/>
            </a:ln>
          </a:top>
          <a:bottom>
            <a:ln w="254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222222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firstRow>
  </a:tblStyle>
  <a:tblStyle styleId="{CF821DB8-F4EB-4A41-A1BA-3FCAFE7338EE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889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147882"/>
          </a:solidFill>
        </a:fill>
      </a:tcStyle>
    </a:firstRow>
  </a:tblStyle>
  <a:tblStyle styleId="{C7B018BB-80A7-4F77-B60F-C8B233D01FF8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78187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34" autoAdjust="0"/>
    <p:restoredTop sz="86667" autoAdjust="0"/>
  </p:normalViewPr>
  <p:slideViewPr>
    <p:cSldViewPr snapToGrid="0">
      <p:cViewPr varScale="1">
        <p:scale>
          <a:sx n="117" d="100"/>
          <a:sy n="117" d="100"/>
        </p:scale>
        <p:origin x="2136" y="114"/>
      </p:cViewPr>
      <p:guideLst>
        <p:guide orient="horz" pos="3071"/>
        <p:guide pos="40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9" d="100"/>
          <a:sy n="109" d="100"/>
        </p:scale>
        <p:origin x="520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4B13CF4-DE26-4643-AC33-BF963B79312C}" type="datetime1">
              <a:rPr lang="ko-KR" altLang="en-US"/>
              <a:pPr lvl="0">
                <a:defRPr/>
              </a:pPr>
              <a:t>2026-07-03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D23B328-7739-49F3-9BFC-8E2CCC17EB8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9938"/>
            <a:ext cx="5114925" cy="3835400"/>
          </a:xfrm>
          <a:prstGeom prst="rect">
            <a:avLst/>
          </a:prstGeom>
        </p:spPr>
        <p:txBody>
          <a:bodyPr lIns="99040" tIns="49521" rIns="99040" bIns="49521"/>
          <a:lstStyle/>
          <a:p>
            <a:pPr lvl="0">
              <a:defRPr/>
            </a:pPr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46575" y="4861442"/>
            <a:ext cx="5206153" cy="4605576"/>
          </a:xfrm>
          <a:prstGeom prst="rect">
            <a:avLst/>
          </a:prstGeom>
        </p:spPr>
        <p:txBody>
          <a:bodyPr lIns="99040" tIns="49521" rIns="99040" bIns="49521"/>
          <a:lstStyle/>
          <a:p>
            <a:pPr lvl="0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1pPr>
    <a:lvl2pPr indent="2286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2pPr>
    <a:lvl3pPr indent="4572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3pPr>
    <a:lvl4pPr indent="6858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4pPr>
    <a:lvl5pPr indent="9144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5pPr>
    <a:lvl6pPr indent="11430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6pPr>
    <a:lvl7pPr indent="13716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7pPr>
    <a:lvl8pPr indent="16002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8pPr>
    <a:lvl9pPr indent="18288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sz="17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2F91-1DA4-0EC0-0EF7-9C1388E03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63EB8B-DB86-0AE0-F3FD-C050CB84EF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AE443F-669E-A24A-AB09-73E95D241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sz="1700" dirty="0"/>
          </a:p>
        </p:txBody>
      </p:sp>
    </p:spTree>
    <p:extLst>
      <p:ext uri="{BB962C8B-B14F-4D97-AF65-F5344CB8AC3E}">
        <p14:creationId xmlns:p14="http://schemas.microsoft.com/office/powerpoint/2010/main" val="1563236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D36A9-942F-B85E-B491-637AF3B5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6C3135-81A4-BCCF-687F-4400427EDD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D9245B-392F-C242-37E4-41720B531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sz="1700" dirty="0"/>
          </a:p>
        </p:txBody>
      </p:sp>
    </p:spTree>
    <p:extLst>
      <p:ext uri="{BB962C8B-B14F-4D97-AF65-F5344CB8AC3E}">
        <p14:creationId xmlns:p14="http://schemas.microsoft.com/office/powerpoint/2010/main" val="3593571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3E0CD-10D2-5DB9-8579-2D9327BE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81986F-A1E8-8159-466F-946ECC5EB5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FCDDA5-319D-60E2-5FF5-B95A9C159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sz="1700" dirty="0"/>
          </a:p>
        </p:txBody>
      </p:sp>
    </p:spTree>
    <p:extLst>
      <p:ext uri="{BB962C8B-B14F-4D97-AF65-F5344CB8AC3E}">
        <p14:creationId xmlns:p14="http://schemas.microsoft.com/office/powerpoint/2010/main" val="390901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"/>
          <p:cNvSpPr/>
          <p:nvPr/>
        </p:nvSpPr>
        <p:spPr>
          <a:xfrm>
            <a:off x="-1" y="3053125"/>
            <a:ext cx="13004801" cy="2540001"/>
          </a:xfrm>
          <a:prstGeom prst="rect">
            <a:avLst/>
          </a:prstGeom>
          <a:solidFill>
            <a:srgbClr val="00A664"/>
          </a:solidFill>
          <a:ln w="12700">
            <a:miter lim="400000"/>
          </a:ln>
        </p:spPr>
        <p:txBody>
          <a:bodyPr lIns="254000" tIns="254000" rIns="254000" bIns="254000" anchor="ctr"/>
          <a:lstStyle/>
          <a:p>
            <a:pPr algn="l">
              <a:lnSpc>
                <a:spcPct val="80000"/>
              </a:lnSpc>
              <a:spcBef>
                <a:spcPts val="1800"/>
              </a:spcBef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Avenir Next Regular"/>
              </a:defRPr>
            </a:pPr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406400" y="3053125"/>
            <a:ext cx="12192000" cy="2540001"/>
          </a:xfrm>
          <a:prstGeom prst="rect">
            <a:avLst/>
          </a:prstGeom>
        </p:spPr>
        <p:txBody>
          <a:bodyPr anchor="t"/>
          <a:lstStyle>
            <a:lvl1pPr>
              <a:spcBef>
                <a:spcPts val="0"/>
              </a:spcBef>
              <a:defRPr sz="8000" cap="none" baseline="0">
                <a:solidFill>
                  <a:srgbClr val="F7F7F7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06400" y="5810962"/>
            <a:ext cx="12192000" cy="266630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700"/>
              </a:spcBef>
              <a:buClrTx/>
              <a:buSzTx/>
              <a:buNone/>
              <a:defRPr sz="45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6" name="Location, Year"/>
          <p:cNvSpPr txBox="1">
            <a:spLocks noGrp="1"/>
          </p:cNvSpPr>
          <p:nvPr>
            <p:ph type="body" sz="quarter" idx="13"/>
          </p:nvPr>
        </p:nvSpPr>
        <p:spPr>
          <a:xfrm>
            <a:off x="406400" y="8980785"/>
            <a:ext cx="12192000" cy="453430"/>
          </a:xfrm>
          <a:prstGeom prst="rect">
            <a:avLst/>
          </a:prstGeom>
        </p:spPr>
        <p:txBody>
          <a:bodyPr anchor="b"/>
          <a:lstStyle>
            <a:lvl1pPr marL="0" indent="0" defTabSz="525779">
              <a:lnSpc>
                <a:spcPct val="80000"/>
              </a:lnSpc>
              <a:spcBef>
                <a:spcPts val="2000"/>
              </a:spcBef>
              <a:buClrTx/>
              <a:buSzTx/>
              <a:buNone/>
              <a:defRPr sz="2430" cap="small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Location, Year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94440" y="431800"/>
            <a:ext cx="406898" cy="457200"/>
          </a:xfrm>
          <a:prstGeom prst="rect">
            <a:avLst/>
          </a:prstGeom>
        </p:spPr>
        <p:txBody>
          <a:bodyPr/>
          <a:lstStyle>
            <a:lvl1pPr algn="r">
              <a:lnSpc>
                <a:spcPct val="80000"/>
              </a:lnSpc>
              <a:defRPr sz="2400">
                <a:solidFill>
                  <a:srgbClr val="838787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&amp;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 txBox="1"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400" b="1" cap="none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1266741"/>
            <a:ext cx="12192001" cy="7986316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  <a:lvl2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2pPr>
            <a:lvl3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3pPr>
            <a:lvl4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4pPr>
            <a:lvl5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360B8AA7-294D-4AB9-A31A-ACF342B11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090"/>
          <a:stretch/>
        </p:blipFill>
        <p:spPr>
          <a:xfrm>
            <a:off x="10544960" y="9329692"/>
            <a:ext cx="2053439" cy="420987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898BBA0-DE45-43B3-A69A-3A258E53729D}"/>
              </a:ext>
            </a:extLst>
          </p:cNvPr>
          <p:cNvCxnSpPr>
            <a:cxnSpLocks/>
          </p:cNvCxnSpPr>
          <p:nvPr userDrawn="1"/>
        </p:nvCxnSpPr>
        <p:spPr>
          <a:xfrm>
            <a:off x="0" y="1090569"/>
            <a:ext cx="13004800" cy="0"/>
          </a:xfrm>
          <a:prstGeom prst="line">
            <a:avLst/>
          </a:prstGeom>
          <a:noFill/>
          <a:ln w="25400" cap="flat">
            <a:solidFill>
              <a:srgbClr val="00A664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216817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06400" y="316805"/>
            <a:ext cx="12192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1390054"/>
            <a:ext cx="12192001" cy="7639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2pPr marL="762000" indent="-381000">
              <a:spcBef>
                <a:spcPts val="1200"/>
              </a:spcBef>
              <a:buSzPct val="100000"/>
              <a:buChar char="‣"/>
              <a:defRPr sz="2800"/>
            </a:lvl2pPr>
            <a:lvl3pPr marL="1143000" indent="-381000">
              <a:spcBef>
                <a:spcPts val="800"/>
              </a:spcBef>
              <a:buSzPct val="100000"/>
              <a:defRPr sz="2400"/>
            </a:lvl3pPr>
            <a:lvl4pPr marL="1524000" indent="-381000">
              <a:spcBef>
                <a:spcPts val="400"/>
              </a:spcBef>
              <a:buSzPct val="100000"/>
              <a:buChar char="‣"/>
              <a:defRPr sz="2000"/>
            </a:lvl4pPr>
            <a:lvl5pPr marL="1905000" indent="-381000">
              <a:spcBef>
                <a:spcPts val="0"/>
              </a:spcBef>
              <a:buSzPct val="100000"/>
              <a:defRPr sz="160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28376" y="9334500"/>
            <a:ext cx="333748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1800">
                <a:solidFill>
                  <a:srgbClr val="ADADAD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5400" b="0" i="0" u="none" strike="noStrike" cap="small" spc="0" baseline="0">
          <a:solidFill>
            <a:srgbClr val="00A664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1pPr>
      <a:lvl2pPr marL="0" marR="0" indent="2286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2pPr>
      <a:lvl3pPr marL="0" marR="0" indent="4572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3pPr>
      <a:lvl4pPr marL="0" marR="0" indent="6858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4pPr>
      <a:lvl5pPr marL="0" marR="0" indent="9144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5pPr>
      <a:lvl6pPr marL="0" marR="0" indent="11430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6pPr>
      <a:lvl7pPr marL="0" marR="0" indent="13716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7pPr>
      <a:lvl8pPr marL="0" marR="0" indent="16002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8pPr>
      <a:lvl9pPr marL="0" marR="0" indent="18288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9pPr>
    </p:titleStyle>
    <p:bodyStyle>
      <a:lvl1pPr marL="381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100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1pPr>
      <a:lvl2pPr marL="762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2pPr>
      <a:lvl3pPr marL="1143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3pPr>
      <a:lvl4pPr marL="1524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4pPr>
      <a:lvl5pPr marL="1905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5pPr>
      <a:lvl6pPr marL="2965726" marR="0" indent="-362226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6pPr>
      <a:lvl7pPr marL="34864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7pPr>
      <a:lvl8pPr marL="40071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8pPr>
      <a:lvl9pPr marL="45278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xFTL: Exploiting Error Tolerance for Extending Lifetime of NAND Flash Stor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>
            <a:lvl1pPr defTabSz="566674">
              <a:defRPr sz="6305"/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en-US" altLang="ko-KR" sz="4000" dirty="0"/>
              <a:t>tip </a:t>
            </a:r>
            <a:r>
              <a:rPr lang="en-US" altLang="ko-KR" sz="4000" dirty="0" err="1"/>
              <a:t>emamba</a:t>
            </a:r>
            <a:r>
              <a:rPr lang="en-US" altLang="ko-KR" sz="4000" dirty="0"/>
              <a:t> v0</a:t>
            </a:r>
            <a:endParaRPr lang="ko-KR" altLang="en-US" sz="4000" dirty="0"/>
          </a:p>
        </p:txBody>
      </p:sp>
      <p:sp>
        <p:nvSpPr>
          <p:cNvPr id="83" name="Younghyun Kim…"/>
          <p:cNvSpPr txBox="1">
            <a:spLocks noGrp="1"/>
          </p:cNvSpPr>
          <p:nvPr>
            <p:ph type="body" sz="half" idx="1"/>
          </p:nvPr>
        </p:nvSpPr>
        <p:spPr>
          <a:xfrm>
            <a:off x="254000" y="6481522"/>
            <a:ext cx="12192000" cy="266630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500" dirty="0"/>
              <a:t>University of </a:t>
            </a:r>
            <a:r>
              <a:rPr lang="en-US" altLang="ko-KR" sz="3500" dirty="0" err="1"/>
              <a:t>ulsan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/>
              <a:t>Electronical, Electronic and Computer Engineering</a:t>
            </a:r>
            <a:r>
              <a:rPr lang="ko-KR" altLang="en-US" sz="3500" dirty="0"/>
              <a:t> 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 err="1"/>
              <a:t>Jaehyeok</a:t>
            </a:r>
            <a:r>
              <a:rPr lang="en-US" altLang="ko-KR" sz="3500" dirty="0"/>
              <a:t> Cho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7D4E7-98C4-53C9-23CC-70DA057C7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34A7B8-0211-7F49-148C-AF0088C8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Porting</a:t>
            </a:r>
            <a:endParaRPr lang="ko-KR" altLang="en-US" sz="4400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F0AD03-2836-15B1-72F2-6120183D3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asdf</a:t>
            </a:r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F044B9-D9C4-E2D4-2878-0E1384933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807" y="2900975"/>
            <a:ext cx="8078993" cy="5695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016E5C-F8EC-3F86-3272-4FA8680970C2}"/>
              </a:ext>
            </a:extLst>
          </p:cNvPr>
          <p:cNvSpPr txBox="1"/>
          <p:nvPr/>
        </p:nvSpPr>
        <p:spPr>
          <a:xfrm>
            <a:off x="0" y="4783583"/>
            <a:ext cx="4927302" cy="127214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$ cd </a:t>
            </a:r>
            <a:r>
              <a:rPr kumimoji="0" lang="en-US" altLang="ko-KR" sz="2800" b="0" i="0" u="none" strike="noStrike" cap="none" spc="0" normalizeH="0" baseline="0" dirty="0" err="1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sim_rtl</a:t>
            </a:r>
            <a:br>
              <a:rPr lang="en-US" altLang="ko-KR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rgbClr val="494949"/>
                </a:solidFill>
                <a:latin typeface="Consolas" panose="020B0609020204030204" pitchFamily="49" charset="0"/>
              </a:rPr>
              <a:t>$</a:t>
            </a:r>
            <a:r>
              <a:rPr lang="ko-KR" altLang="en-US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494949"/>
                </a:solidFill>
                <a:latin typeface="Consolas" panose="020B0609020204030204" pitchFamily="49" charset="0"/>
              </a:rPr>
              <a:t>vsim</a:t>
            </a:r>
            <a:r>
              <a:rPr lang="ko-KR" altLang="en-US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494949"/>
                </a:solidFill>
                <a:latin typeface="Consolas" panose="020B0609020204030204" pitchFamily="49" charset="0"/>
              </a:rPr>
              <a:t>–view</a:t>
            </a:r>
            <a:r>
              <a:rPr lang="ko-KR" altLang="en-US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494949"/>
                </a:solidFill>
                <a:latin typeface="Consolas" panose="020B0609020204030204" pitchFamily="49" charset="0"/>
              </a:rPr>
              <a:t>vsim.wlf</a:t>
            </a:r>
            <a:endParaRPr kumimoji="0" lang="en-US" altLang="ko-KR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Consolas" panose="020B0609020204030204" pitchFamily="49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88430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7094-13CB-1D88-F89F-3058593A8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925ED-7A64-E666-9874-5C974401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Porting</a:t>
            </a:r>
            <a:endParaRPr lang="ko-KR" altLang="en-US" sz="4400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FEAC02-DCEC-64AB-661D-ED2EF1BEE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asdf</a:t>
            </a:r>
            <a:endParaRPr lang="ko-KR" altLang="en-US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4A878D-7472-5A21-7A4F-CBC1A62FD0F3}"/>
              </a:ext>
            </a:extLst>
          </p:cNvPr>
          <p:cNvSpPr txBox="1"/>
          <p:nvPr/>
        </p:nvSpPr>
        <p:spPr>
          <a:xfrm>
            <a:off x="796164" y="9022224"/>
            <a:ext cx="4995036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The sequence of the commands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488C20A-EC5A-14AB-7AF7-C73FAC7182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628"/>
          <a:stretch>
            <a:fillRect/>
          </a:stretch>
        </p:blipFill>
        <p:spPr>
          <a:xfrm>
            <a:off x="7163223" y="2342664"/>
            <a:ext cx="2633133" cy="632298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862E948-D9DD-6B25-84ED-220345B432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372"/>
          <a:stretch>
            <a:fillRect/>
          </a:stretch>
        </p:blipFill>
        <p:spPr>
          <a:xfrm>
            <a:off x="9677824" y="2342664"/>
            <a:ext cx="2467056" cy="63229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2D457A-802D-E4FD-12E9-09B507508CB9}"/>
              </a:ext>
            </a:extLst>
          </p:cNvPr>
          <p:cNvSpPr txBox="1"/>
          <p:nvPr/>
        </p:nvSpPr>
        <p:spPr>
          <a:xfrm>
            <a:off x="84965" y="4437197"/>
            <a:ext cx="6417435" cy="213391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$ cd imp_genesys2-be_2026-06-22</a:t>
            </a:r>
            <a:br>
              <a:rPr lang="en-US" altLang="ko-KR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rgbClr val="494949"/>
                </a:solidFill>
                <a:latin typeface="Consolas" panose="020B0609020204030204" pitchFamily="49" charset="0"/>
              </a:rPr>
              <a:t>$</a:t>
            </a:r>
            <a:r>
              <a:rPr lang="ko-KR" altLang="en-US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494949"/>
                </a:solidFill>
                <a:latin typeface="Consolas" panose="020B0609020204030204" pitchFamily="49" charset="0"/>
              </a:rPr>
              <a:t>make imp </a:t>
            </a:r>
            <a:r>
              <a:rPr lang="ko-KR" altLang="en-US" dirty="0">
                <a:solidFill>
                  <a:srgbClr val="494949"/>
                </a:solidFill>
                <a:latin typeface="Consolas" panose="020B0609020204030204" pitchFamily="49" charset="0"/>
              </a:rPr>
              <a:t>또는 </a:t>
            </a:r>
            <a:r>
              <a:rPr lang="en-US" altLang="ko-KR" dirty="0">
                <a:solidFill>
                  <a:srgbClr val="494949"/>
                </a:solidFill>
                <a:latin typeface="Consolas" panose="020B0609020204030204" pitchFamily="49" charset="0"/>
              </a:rPr>
              <a:t>make </a:t>
            </a:r>
            <a:r>
              <a:rPr lang="en-US" altLang="ko-KR" dirty="0" err="1">
                <a:solidFill>
                  <a:srgbClr val="494949"/>
                </a:solidFill>
                <a:latin typeface="Consolas" panose="020B0609020204030204" pitchFamily="49" charset="0"/>
              </a:rPr>
              <a:t>reimp</a:t>
            </a:r>
            <a:br>
              <a:rPr lang="en-US" altLang="ko-KR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rgbClr val="494949"/>
                </a:solidFill>
                <a:latin typeface="Consolas" panose="020B0609020204030204" pitchFamily="49" charset="0"/>
              </a:rPr>
              <a:t>$ make program</a:t>
            </a:r>
            <a:br>
              <a:rPr lang="en-US" altLang="ko-KR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rgbClr val="494949"/>
                </a:solidFill>
                <a:latin typeface="Consolas" panose="020B0609020204030204" pitchFamily="49" charset="0"/>
              </a:rPr>
              <a:t>$ make drv00.all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3AD039-8D3D-2753-1831-5CA8AA5AE8FB}"/>
              </a:ext>
            </a:extLst>
          </p:cNvPr>
          <p:cNvSpPr txBox="1"/>
          <p:nvPr/>
        </p:nvSpPr>
        <p:spPr>
          <a:xfrm>
            <a:off x="8243078" y="9022224"/>
            <a:ext cx="2869492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Result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FD8CC17-75E2-0540-AE20-C1E57A761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86930"/>
            <a:ext cx="2188707" cy="119256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33E2FB5-7616-5AC6-E52D-03520E15C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227" y="7516997"/>
            <a:ext cx="1960992" cy="66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8629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05A94-9415-DCC2-FB9D-75080406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E25277-F3AF-4843-AE3A-A5805554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Porting</a:t>
            </a:r>
            <a:endParaRPr lang="ko-KR" altLang="en-US" sz="4400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57FC4B-DE45-7892-5667-5A1A8CE58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asdf</a:t>
            </a:r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4E0CFF-4CA5-E4EF-1864-9FFFD97CC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26" y="2036190"/>
            <a:ext cx="5504992" cy="50214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7D365A1-EC84-D2C0-2077-0532F668D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318" y="2487733"/>
            <a:ext cx="5658440" cy="169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86839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30756-2825-F7FF-6510-B4CE47417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42AED6F-0704-4E1B-E4A2-15A1B66D5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1" y="524880"/>
            <a:ext cx="5277587" cy="7563906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5307EE50-EDAD-CA39-9CFE-1FBC846A6254}"/>
              </a:ext>
            </a:extLst>
          </p:cNvPr>
          <p:cNvSpPr/>
          <p:nvPr/>
        </p:nvSpPr>
        <p:spPr>
          <a:xfrm>
            <a:off x="1772239" y="5533534"/>
            <a:ext cx="1762813" cy="245097"/>
          </a:xfrm>
          <a:prstGeom prst="frame">
            <a:avLst>
              <a:gd name="adj1" fmla="val 0"/>
            </a:avLst>
          </a:prstGeom>
          <a:solidFill>
            <a:srgbClr val="FF00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C3CEE2-1CE8-92C5-FADE-FFCB5F2C5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0" y="1918874"/>
            <a:ext cx="4382112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434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02A611D-443E-79DA-30E0-4995BE750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8" y="490193"/>
            <a:ext cx="4372234" cy="7450159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CAF66B90-260C-293F-EF51-4CB02567A601}"/>
              </a:ext>
            </a:extLst>
          </p:cNvPr>
          <p:cNvSpPr/>
          <p:nvPr/>
        </p:nvSpPr>
        <p:spPr>
          <a:xfrm>
            <a:off x="1480008" y="4609707"/>
            <a:ext cx="1508289" cy="245097"/>
          </a:xfrm>
          <a:prstGeom prst="frame">
            <a:avLst>
              <a:gd name="adj1" fmla="val 0"/>
            </a:avLst>
          </a:prstGeom>
          <a:solidFill>
            <a:srgbClr val="FF00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7" name="액자 6">
            <a:extLst>
              <a:ext uri="{FF2B5EF4-FFF2-40B4-BE49-F238E27FC236}">
                <a16:creationId xmlns:a16="http://schemas.microsoft.com/office/drawing/2014/main" id="{7030521E-C461-D46F-84EB-1557494377AE}"/>
              </a:ext>
            </a:extLst>
          </p:cNvPr>
          <p:cNvSpPr/>
          <p:nvPr/>
        </p:nvSpPr>
        <p:spPr>
          <a:xfrm>
            <a:off x="1225484" y="6152480"/>
            <a:ext cx="1932495" cy="1209854"/>
          </a:xfrm>
          <a:prstGeom prst="frame">
            <a:avLst>
              <a:gd name="adj1" fmla="val 0"/>
            </a:avLst>
          </a:prstGeom>
          <a:solidFill>
            <a:srgbClr val="FF00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09C96A5-001B-B92F-07A4-0FEFA5A18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256" y="761645"/>
            <a:ext cx="7936907" cy="238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47998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37B89-9C45-CC55-D25B-A6315A48B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44A211-8155-A42E-4CE3-172F3AB73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50720" cy="9753600"/>
          </a:xfrm>
          <a:prstGeom prst="rect">
            <a:avLst/>
          </a:prstGeom>
        </p:spPr>
      </p:pic>
      <p:sp>
        <p:nvSpPr>
          <p:cNvPr id="4" name="액자 3">
            <a:extLst>
              <a:ext uri="{FF2B5EF4-FFF2-40B4-BE49-F238E27FC236}">
                <a16:creationId xmlns:a16="http://schemas.microsoft.com/office/drawing/2014/main" id="{4AE14748-F49A-F1BD-98C8-93E2FE349AD3}"/>
              </a:ext>
            </a:extLst>
          </p:cNvPr>
          <p:cNvSpPr/>
          <p:nvPr/>
        </p:nvSpPr>
        <p:spPr>
          <a:xfrm>
            <a:off x="187778" y="7470321"/>
            <a:ext cx="1330779" cy="179615"/>
          </a:xfrm>
          <a:prstGeom prst="frame">
            <a:avLst>
              <a:gd name="adj1" fmla="val 0"/>
            </a:avLst>
          </a:prstGeom>
          <a:solidFill>
            <a:srgbClr val="92D050"/>
          </a:solidFill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CA3D8144-9B33-00D5-EC21-A05E99EFEB74}"/>
              </a:ext>
            </a:extLst>
          </p:cNvPr>
          <p:cNvSpPr/>
          <p:nvPr/>
        </p:nvSpPr>
        <p:spPr>
          <a:xfrm>
            <a:off x="187777" y="8447364"/>
            <a:ext cx="1330779" cy="179615"/>
          </a:xfrm>
          <a:prstGeom prst="frame">
            <a:avLst>
              <a:gd name="adj1" fmla="val 0"/>
            </a:avLst>
          </a:prstGeom>
          <a:solidFill>
            <a:srgbClr val="FF00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88A4963-EC80-510F-308F-F955863CD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3910" y="304840"/>
            <a:ext cx="4062271" cy="5646116"/>
          </a:xfrm>
          <a:prstGeom prst="rect">
            <a:avLst/>
          </a:prstGeom>
        </p:spPr>
      </p:pic>
      <p:sp>
        <p:nvSpPr>
          <p:cNvPr id="12" name="액자 11">
            <a:extLst>
              <a:ext uri="{FF2B5EF4-FFF2-40B4-BE49-F238E27FC236}">
                <a16:creationId xmlns:a16="http://schemas.microsoft.com/office/drawing/2014/main" id="{8E7680E6-1C0B-F3ED-786D-D78484A68901}"/>
              </a:ext>
            </a:extLst>
          </p:cNvPr>
          <p:cNvSpPr/>
          <p:nvPr/>
        </p:nvSpPr>
        <p:spPr>
          <a:xfrm>
            <a:off x="9864531" y="3722107"/>
            <a:ext cx="2960830" cy="163286"/>
          </a:xfrm>
          <a:prstGeom prst="frame">
            <a:avLst>
              <a:gd name="adj1" fmla="val 0"/>
            </a:avLst>
          </a:prstGeom>
          <a:solidFill>
            <a:srgbClr val="92D050"/>
          </a:solidFill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12705FE-1673-9987-73DD-D2289FFAE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237" y="5950956"/>
            <a:ext cx="3555164" cy="3038730"/>
          </a:xfrm>
          <a:prstGeom prst="rect">
            <a:avLst/>
          </a:prstGeom>
        </p:spPr>
      </p:pic>
      <p:sp>
        <p:nvSpPr>
          <p:cNvPr id="15" name="액자 14">
            <a:extLst>
              <a:ext uri="{FF2B5EF4-FFF2-40B4-BE49-F238E27FC236}">
                <a16:creationId xmlns:a16="http://schemas.microsoft.com/office/drawing/2014/main" id="{3B25283D-923A-1CAB-2B96-F1158E2AE540}"/>
              </a:ext>
            </a:extLst>
          </p:cNvPr>
          <p:cNvSpPr/>
          <p:nvPr/>
        </p:nvSpPr>
        <p:spPr>
          <a:xfrm>
            <a:off x="3329215" y="6561568"/>
            <a:ext cx="2089453" cy="137583"/>
          </a:xfrm>
          <a:prstGeom prst="frame">
            <a:avLst>
              <a:gd name="adj1" fmla="val 0"/>
            </a:avLst>
          </a:prstGeom>
          <a:solidFill>
            <a:srgbClr val="92D050"/>
          </a:solidFill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42131A-3C72-B542-8846-6E117229CF8C}"/>
              </a:ext>
            </a:extLst>
          </p:cNvPr>
          <p:cNvSpPr txBox="1"/>
          <p:nvPr/>
        </p:nvSpPr>
        <p:spPr>
          <a:xfrm>
            <a:off x="9315278" y="5720312"/>
            <a:ext cx="3039533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dirty="0">
                <a:solidFill>
                  <a:srgbClr val="494949"/>
                </a:solidFill>
              </a:rPr>
              <a:t>그대로 가져다 써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0" name="액자 19">
            <a:extLst>
              <a:ext uri="{FF2B5EF4-FFF2-40B4-BE49-F238E27FC236}">
                <a16:creationId xmlns:a16="http://schemas.microsoft.com/office/drawing/2014/main" id="{B62F3F18-CF97-FD05-EBD7-5EAA7BBC47FB}"/>
              </a:ext>
            </a:extLst>
          </p:cNvPr>
          <p:cNvSpPr/>
          <p:nvPr/>
        </p:nvSpPr>
        <p:spPr>
          <a:xfrm>
            <a:off x="3329215" y="6951133"/>
            <a:ext cx="2165652" cy="1718734"/>
          </a:xfrm>
          <a:prstGeom prst="frame">
            <a:avLst>
              <a:gd name="adj1" fmla="val 985"/>
            </a:avLst>
          </a:prstGeom>
          <a:noFill/>
          <a:ln w="25400" cap="flat">
            <a:solidFill>
              <a:schemeClr val="accent4">
                <a:lumMod val="60000"/>
                <a:lumOff val="40000"/>
              </a:schemeClr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23" name="액자 22">
            <a:extLst>
              <a:ext uri="{FF2B5EF4-FFF2-40B4-BE49-F238E27FC236}">
                <a16:creationId xmlns:a16="http://schemas.microsoft.com/office/drawing/2014/main" id="{48731FAB-9712-182C-F3C9-65037E0344B4}"/>
              </a:ext>
            </a:extLst>
          </p:cNvPr>
          <p:cNvSpPr/>
          <p:nvPr/>
        </p:nvSpPr>
        <p:spPr>
          <a:xfrm>
            <a:off x="9872998" y="3885393"/>
            <a:ext cx="1801585" cy="1651807"/>
          </a:xfrm>
          <a:prstGeom prst="frame">
            <a:avLst>
              <a:gd name="adj1" fmla="val 1538"/>
            </a:avLst>
          </a:prstGeom>
          <a:noFill/>
          <a:ln w="25400" cap="flat">
            <a:solidFill>
              <a:schemeClr val="accent4">
                <a:lumMod val="60000"/>
                <a:lumOff val="40000"/>
              </a:schemeClr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09C701-572F-4252-D675-DED6BCEAC2D1}"/>
              </a:ext>
            </a:extLst>
          </p:cNvPr>
          <p:cNvSpPr txBox="1"/>
          <p:nvPr/>
        </p:nvSpPr>
        <p:spPr>
          <a:xfrm>
            <a:off x="2697052" y="8759042"/>
            <a:ext cx="3039533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ko-KR" altLang="en-US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원본 템플릿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771FF914-4608-45A9-9AAF-F901D0433662}"/>
              </a:ext>
            </a:extLst>
          </p:cNvPr>
          <p:cNvCxnSpPr>
            <a:cxnSpLocks/>
          </p:cNvCxnSpPr>
          <p:nvPr/>
        </p:nvCxnSpPr>
        <p:spPr>
          <a:xfrm flipV="1">
            <a:off x="1518557" y="5950956"/>
            <a:ext cx="920680" cy="151936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8518971-0177-3DBA-8018-E55D898F0718}"/>
              </a:ext>
            </a:extLst>
          </p:cNvPr>
          <p:cNvCxnSpPr/>
          <p:nvPr/>
        </p:nvCxnSpPr>
        <p:spPr>
          <a:xfrm>
            <a:off x="1518557" y="7649936"/>
            <a:ext cx="920680" cy="133975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45" name="그림 44">
            <a:extLst>
              <a:ext uri="{FF2B5EF4-FFF2-40B4-BE49-F238E27FC236}">
                <a16:creationId xmlns:a16="http://schemas.microsoft.com/office/drawing/2014/main" id="{250A420A-94F3-F7FD-50C6-B9B8BD19E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8087" y="97489"/>
            <a:ext cx="6330622" cy="463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2471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23F5C6-6AC3-5DFA-27FF-5F06AAE3E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14" y="0"/>
            <a:ext cx="3948827" cy="38367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331239C-E9DA-F2E8-F56E-787C78897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14" y="3875611"/>
            <a:ext cx="3948827" cy="15214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7DC4A78-0422-37AC-180E-C7C1A1935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403" y="233639"/>
            <a:ext cx="2324424" cy="31151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C198200-D11F-B31E-155E-2D3572045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700" y="233639"/>
            <a:ext cx="2372056" cy="3362794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4768D245-1BC3-2003-9089-21D24964EA5B}"/>
              </a:ext>
            </a:extLst>
          </p:cNvPr>
          <p:cNvSpPr/>
          <p:nvPr/>
        </p:nvSpPr>
        <p:spPr>
          <a:xfrm>
            <a:off x="6592668" y="1703312"/>
            <a:ext cx="1129192" cy="423447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Consolas" panose="020B0609020204030204" pitchFamily="49" charset="0"/>
              </a:rPr>
              <a:t>make syn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21" name="액자 20">
            <a:extLst>
              <a:ext uri="{FF2B5EF4-FFF2-40B4-BE49-F238E27FC236}">
                <a16:creationId xmlns:a16="http://schemas.microsoft.com/office/drawing/2014/main" id="{5102F88C-5A36-B3A6-9167-90235EDEDDB6}"/>
              </a:ext>
            </a:extLst>
          </p:cNvPr>
          <p:cNvSpPr/>
          <p:nvPr/>
        </p:nvSpPr>
        <p:spPr>
          <a:xfrm>
            <a:off x="4665133" y="2909318"/>
            <a:ext cx="2063694" cy="439431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23" name="액자 22">
            <a:extLst>
              <a:ext uri="{FF2B5EF4-FFF2-40B4-BE49-F238E27FC236}">
                <a16:creationId xmlns:a16="http://schemas.microsoft.com/office/drawing/2014/main" id="{8ECF5BFA-9E2A-6B3B-B6DB-184E1ECFBA3D}"/>
              </a:ext>
            </a:extLst>
          </p:cNvPr>
          <p:cNvSpPr/>
          <p:nvPr/>
        </p:nvSpPr>
        <p:spPr>
          <a:xfrm>
            <a:off x="7857066" y="2909318"/>
            <a:ext cx="2100690" cy="687115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B22587B6-2E0A-F5CA-9880-4EE3BFAF50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3621" y="3723523"/>
            <a:ext cx="2319699" cy="6030077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6B9E1E6-6730-85DC-A24C-116C06DE81E7}"/>
              </a:ext>
            </a:extLst>
          </p:cNvPr>
          <p:cNvCxnSpPr>
            <a:endCxn id="25" idx="0"/>
          </p:cNvCxnSpPr>
          <p:nvPr/>
        </p:nvCxnSpPr>
        <p:spPr>
          <a:xfrm flipH="1">
            <a:off x="5863471" y="3048000"/>
            <a:ext cx="1993595" cy="675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A15B7A0C-4B3A-456D-CBD4-4259B12C59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0008" y="2814361"/>
            <a:ext cx="2394792" cy="6939239"/>
          </a:xfrm>
          <a:prstGeom prst="rect">
            <a:avLst/>
          </a:prstGeom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87D4DA9-D5B4-D85F-E61B-E906A416E860}"/>
              </a:ext>
            </a:extLst>
          </p:cNvPr>
          <p:cNvCxnSpPr/>
          <p:nvPr/>
        </p:nvCxnSpPr>
        <p:spPr>
          <a:xfrm flipV="1">
            <a:off x="9457267" y="3252875"/>
            <a:ext cx="1152741" cy="2269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55780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EAC7BD3-3D8D-3279-31FA-B2630F7BC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67" y="252685"/>
            <a:ext cx="5172797" cy="3677163"/>
          </a:xfrm>
          <a:prstGeom prst="rect">
            <a:avLst/>
          </a:prstGeom>
        </p:spPr>
      </p:pic>
      <p:sp>
        <p:nvSpPr>
          <p:cNvPr id="12" name="액자 11">
            <a:extLst>
              <a:ext uri="{FF2B5EF4-FFF2-40B4-BE49-F238E27FC236}">
                <a16:creationId xmlns:a16="http://schemas.microsoft.com/office/drawing/2014/main" id="{ED7387FE-1E7C-6F3A-2494-F7FE12F88A0A}"/>
              </a:ext>
            </a:extLst>
          </p:cNvPr>
          <p:cNvSpPr/>
          <p:nvPr/>
        </p:nvSpPr>
        <p:spPr>
          <a:xfrm>
            <a:off x="1524000" y="2997200"/>
            <a:ext cx="1803400" cy="736600"/>
          </a:xfrm>
          <a:prstGeom prst="frame">
            <a:avLst>
              <a:gd name="adj1" fmla="val 0"/>
            </a:avLst>
          </a:prstGeom>
          <a:solidFill>
            <a:srgbClr val="FF00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70404673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9F7C-85FC-6DAA-9657-A8C7B5D1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4845626-3A6C-9EC5-C4B3-2870CBAFB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348" y="0"/>
            <a:ext cx="6762104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4968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D8D0E-9949-2D7C-AE31-4B508984F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55B540A6-3456-5899-A574-2FFDC99E6623}"/>
              </a:ext>
            </a:extLst>
          </p:cNvPr>
          <p:cNvGrpSpPr/>
          <p:nvPr/>
        </p:nvGrpSpPr>
        <p:grpSpPr>
          <a:xfrm>
            <a:off x="6918372" y="0"/>
            <a:ext cx="7039957" cy="3480215"/>
            <a:chOff x="6918372" y="0"/>
            <a:chExt cx="7039957" cy="3480215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B72DFF4-C339-2A81-BEC3-BE4AD81CB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18372" y="0"/>
              <a:ext cx="6887536" cy="571580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DE840E68-7425-4291-F3F7-9D87826E0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8372" y="560770"/>
              <a:ext cx="7039957" cy="562053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A73FA7F-3B5E-27C0-E690-9372A2C81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18372" y="1112013"/>
              <a:ext cx="6973273" cy="533474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95BE06BC-E499-AF45-78FF-408255535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8372" y="1634677"/>
              <a:ext cx="6954220" cy="533474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4523D3D2-6E7C-FC4C-B8DD-2B4B6C27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18372" y="2157341"/>
              <a:ext cx="6982799" cy="552527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7712D7B9-05B3-5237-40D8-0BFBE2A4F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18372" y="2699056"/>
              <a:ext cx="6897063" cy="57158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4D242A96-05BD-7741-9ADD-7075B41DA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776006" y="3270636"/>
              <a:ext cx="5029902" cy="209579"/>
            </a:xfrm>
            <a:prstGeom prst="rect">
              <a:avLst/>
            </a:prstGeom>
          </p:spPr>
        </p:pic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B957394D-782B-919E-5496-6323359B24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3608" y="4514733"/>
            <a:ext cx="6982799" cy="59063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grpSp>
        <p:nvGrpSpPr>
          <p:cNvPr id="42" name="그룹 41">
            <a:extLst>
              <a:ext uri="{FF2B5EF4-FFF2-40B4-BE49-F238E27FC236}">
                <a16:creationId xmlns:a16="http://schemas.microsoft.com/office/drawing/2014/main" id="{4FCEAF72-C827-B627-2607-42B1097AA184}"/>
              </a:ext>
            </a:extLst>
          </p:cNvPr>
          <p:cNvGrpSpPr/>
          <p:nvPr/>
        </p:nvGrpSpPr>
        <p:grpSpPr>
          <a:xfrm>
            <a:off x="6913608" y="6029222"/>
            <a:ext cx="7020905" cy="3254477"/>
            <a:chOff x="6956477" y="5823747"/>
            <a:chExt cx="7020905" cy="3254477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A5C51456-741E-4729-889E-E0C7ED126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56477" y="5823747"/>
              <a:ext cx="6935168" cy="533474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0642B42E-E62A-0512-CA5B-FC702B26B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56477" y="6357221"/>
              <a:ext cx="7020905" cy="552527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8762ADFD-0B09-76A6-BD56-D4551F21F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956477" y="6901276"/>
              <a:ext cx="6963747" cy="514422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A4FD27DB-9BC9-B70D-B54A-1131EED41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56477" y="7415698"/>
              <a:ext cx="6963747" cy="571580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D6F53508-8FAF-13F0-87A8-23496B13F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956477" y="7944266"/>
              <a:ext cx="6982799" cy="600159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457BB887-A8B5-5482-5081-27870BEF9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56477" y="8535223"/>
              <a:ext cx="6963747" cy="543001"/>
            </a:xfrm>
            <a:prstGeom prst="rect">
              <a:avLst/>
            </a:prstGeom>
          </p:spPr>
        </p:pic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8144A2E4-5BE9-AAD5-ED53-7B358D88F66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6762104" cy="9753600"/>
          </a:xfrm>
          <a:prstGeom prst="rect">
            <a:avLst/>
          </a:prstGeom>
        </p:spPr>
      </p:pic>
      <p:sp>
        <p:nvSpPr>
          <p:cNvPr id="46" name="액자 45">
            <a:extLst>
              <a:ext uri="{FF2B5EF4-FFF2-40B4-BE49-F238E27FC236}">
                <a16:creationId xmlns:a16="http://schemas.microsoft.com/office/drawing/2014/main" id="{8FCC781E-E14D-0B99-4D57-7719D60FB917}"/>
              </a:ext>
            </a:extLst>
          </p:cNvPr>
          <p:cNvSpPr/>
          <p:nvPr/>
        </p:nvSpPr>
        <p:spPr>
          <a:xfrm>
            <a:off x="0" y="2895600"/>
            <a:ext cx="6637867" cy="863600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48" name="액자 47">
            <a:extLst>
              <a:ext uri="{FF2B5EF4-FFF2-40B4-BE49-F238E27FC236}">
                <a16:creationId xmlns:a16="http://schemas.microsoft.com/office/drawing/2014/main" id="{6D6A92E9-7435-192F-0298-C5A85DFCD435}"/>
              </a:ext>
            </a:extLst>
          </p:cNvPr>
          <p:cNvSpPr/>
          <p:nvPr/>
        </p:nvSpPr>
        <p:spPr>
          <a:xfrm>
            <a:off x="0" y="4834465"/>
            <a:ext cx="6637867" cy="220133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50" name="액자 49">
            <a:extLst>
              <a:ext uri="{FF2B5EF4-FFF2-40B4-BE49-F238E27FC236}">
                <a16:creationId xmlns:a16="http://schemas.microsoft.com/office/drawing/2014/main" id="{BB6B705B-38E0-8310-669F-CDD8E927E7F5}"/>
              </a:ext>
            </a:extLst>
          </p:cNvPr>
          <p:cNvSpPr/>
          <p:nvPr/>
        </p:nvSpPr>
        <p:spPr>
          <a:xfrm>
            <a:off x="0" y="5985933"/>
            <a:ext cx="6637867" cy="220133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FF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52" name="액자 51">
            <a:extLst>
              <a:ext uri="{FF2B5EF4-FFF2-40B4-BE49-F238E27FC236}">
                <a16:creationId xmlns:a16="http://schemas.microsoft.com/office/drawing/2014/main" id="{CD01CD06-D2D7-3CFE-1ADF-1E7E80F81569}"/>
              </a:ext>
            </a:extLst>
          </p:cNvPr>
          <p:cNvSpPr/>
          <p:nvPr/>
        </p:nvSpPr>
        <p:spPr>
          <a:xfrm>
            <a:off x="0" y="7408333"/>
            <a:ext cx="6637867" cy="838200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54" name="액자 53">
            <a:extLst>
              <a:ext uri="{FF2B5EF4-FFF2-40B4-BE49-F238E27FC236}">
                <a16:creationId xmlns:a16="http://schemas.microsoft.com/office/drawing/2014/main" id="{FFC11D0E-8620-5C15-CBBA-37EB88EE95E2}"/>
              </a:ext>
            </a:extLst>
          </p:cNvPr>
          <p:cNvSpPr/>
          <p:nvPr/>
        </p:nvSpPr>
        <p:spPr>
          <a:xfrm>
            <a:off x="0" y="9211732"/>
            <a:ext cx="6637867" cy="143935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FF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331B159-83DF-086B-42B4-3CCF9F3B75BD}"/>
              </a:ext>
            </a:extLst>
          </p:cNvPr>
          <p:cNvSpPr/>
          <p:nvPr/>
        </p:nvSpPr>
        <p:spPr>
          <a:xfrm>
            <a:off x="6913608" y="-19950"/>
            <a:ext cx="6901827" cy="3500165"/>
          </a:xfrm>
          <a:prstGeom prst="rect">
            <a:avLst/>
          </a:prstGeom>
          <a:noFill/>
          <a:ln w="5715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6CF0CB7-8564-5B8C-390D-149BD2B3BEAB}"/>
              </a:ext>
            </a:extLst>
          </p:cNvPr>
          <p:cNvSpPr/>
          <p:nvPr/>
        </p:nvSpPr>
        <p:spPr>
          <a:xfrm>
            <a:off x="6894556" y="6029222"/>
            <a:ext cx="6954220" cy="3254477"/>
          </a:xfrm>
          <a:prstGeom prst="rect">
            <a:avLst/>
          </a:prstGeom>
          <a:noFill/>
          <a:ln w="5715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237551591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4671-362C-6B6D-F07F-8D0A43739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BB8C243-7C27-C6AD-0708-75B7E1041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008" y="1049867"/>
            <a:ext cx="6916115" cy="149563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BDA4641-B022-F2C7-B8F7-5833A1E77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747" y="2895600"/>
            <a:ext cx="5771053" cy="404835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FB53E67-5C4D-AD99-4FC9-95D451A88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762104" cy="9753600"/>
          </a:xfrm>
          <a:prstGeom prst="rect">
            <a:avLst/>
          </a:prstGeom>
        </p:spPr>
      </p:pic>
      <p:sp>
        <p:nvSpPr>
          <p:cNvPr id="25" name="액자 24">
            <a:extLst>
              <a:ext uri="{FF2B5EF4-FFF2-40B4-BE49-F238E27FC236}">
                <a16:creationId xmlns:a16="http://schemas.microsoft.com/office/drawing/2014/main" id="{6FD8038E-E077-B7EB-2836-01B2135ADF7B}"/>
              </a:ext>
            </a:extLst>
          </p:cNvPr>
          <p:cNvSpPr/>
          <p:nvPr/>
        </p:nvSpPr>
        <p:spPr>
          <a:xfrm>
            <a:off x="0" y="2895600"/>
            <a:ext cx="6637867" cy="863600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29" name="액자 28">
            <a:extLst>
              <a:ext uri="{FF2B5EF4-FFF2-40B4-BE49-F238E27FC236}">
                <a16:creationId xmlns:a16="http://schemas.microsoft.com/office/drawing/2014/main" id="{0257B43A-176F-5374-F454-FB9BC9A28CB7}"/>
              </a:ext>
            </a:extLst>
          </p:cNvPr>
          <p:cNvSpPr/>
          <p:nvPr/>
        </p:nvSpPr>
        <p:spPr>
          <a:xfrm>
            <a:off x="0" y="4834465"/>
            <a:ext cx="6637867" cy="220133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33" name="액자 32">
            <a:extLst>
              <a:ext uri="{FF2B5EF4-FFF2-40B4-BE49-F238E27FC236}">
                <a16:creationId xmlns:a16="http://schemas.microsoft.com/office/drawing/2014/main" id="{D1186FD4-7933-641D-6103-321A31C2A69C}"/>
              </a:ext>
            </a:extLst>
          </p:cNvPr>
          <p:cNvSpPr/>
          <p:nvPr/>
        </p:nvSpPr>
        <p:spPr>
          <a:xfrm>
            <a:off x="0" y="5985933"/>
            <a:ext cx="6637867" cy="220133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FF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37" name="액자 36">
            <a:extLst>
              <a:ext uri="{FF2B5EF4-FFF2-40B4-BE49-F238E27FC236}">
                <a16:creationId xmlns:a16="http://schemas.microsoft.com/office/drawing/2014/main" id="{005E1317-4AB2-56B8-F866-3954588FCEE3}"/>
              </a:ext>
            </a:extLst>
          </p:cNvPr>
          <p:cNvSpPr/>
          <p:nvPr/>
        </p:nvSpPr>
        <p:spPr>
          <a:xfrm>
            <a:off x="0" y="7408333"/>
            <a:ext cx="6637867" cy="838200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43" name="액자 42">
            <a:extLst>
              <a:ext uri="{FF2B5EF4-FFF2-40B4-BE49-F238E27FC236}">
                <a16:creationId xmlns:a16="http://schemas.microsoft.com/office/drawing/2014/main" id="{9CF402D4-3485-BB39-EEB1-5C4F77B30C24}"/>
              </a:ext>
            </a:extLst>
          </p:cNvPr>
          <p:cNvSpPr/>
          <p:nvPr/>
        </p:nvSpPr>
        <p:spPr>
          <a:xfrm>
            <a:off x="0" y="9211732"/>
            <a:ext cx="6637867" cy="143935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FF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2CAEAB9-6E8F-E154-D957-90A575477390}"/>
              </a:ext>
            </a:extLst>
          </p:cNvPr>
          <p:cNvSpPr/>
          <p:nvPr/>
        </p:nvSpPr>
        <p:spPr>
          <a:xfrm>
            <a:off x="7073152" y="1049867"/>
            <a:ext cx="6908972" cy="1495634"/>
          </a:xfrm>
          <a:prstGeom prst="rect">
            <a:avLst/>
          </a:prstGeom>
          <a:noFill/>
          <a:ln w="57150" cap="flat">
            <a:solidFill>
              <a:srgbClr val="FFFF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48" name="액자 47">
            <a:extLst>
              <a:ext uri="{FF2B5EF4-FFF2-40B4-BE49-F238E27FC236}">
                <a16:creationId xmlns:a16="http://schemas.microsoft.com/office/drawing/2014/main" id="{C559682F-5482-3F72-FCF6-F57D5B48BBC3}"/>
              </a:ext>
            </a:extLst>
          </p:cNvPr>
          <p:cNvSpPr/>
          <p:nvPr/>
        </p:nvSpPr>
        <p:spPr>
          <a:xfrm>
            <a:off x="8229600" y="3759200"/>
            <a:ext cx="1193800" cy="245533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FF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62406003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0AA0-6871-1B82-7E23-D8692295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4346F2D-A863-0287-0246-E9219B508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62104" cy="9753600"/>
          </a:xfrm>
          <a:prstGeom prst="rect">
            <a:avLst/>
          </a:prstGeom>
        </p:spPr>
      </p:pic>
      <p:sp>
        <p:nvSpPr>
          <p:cNvPr id="2" name="액자 1">
            <a:extLst>
              <a:ext uri="{FF2B5EF4-FFF2-40B4-BE49-F238E27FC236}">
                <a16:creationId xmlns:a16="http://schemas.microsoft.com/office/drawing/2014/main" id="{B4FE33AF-6642-BE5D-9FE3-16F5C32E4EFA}"/>
              </a:ext>
            </a:extLst>
          </p:cNvPr>
          <p:cNvSpPr/>
          <p:nvPr/>
        </p:nvSpPr>
        <p:spPr>
          <a:xfrm>
            <a:off x="0" y="2895600"/>
            <a:ext cx="6637867" cy="863600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6" name="액자 5">
            <a:extLst>
              <a:ext uri="{FF2B5EF4-FFF2-40B4-BE49-F238E27FC236}">
                <a16:creationId xmlns:a16="http://schemas.microsoft.com/office/drawing/2014/main" id="{FA6A1DB5-0340-9F1D-8CC2-7D9B05454381}"/>
              </a:ext>
            </a:extLst>
          </p:cNvPr>
          <p:cNvSpPr/>
          <p:nvPr/>
        </p:nvSpPr>
        <p:spPr>
          <a:xfrm>
            <a:off x="0" y="4834465"/>
            <a:ext cx="6637867" cy="220133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9B284F77-510E-01D2-3862-89F3316A8A73}"/>
              </a:ext>
            </a:extLst>
          </p:cNvPr>
          <p:cNvSpPr/>
          <p:nvPr/>
        </p:nvSpPr>
        <p:spPr>
          <a:xfrm>
            <a:off x="0" y="5985933"/>
            <a:ext cx="6637867" cy="220133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FF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12D3B98B-A1E3-B454-33C1-6BCF92258097}"/>
              </a:ext>
            </a:extLst>
          </p:cNvPr>
          <p:cNvSpPr/>
          <p:nvPr/>
        </p:nvSpPr>
        <p:spPr>
          <a:xfrm>
            <a:off x="0" y="7408333"/>
            <a:ext cx="6637867" cy="838200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0" name="액자 9">
            <a:extLst>
              <a:ext uri="{FF2B5EF4-FFF2-40B4-BE49-F238E27FC236}">
                <a16:creationId xmlns:a16="http://schemas.microsoft.com/office/drawing/2014/main" id="{C3229E3B-3DFC-831E-10F4-223D7E62AEDA}"/>
              </a:ext>
            </a:extLst>
          </p:cNvPr>
          <p:cNvSpPr/>
          <p:nvPr/>
        </p:nvSpPr>
        <p:spPr>
          <a:xfrm>
            <a:off x="0" y="9211732"/>
            <a:ext cx="6637867" cy="143935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FF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906F67A-A3E3-5772-3578-AE2ECBD2E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734" y="-76203"/>
            <a:ext cx="6982799" cy="151468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2834193-1959-F658-3ACC-312B46C10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531" y="1515534"/>
            <a:ext cx="4638644" cy="823806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F8D2B2B-17F6-CFF4-38CE-0286F13F5908}"/>
              </a:ext>
            </a:extLst>
          </p:cNvPr>
          <p:cNvSpPr/>
          <p:nvPr/>
        </p:nvSpPr>
        <p:spPr>
          <a:xfrm>
            <a:off x="6888734" y="-50800"/>
            <a:ext cx="6982799" cy="1489283"/>
          </a:xfrm>
          <a:prstGeom prst="rect">
            <a:avLst/>
          </a:prstGeom>
          <a:noFill/>
          <a:ln w="57150" cap="flat">
            <a:solidFill>
              <a:srgbClr val="FFFF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2" name="액자 11">
            <a:extLst>
              <a:ext uri="{FF2B5EF4-FFF2-40B4-BE49-F238E27FC236}">
                <a16:creationId xmlns:a16="http://schemas.microsoft.com/office/drawing/2014/main" id="{924488D9-B8BC-CDD7-5B06-A637C9268D14}"/>
              </a:ext>
            </a:extLst>
          </p:cNvPr>
          <p:cNvSpPr/>
          <p:nvPr/>
        </p:nvSpPr>
        <p:spPr>
          <a:xfrm>
            <a:off x="9304867" y="2675467"/>
            <a:ext cx="1092200" cy="220133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FF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72651218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74E35C3-428B-359B-3795-57B1B5111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73" y="769259"/>
            <a:ext cx="5172797" cy="22196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AB0F155-7AEE-2E19-A0C8-B1B39C62D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939" y="90829"/>
            <a:ext cx="3829584" cy="4382112"/>
          </a:xfrm>
          <a:prstGeom prst="rect">
            <a:avLst/>
          </a:prstGeom>
        </p:spPr>
      </p:pic>
      <p:sp>
        <p:nvSpPr>
          <p:cNvPr id="8" name="액자 7">
            <a:extLst>
              <a:ext uri="{FF2B5EF4-FFF2-40B4-BE49-F238E27FC236}">
                <a16:creationId xmlns:a16="http://schemas.microsoft.com/office/drawing/2014/main" id="{993BEC69-11E6-4C54-E36F-9D0FEBADC2DB}"/>
              </a:ext>
            </a:extLst>
          </p:cNvPr>
          <p:cNvSpPr/>
          <p:nvPr/>
        </p:nvSpPr>
        <p:spPr>
          <a:xfrm>
            <a:off x="9021453" y="2036191"/>
            <a:ext cx="2743200" cy="245694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1" name="액자 10">
            <a:extLst>
              <a:ext uri="{FF2B5EF4-FFF2-40B4-BE49-F238E27FC236}">
                <a16:creationId xmlns:a16="http://schemas.microsoft.com/office/drawing/2014/main" id="{6941F4F2-CEDE-8487-73F6-578D1D0FA161}"/>
              </a:ext>
            </a:extLst>
          </p:cNvPr>
          <p:cNvSpPr/>
          <p:nvPr/>
        </p:nvSpPr>
        <p:spPr>
          <a:xfrm>
            <a:off x="1593130" y="1772239"/>
            <a:ext cx="1970202" cy="292231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0CE54FD-5736-49B1-88EA-0A338075CF89}"/>
              </a:ext>
            </a:extLst>
          </p:cNvPr>
          <p:cNvCxnSpPr/>
          <p:nvPr/>
        </p:nvCxnSpPr>
        <p:spPr>
          <a:xfrm>
            <a:off x="7079530" y="90829"/>
            <a:ext cx="0" cy="9515084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8C47E910-E966-FA49-F9A5-C650CC23E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46679"/>
            <a:ext cx="6650892" cy="16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7083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920DB-87AC-B7FE-3366-A46967731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DE33AA-EFC5-F77E-6E46-FE75B5462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450421" cy="26357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9DC6B2C-F8AC-705E-DF99-3CA802580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52627"/>
            <a:ext cx="5625393" cy="35256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55D51FF-F498-F43B-1A33-A31A739C5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5" y="6360587"/>
            <a:ext cx="5611008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6036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AE621B4-B040-6977-CF7C-E26E03C3B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7" y="275583"/>
            <a:ext cx="11222016" cy="920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44306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88AD4-C5B2-9598-9C91-273636E3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 convert – not fakefile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A3F6A1-8327-2593-06CF-12D59E284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609"/>
            <a:ext cx="6335009" cy="78496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655D550-9871-0E6F-7D03-D635D9DD9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902" y="1550148"/>
            <a:ext cx="4039164" cy="201005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3F1B024-7D0C-276B-6219-5C63B97CB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902" y="3845781"/>
            <a:ext cx="1219370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9138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31C31E8-B5C4-2510-5DFA-DB3182078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69529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9273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F4A440F-55C6-7D58-27E2-3FB87038D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8" y="84841"/>
            <a:ext cx="12509656" cy="25647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FCF2EC2-DDDD-A257-C80C-8218E0FB0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97" y="2727366"/>
            <a:ext cx="2294280" cy="702623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3AD68E-691D-DC4B-D5BB-94A718C46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419" y="2874763"/>
            <a:ext cx="2991267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9311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574A032-49F9-E87D-B904-3C02C1FBB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6" y="2334208"/>
            <a:ext cx="12814967" cy="245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26062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9DAB06F-6B02-8E0A-01F6-2DB8FC879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8" y="3068243"/>
            <a:ext cx="9164211" cy="66164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221181-010C-8B82-E6F3-D6B8894DD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48787" cy="543804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97C2940-C462-DC5A-6EBE-85096847E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478" y="639758"/>
            <a:ext cx="6954220" cy="61921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3561FC4-DD91-4F1E-082D-C4AA697BA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478" y="1597694"/>
            <a:ext cx="6801799" cy="4239217"/>
          </a:xfrm>
          <a:prstGeom prst="rect">
            <a:avLst/>
          </a:prstGeom>
        </p:spPr>
      </p:pic>
      <p:sp>
        <p:nvSpPr>
          <p:cNvPr id="12" name="액자 11">
            <a:extLst>
              <a:ext uri="{FF2B5EF4-FFF2-40B4-BE49-F238E27FC236}">
                <a16:creationId xmlns:a16="http://schemas.microsoft.com/office/drawing/2014/main" id="{ABDE1F9E-CDB0-8C96-91AA-03B83ECA2138}"/>
              </a:ext>
            </a:extLst>
          </p:cNvPr>
          <p:cNvSpPr/>
          <p:nvPr/>
        </p:nvSpPr>
        <p:spPr>
          <a:xfrm>
            <a:off x="2166280" y="3071769"/>
            <a:ext cx="248867" cy="129819"/>
          </a:xfrm>
          <a:prstGeom prst="frame">
            <a:avLst>
              <a:gd name="adj1" fmla="val 0"/>
            </a:avLst>
          </a:prstGeom>
          <a:solidFill>
            <a:srgbClr val="FF00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3" name="액자 12">
            <a:extLst>
              <a:ext uri="{FF2B5EF4-FFF2-40B4-BE49-F238E27FC236}">
                <a16:creationId xmlns:a16="http://schemas.microsoft.com/office/drawing/2014/main" id="{56F84F59-018D-C2DA-9C64-6B85887EC53C}"/>
              </a:ext>
            </a:extLst>
          </p:cNvPr>
          <p:cNvSpPr/>
          <p:nvPr/>
        </p:nvSpPr>
        <p:spPr>
          <a:xfrm>
            <a:off x="10876118" y="949363"/>
            <a:ext cx="992228" cy="309606"/>
          </a:xfrm>
          <a:prstGeom prst="frame">
            <a:avLst>
              <a:gd name="adj1" fmla="val 0"/>
            </a:avLst>
          </a:prstGeom>
          <a:solidFill>
            <a:srgbClr val="FF00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191966033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7548C-370F-6E60-02DC-A2FEC737B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xFTL: Exploiting Error Tolerance for Extending Lifetime of NAND Flash Storage">
            <a:extLst>
              <a:ext uri="{FF2B5EF4-FFF2-40B4-BE49-F238E27FC236}">
                <a16:creationId xmlns:a16="http://schemas.microsoft.com/office/drawing/2014/main" id="{841EC9BC-E8ED-8352-0C61-CD62592B6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>
            <a:lvl1pPr defTabSz="566674">
              <a:defRPr sz="6305"/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en-US" altLang="ko-KR" sz="4000" dirty="0"/>
              <a:t>Whole codes</a:t>
            </a:r>
            <a:endParaRPr lang="ko-KR" altLang="en-US" sz="4000" dirty="0"/>
          </a:p>
        </p:txBody>
      </p:sp>
      <p:sp>
        <p:nvSpPr>
          <p:cNvPr id="83" name="Younghyun Kim…">
            <a:extLst>
              <a:ext uri="{FF2B5EF4-FFF2-40B4-BE49-F238E27FC236}">
                <a16:creationId xmlns:a16="http://schemas.microsoft.com/office/drawing/2014/main" id="{C27D3773-8351-EAD8-7660-BF05678219B1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254000" y="6481522"/>
            <a:ext cx="12192000" cy="266630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500" dirty="0"/>
              <a:t>University of </a:t>
            </a:r>
            <a:r>
              <a:rPr lang="en-US" altLang="ko-KR" sz="3500" dirty="0" err="1"/>
              <a:t>ulsan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/>
              <a:t>Electronical, Electronic and Computer Engineering</a:t>
            </a:r>
            <a:r>
              <a:rPr lang="ko-KR" altLang="en-US" sz="3500" dirty="0"/>
              <a:t> 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 err="1"/>
              <a:t>Jaehyeok</a:t>
            </a:r>
            <a:r>
              <a:rPr lang="en-US" altLang="ko-KR" sz="3500" dirty="0"/>
              <a:t> Cho</a:t>
            </a:r>
          </a:p>
        </p:txBody>
      </p:sp>
    </p:spTree>
    <p:extLst>
      <p:ext uri="{BB962C8B-B14F-4D97-AF65-F5344CB8AC3E}">
        <p14:creationId xmlns:p14="http://schemas.microsoft.com/office/powerpoint/2010/main" val="163388336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D34A-F7C4-76AC-D491-2806F63C2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xFTL: Exploiting Error Tolerance for Extending Lifetime of NAND Flash Storage">
            <a:extLst>
              <a:ext uri="{FF2B5EF4-FFF2-40B4-BE49-F238E27FC236}">
                <a16:creationId xmlns:a16="http://schemas.microsoft.com/office/drawing/2014/main" id="{AF2FD8CF-9B45-E78D-3E40-2102FDE3C6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>
            <a:lvl1pPr defTabSz="566674">
              <a:defRPr sz="6305"/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ko-KR" altLang="en-US" sz="4000" dirty="0"/>
              <a:t>명령서 사용 설명서</a:t>
            </a:r>
          </a:p>
        </p:txBody>
      </p:sp>
      <p:sp>
        <p:nvSpPr>
          <p:cNvPr id="83" name="Younghyun Kim…">
            <a:extLst>
              <a:ext uri="{FF2B5EF4-FFF2-40B4-BE49-F238E27FC236}">
                <a16:creationId xmlns:a16="http://schemas.microsoft.com/office/drawing/2014/main" id="{CFD45D48-13F7-3D98-8BB6-FACC516231BC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254000" y="6481522"/>
            <a:ext cx="12192000" cy="266630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500" dirty="0"/>
              <a:t>University of </a:t>
            </a:r>
            <a:r>
              <a:rPr lang="en-US" altLang="ko-KR" sz="3500" dirty="0" err="1"/>
              <a:t>ulsan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/>
              <a:t>Electronical, Electronic and Computer Engineering</a:t>
            </a:r>
            <a:r>
              <a:rPr lang="ko-KR" altLang="en-US" sz="3500" dirty="0"/>
              <a:t> 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 err="1"/>
              <a:t>Jaehyeok</a:t>
            </a:r>
            <a:r>
              <a:rPr lang="en-US" altLang="ko-KR" sz="3500" dirty="0"/>
              <a:t> Cho</a:t>
            </a:r>
          </a:p>
        </p:txBody>
      </p:sp>
    </p:spTree>
    <p:extLst>
      <p:ext uri="{BB962C8B-B14F-4D97-AF65-F5344CB8AC3E}">
        <p14:creationId xmlns:p14="http://schemas.microsoft.com/office/powerpoint/2010/main" val="98496179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1ACF27-8E75-316F-6B89-B5A5697DCF40}"/>
              </a:ext>
            </a:extLst>
          </p:cNvPr>
          <p:cNvSpPr txBox="1"/>
          <p:nvPr/>
        </p:nvSpPr>
        <p:spPr>
          <a:xfrm>
            <a:off x="0" y="978054"/>
            <a:ext cx="669471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1.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5FC9D9B-CC85-D34D-12F5-D4D42D1397F9}"/>
              </a:ext>
            </a:extLst>
          </p:cNvPr>
          <p:cNvGrpSpPr/>
          <p:nvPr/>
        </p:nvGrpSpPr>
        <p:grpSpPr>
          <a:xfrm>
            <a:off x="8668010" y="1398682"/>
            <a:ext cx="4240747" cy="4031759"/>
            <a:chOff x="7711767" y="1574074"/>
            <a:chExt cx="3532207" cy="330272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85F30D5-C14F-37A4-3CBF-E45EF4CEA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1767" y="1574074"/>
              <a:ext cx="3532207" cy="3302726"/>
            </a:xfrm>
            <a:prstGeom prst="rect">
              <a:avLst/>
            </a:prstGeom>
          </p:spPr>
        </p:pic>
        <p:sp>
          <p:nvSpPr>
            <p:cNvPr id="7" name="액자 6">
              <a:extLst>
                <a:ext uri="{FF2B5EF4-FFF2-40B4-BE49-F238E27FC236}">
                  <a16:creationId xmlns:a16="http://schemas.microsoft.com/office/drawing/2014/main" id="{97CCE979-C5EC-F82E-584B-446CA2A2C10E}"/>
                </a:ext>
              </a:extLst>
            </p:cNvPr>
            <p:cNvSpPr/>
            <p:nvPr/>
          </p:nvSpPr>
          <p:spPr>
            <a:xfrm>
              <a:off x="7711767" y="4163785"/>
              <a:ext cx="1053193" cy="216829"/>
            </a:xfrm>
            <a:prstGeom prst="frame">
              <a:avLst>
                <a:gd name="adj1" fmla="val 0"/>
              </a:avLst>
            </a:prstGeom>
            <a:solidFill>
              <a:srgbClr val="00B05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  <p:sp>
          <p:nvSpPr>
            <p:cNvPr id="8" name="액자 7">
              <a:extLst>
                <a:ext uri="{FF2B5EF4-FFF2-40B4-BE49-F238E27FC236}">
                  <a16:creationId xmlns:a16="http://schemas.microsoft.com/office/drawing/2014/main" id="{391D58B0-EA47-8C32-E6CB-DDB72F6BBE42}"/>
                </a:ext>
              </a:extLst>
            </p:cNvPr>
            <p:cNvSpPr/>
            <p:nvPr/>
          </p:nvSpPr>
          <p:spPr>
            <a:xfrm>
              <a:off x="8764960" y="1582447"/>
              <a:ext cx="2479014" cy="3213866"/>
            </a:xfrm>
            <a:prstGeom prst="frame">
              <a:avLst>
                <a:gd name="adj1" fmla="val 0"/>
              </a:avLst>
            </a:prstGeom>
            <a:solidFill>
              <a:srgbClr val="00B05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</p:grp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32D4769-B6FE-AB3B-8231-FD07E6F03247}"/>
              </a:ext>
            </a:extLst>
          </p:cNvPr>
          <p:cNvCxnSpPr>
            <a:cxnSpLocks/>
            <a:stCxn id="6" idx="1"/>
            <a:endCxn id="14" idx="3"/>
          </p:cNvCxnSpPr>
          <p:nvPr/>
        </p:nvCxnSpPr>
        <p:spPr>
          <a:xfrm flipH="1" flipV="1">
            <a:off x="2971800" y="3316116"/>
            <a:ext cx="5696210" cy="98446"/>
          </a:xfrm>
          <a:prstGeom prst="straightConnector1">
            <a:avLst/>
          </a:prstGeom>
          <a:noFill/>
          <a:ln w="28575" cap="flat">
            <a:solidFill>
              <a:srgbClr val="00B050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06C2121-88C6-57E0-BC17-05E3EEFC02A8}"/>
              </a:ext>
            </a:extLst>
          </p:cNvPr>
          <p:cNvSpPr txBox="1"/>
          <p:nvPr/>
        </p:nvSpPr>
        <p:spPr>
          <a:xfrm>
            <a:off x="1784918" y="3689117"/>
            <a:ext cx="6881836" cy="646331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사용할 시스템의 메모리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tree 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구성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.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이 프로젝트의 경우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기존에 있던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hello file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에서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copy.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9E6999-0BA0-9060-2106-7314EF987CCF}"/>
              </a:ext>
            </a:extLst>
          </p:cNvPr>
          <p:cNvSpPr txBox="1"/>
          <p:nvPr/>
        </p:nvSpPr>
        <p:spPr>
          <a:xfrm>
            <a:off x="704172" y="2023454"/>
            <a:ext cx="4079889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new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PLATFORM_NAME=</a:t>
            </a:r>
            <a:r>
              <a:rPr lang="en-US" altLang="ko-KR" sz="1800" b="1" dirty="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A5B71-39DE-44DE-70B6-504555D8A8FB}"/>
              </a:ext>
            </a:extLst>
          </p:cNvPr>
          <p:cNvSpPr txBox="1"/>
          <p:nvPr/>
        </p:nvSpPr>
        <p:spPr>
          <a:xfrm>
            <a:off x="704172" y="2392786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b="1" dirty="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/app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28C18E-581D-9B50-73E5-2DEE9F10731B}"/>
              </a:ext>
            </a:extLst>
          </p:cNvPr>
          <p:cNvSpPr txBox="1"/>
          <p:nvPr/>
        </p:nvSpPr>
        <p:spPr>
          <a:xfrm>
            <a:off x="704172" y="2762118"/>
            <a:ext cx="312487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new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APP_NAME=</a:t>
            </a:r>
            <a:r>
              <a:rPr lang="en-US" altLang="ko-KR" sz="1800" b="1" dirty="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181F8-8677-0422-479F-6210B9E90872}"/>
              </a:ext>
            </a:extLst>
          </p:cNvPr>
          <p:cNvSpPr txBox="1"/>
          <p:nvPr/>
        </p:nvSpPr>
        <p:spPr>
          <a:xfrm>
            <a:off x="704172" y="3131450"/>
            <a:ext cx="226762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vi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tip_v04.xml</a:t>
            </a:r>
            <a:endParaRPr lang="en-US" altLang="ko-KR" sz="1800" b="1" dirty="0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D4C0B0B1-7428-8AC2-9178-E46A88B52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472" y="1302940"/>
            <a:ext cx="4838960" cy="605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dirty="0"/>
              <a:t>Platform</a:t>
            </a:r>
            <a:r>
              <a:rPr lang="ko-KR" altLang="en-US" sz="2800" dirty="0"/>
              <a:t> </a:t>
            </a:r>
            <a:r>
              <a:rPr lang="en-US" altLang="ko-KR" sz="2800" dirty="0"/>
              <a:t>&amp; App </a:t>
            </a:r>
            <a:r>
              <a:rPr lang="ko-KR" altLang="en-US" sz="2800" dirty="0"/>
              <a:t>구성</a:t>
            </a:r>
            <a:endParaRPr lang="ko-KR" altLang="ko-KR" sz="28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7B2C91-5F62-E21B-620E-F976921C6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666" y="7275724"/>
            <a:ext cx="3686689" cy="20005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6B870B9-9D9B-2DAC-4A02-D2E4C79E0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666" y="7529178"/>
            <a:ext cx="4182059" cy="20957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95120EA-418F-2EF9-382F-7685CC57CC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666" y="7792158"/>
            <a:ext cx="5944430" cy="23815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C7CA334-203E-D3EA-BDBB-F202C3C48C35}"/>
              </a:ext>
            </a:extLst>
          </p:cNvPr>
          <p:cNvSpPr txBox="1"/>
          <p:nvPr/>
        </p:nvSpPr>
        <p:spPr>
          <a:xfrm>
            <a:off x="0" y="5278927"/>
            <a:ext cx="669471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2.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9D3B40-1720-4870-DCF2-E8468A5E353F}"/>
              </a:ext>
            </a:extLst>
          </p:cNvPr>
          <p:cNvSpPr txBox="1"/>
          <p:nvPr/>
        </p:nvSpPr>
        <p:spPr>
          <a:xfrm>
            <a:off x="704172" y="6240002"/>
            <a:ext cx="1550013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b="1" dirty="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4113A2-DDFF-FFAB-A10E-6D56BB3FA2EF}"/>
              </a:ext>
            </a:extLst>
          </p:cNvPr>
          <p:cNvSpPr txBox="1"/>
          <p:nvPr/>
        </p:nvSpPr>
        <p:spPr>
          <a:xfrm>
            <a:off x="704172" y="6595247"/>
            <a:ext cx="1550013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syn</a:t>
            </a:r>
            <a:endParaRPr lang="en-US" altLang="ko-KR" sz="1800" b="1" dirty="0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6FA775-2D28-67E6-8CAB-2B7A4BE048FF}"/>
              </a:ext>
            </a:extLst>
          </p:cNvPr>
          <p:cNvSpPr txBox="1"/>
          <p:nvPr/>
        </p:nvSpPr>
        <p:spPr>
          <a:xfrm>
            <a:off x="704172" y="6950492"/>
            <a:ext cx="254215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genesys2-eb</a:t>
            </a:r>
            <a:endParaRPr lang="en-US" altLang="ko-KR" sz="1800" b="1" dirty="0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9A955C-BBE7-19C5-1148-E512D907483F}"/>
              </a:ext>
            </a:extLst>
          </p:cNvPr>
          <p:cNvSpPr txBox="1"/>
          <p:nvPr/>
        </p:nvSpPr>
        <p:spPr>
          <a:xfrm>
            <a:off x="704172" y="7305738"/>
            <a:ext cx="423215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imp_genesys2-eb_</a:t>
            </a:r>
            <a:r>
              <a:rPr lang="en-US" altLang="ko-KR" sz="1800" dirty="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2026-06-XX</a:t>
            </a:r>
            <a:endParaRPr lang="en-US" altLang="ko-KR" sz="1800" b="1" dirty="0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782C0F-DCDA-DBCF-1FEA-97D212B21C4D}"/>
              </a:ext>
            </a:extLst>
          </p:cNvPr>
          <p:cNvSpPr txBox="1"/>
          <p:nvPr/>
        </p:nvSpPr>
        <p:spPr>
          <a:xfrm>
            <a:off x="704172" y="7660984"/>
            <a:ext cx="423215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</a:t>
            </a:r>
            <a:r>
              <a:rPr lang="en-US" altLang="ko-KR" sz="1800" dirty="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v04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.all</a:t>
            </a:r>
            <a:endParaRPr lang="en-US" altLang="ko-KR" sz="1800" b="1" dirty="0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5" name="텍스트 개체 틀 2">
            <a:extLst>
              <a:ext uri="{FF2B5EF4-FFF2-40B4-BE49-F238E27FC236}">
                <a16:creationId xmlns:a16="http://schemas.microsoft.com/office/drawing/2014/main" id="{BC9C3B7B-CE77-135D-C93D-B5C17D7E09B3}"/>
              </a:ext>
            </a:extLst>
          </p:cNvPr>
          <p:cNvSpPr txBox="1">
            <a:spLocks/>
          </p:cNvSpPr>
          <p:nvPr/>
        </p:nvSpPr>
        <p:spPr>
          <a:xfrm>
            <a:off x="669472" y="5571908"/>
            <a:ext cx="4838960" cy="60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r>
              <a:rPr lang="ko-KR" altLang="en-US" sz="2800" dirty="0"/>
              <a:t>컴파일 </a:t>
            </a:r>
            <a:r>
              <a:rPr lang="en-US" altLang="ko-KR" sz="2800" dirty="0"/>
              <a:t>&amp; </a:t>
            </a:r>
            <a:r>
              <a:rPr lang="ko-KR" altLang="en-US" sz="2800" dirty="0"/>
              <a:t>실행</a:t>
            </a:r>
            <a:endParaRPr lang="ko-KR" altLang="ko-KR" sz="2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45DC03-842A-6DF3-7FD8-964E9344A893}"/>
              </a:ext>
            </a:extLst>
          </p:cNvPr>
          <p:cNvSpPr txBox="1"/>
          <p:nvPr/>
        </p:nvSpPr>
        <p:spPr>
          <a:xfrm>
            <a:off x="7441968" y="8134014"/>
            <a:ext cx="3445501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실제 명령어가 사용되는 경로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제목 1">
            <a:extLst>
              <a:ext uri="{FF2B5EF4-FFF2-40B4-BE49-F238E27FC236}">
                <a16:creationId xmlns:a16="http://schemas.microsoft.com/office/drawing/2014/main" id="{74D2BB5E-A631-5201-5FC8-9276AEC2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 sz="4000" dirty="0">
                <a:latin typeface="Consolas" panose="020B0609020204030204" pitchFamily="49" charset="0"/>
              </a:rPr>
              <a:t>Platform &amp; App</a:t>
            </a:r>
            <a:endParaRPr lang="ko-KR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38232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E3160-3133-F04E-47FC-20709F4B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793C8-26E1-FDD3-2FE9-9AD653627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 sz="4000" dirty="0">
                <a:latin typeface="Consolas" panose="020B0609020204030204" pitchFamily="49" charset="0"/>
              </a:rPr>
              <a:t>Fakefile </a:t>
            </a:r>
            <a:r>
              <a:rPr lang="ko-KR" altLang="en-US" sz="4000" dirty="0">
                <a:latin typeface="Consolas" panose="020B0609020204030204" pitchFamily="49" charset="0"/>
              </a:rPr>
              <a:t>만들기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B021132-8B3E-F7C2-6C78-C27C3F773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94" y="5737746"/>
            <a:ext cx="4613513" cy="5287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BFBEC8C-CF86-8795-4842-E40D13E08D62}"/>
              </a:ext>
            </a:extLst>
          </p:cNvPr>
          <p:cNvSpPr txBox="1"/>
          <p:nvPr/>
        </p:nvSpPr>
        <p:spPr>
          <a:xfrm>
            <a:off x="6174986" y="3051138"/>
            <a:ext cx="3589095" cy="369332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ko-KR" altLang="en-US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이 경로에 </a:t>
            </a:r>
            <a:r>
              <a:rPr kumimoji="0" lang="en-US" altLang="ko-KR" sz="1800" b="0" i="0" u="none" strike="noStrike" cap="none" spc="0" normalizeH="0" baseline="0" dirty="0" err="1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fileIO</a:t>
            </a: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source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저장</a:t>
            </a:r>
            <a:endParaRPr kumimoji="0" lang="ko-KR" altLang="en-US" sz="1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Consolas" panose="020B0609020204030204" pitchFamily="49" charset="0"/>
              <a:sym typeface="Arial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4C267E9-9D11-A49B-C852-3C91BA9D0733}"/>
              </a:ext>
            </a:extLst>
          </p:cNvPr>
          <p:cNvCxnSpPr>
            <a:cxnSpLocks/>
          </p:cNvCxnSpPr>
          <p:nvPr/>
        </p:nvCxnSpPr>
        <p:spPr>
          <a:xfrm flipH="1">
            <a:off x="3480267" y="3073127"/>
            <a:ext cx="324507" cy="8015"/>
          </a:xfrm>
          <a:prstGeom prst="straightConnector1">
            <a:avLst/>
          </a:prstGeom>
          <a:noFill/>
          <a:ln w="38100" cap="flat">
            <a:solidFill>
              <a:srgbClr val="00B050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57690F-D6B7-8E53-E2C4-021C75C3A03E}"/>
              </a:ext>
            </a:extLst>
          </p:cNvPr>
          <p:cNvSpPr txBox="1"/>
          <p:nvPr/>
        </p:nvSpPr>
        <p:spPr>
          <a:xfrm>
            <a:off x="-45757" y="914999"/>
            <a:ext cx="669471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1.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5DF509-3148-90A4-F217-E5B9A0559F6E}"/>
              </a:ext>
            </a:extLst>
          </p:cNvPr>
          <p:cNvSpPr txBox="1"/>
          <p:nvPr/>
        </p:nvSpPr>
        <p:spPr>
          <a:xfrm>
            <a:off x="-45757" y="3810187"/>
            <a:ext cx="669471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2.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809720-463C-99F2-82BD-4F5ECFB49BB7}"/>
              </a:ext>
            </a:extLst>
          </p:cNvPr>
          <p:cNvSpPr txBox="1"/>
          <p:nvPr/>
        </p:nvSpPr>
        <p:spPr>
          <a:xfrm>
            <a:off x="-45757" y="7210218"/>
            <a:ext cx="669471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3.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7CF99EE-1763-684C-BBF7-6FEE61736E71}"/>
              </a:ext>
            </a:extLst>
          </p:cNvPr>
          <p:cNvGrpSpPr/>
          <p:nvPr/>
        </p:nvGrpSpPr>
        <p:grpSpPr>
          <a:xfrm>
            <a:off x="7417433" y="6963981"/>
            <a:ext cx="3334315" cy="2521545"/>
            <a:chOff x="7753349" y="4302687"/>
            <a:chExt cx="4996950" cy="353889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AEC9D39-0D5C-46AD-00FA-C7E477019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53349" y="4302687"/>
              <a:ext cx="4375703" cy="3538890"/>
            </a:xfrm>
            <a:prstGeom prst="rect">
              <a:avLst/>
            </a:prstGeom>
          </p:spPr>
        </p:pic>
        <p:sp>
          <p:nvSpPr>
            <p:cNvPr id="32" name="액자 31">
              <a:extLst>
                <a:ext uri="{FF2B5EF4-FFF2-40B4-BE49-F238E27FC236}">
                  <a16:creationId xmlns:a16="http://schemas.microsoft.com/office/drawing/2014/main" id="{EEA87B6E-794A-73A5-70C4-4431295D2F1C}"/>
                </a:ext>
              </a:extLst>
            </p:cNvPr>
            <p:cNvSpPr/>
            <p:nvPr/>
          </p:nvSpPr>
          <p:spPr>
            <a:xfrm>
              <a:off x="9357130" y="4947557"/>
              <a:ext cx="1231949" cy="216829"/>
            </a:xfrm>
            <a:prstGeom prst="frame">
              <a:avLst>
                <a:gd name="adj1" fmla="val 0"/>
              </a:avLst>
            </a:prstGeom>
            <a:solidFill>
              <a:srgbClr val="00B050"/>
            </a:solidFill>
            <a:ln w="25400" cap="flat">
              <a:solidFill>
                <a:srgbClr val="00B05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B4E17E98-EF64-DFE7-581B-DF8A9830632C}"/>
                </a:ext>
              </a:extLst>
            </p:cNvPr>
            <p:cNvSpPr/>
            <p:nvPr/>
          </p:nvSpPr>
          <p:spPr>
            <a:xfrm>
              <a:off x="10592644" y="4985666"/>
              <a:ext cx="293914" cy="143350"/>
            </a:xfrm>
            <a:prstGeom prst="rightArrow">
              <a:avLst/>
            </a:prstGeom>
            <a:solidFill>
              <a:srgbClr val="00B050"/>
            </a:solidFill>
            <a:ln w="25400" cap="flat">
              <a:solidFill>
                <a:srgbClr val="00B05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314DAE7-4670-77CA-B653-572A09756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9823" y="4917839"/>
              <a:ext cx="1800476" cy="276264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B63C03F-39FB-A115-485C-2B22467E4A68}"/>
              </a:ext>
            </a:extLst>
          </p:cNvPr>
          <p:cNvSpPr txBox="1"/>
          <p:nvPr/>
        </p:nvSpPr>
        <p:spPr>
          <a:xfrm>
            <a:off x="7397967" y="9384268"/>
            <a:ext cx="2939241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Un-comment (</a:t>
            </a:r>
            <a:r>
              <a:rPr kumimoji="0" lang="ko-KR" altLang="en-US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주석 제거</a:t>
            </a: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)</a:t>
            </a:r>
            <a:endParaRPr kumimoji="0" lang="ko-KR" altLang="en-US" sz="1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07313-EEEB-24BE-9B57-479DB5555814}"/>
              </a:ext>
            </a:extLst>
          </p:cNvPr>
          <p:cNvSpPr txBox="1"/>
          <p:nvPr/>
        </p:nvSpPr>
        <p:spPr>
          <a:xfrm>
            <a:off x="3480267" y="1249352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b="1" dirty="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55D4C-D346-27C4-B54A-492CF985C0F8}"/>
              </a:ext>
            </a:extLst>
          </p:cNvPr>
          <p:cNvSpPr txBox="1"/>
          <p:nvPr/>
        </p:nvSpPr>
        <p:spPr>
          <a:xfrm>
            <a:off x="3480267" y="1614107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user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070AC1-8E90-B342-C452-DD5940E05A66}"/>
              </a:ext>
            </a:extLst>
          </p:cNvPr>
          <p:cNvSpPr txBox="1"/>
          <p:nvPr/>
        </p:nvSpPr>
        <p:spPr>
          <a:xfrm>
            <a:off x="3480267" y="1978862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util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14080C-9E20-FFE8-05EF-C47037B77FAF}"/>
              </a:ext>
            </a:extLst>
          </p:cNvPr>
          <p:cNvSpPr txBox="1"/>
          <p:nvPr/>
        </p:nvSpPr>
        <p:spPr>
          <a:xfrm>
            <a:off x="3480267" y="2343617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util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7EF893-7939-A828-C350-39B87B3B4982}"/>
              </a:ext>
            </a:extLst>
          </p:cNvPr>
          <p:cNvSpPr txBox="1"/>
          <p:nvPr/>
        </p:nvSpPr>
        <p:spPr>
          <a:xfrm>
            <a:off x="3480267" y="2708372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fakefile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B355E2-DA20-C985-A7AB-E896AC1EFE04}"/>
              </a:ext>
            </a:extLst>
          </p:cNvPr>
          <p:cNvSpPr txBox="1"/>
          <p:nvPr/>
        </p:nvSpPr>
        <p:spPr>
          <a:xfrm>
            <a:off x="3480267" y="3076568"/>
            <a:ext cx="2694719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 fakefile/target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38" name="텍스트 개체 틀 2">
            <a:extLst>
              <a:ext uri="{FF2B5EF4-FFF2-40B4-BE49-F238E27FC236}">
                <a16:creationId xmlns:a16="http://schemas.microsoft.com/office/drawing/2014/main" id="{A8ACD4FF-651D-0902-3017-BDA65B4AA9FF}"/>
              </a:ext>
            </a:extLst>
          </p:cNvPr>
          <p:cNvSpPr txBox="1">
            <a:spLocks/>
          </p:cNvSpPr>
          <p:nvPr/>
        </p:nvSpPr>
        <p:spPr>
          <a:xfrm>
            <a:off x="636124" y="1215426"/>
            <a:ext cx="4838960" cy="60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r>
              <a:rPr lang="en-US" altLang="ko-KR" sz="2800" dirty="0"/>
              <a:t>Fakefile </a:t>
            </a:r>
            <a:r>
              <a:rPr lang="ko-KR" altLang="en-US" sz="2800" dirty="0"/>
              <a:t>준비</a:t>
            </a:r>
            <a:endParaRPr lang="ko-KR" altLang="ko-KR" sz="2800" dirty="0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D3A7DAAF-7314-EDE7-8544-A811E753B8FD}"/>
              </a:ext>
            </a:extLst>
          </p:cNvPr>
          <p:cNvSpPr txBox="1">
            <a:spLocks/>
          </p:cNvSpPr>
          <p:nvPr/>
        </p:nvSpPr>
        <p:spPr>
          <a:xfrm>
            <a:off x="636124" y="4067658"/>
            <a:ext cx="4838960" cy="60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r>
              <a:rPr lang="en-US" altLang="ko-KR" sz="2800" dirty="0"/>
              <a:t>Fakefile </a:t>
            </a:r>
            <a:r>
              <a:rPr lang="ko-KR" altLang="en-US" sz="2800" dirty="0"/>
              <a:t>변환</a:t>
            </a:r>
            <a:endParaRPr lang="ko-KR" altLang="ko-KR" sz="2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F50B8C-47EC-FC34-BD4E-9CC01B396B3F}"/>
              </a:ext>
            </a:extLst>
          </p:cNvPr>
          <p:cNvSpPr txBox="1"/>
          <p:nvPr/>
        </p:nvSpPr>
        <p:spPr>
          <a:xfrm>
            <a:off x="923147" y="4811936"/>
            <a:ext cx="2512431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 util/fakefile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E88E0D-0377-6F9D-7EA9-F9C412F348A7}"/>
              </a:ext>
            </a:extLst>
          </p:cNvPr>
          <p:cNvSpPr txBox="1"/>
          <p:nvPr/>
        </p:nvSpPr>
        <p:spPr>
          <a:xfrm>
            <a:off x="923147" y="5183039"/>
            <a:ext cx="2061420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convert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9E4543-64BA-9D5C-BE92-EF174B2D9B8B}"/>
              </a:ext>
            </a:extLst>
          </p:cNvPr>
          <p:cNvSpPr txBox="1"/>
          <p:nvPr/>
        </p:nvSpPr>
        <p:spPr>
          <a:xfrm>
            <a:off x="4084667" y="5191431"/>
            <a:ext cx="2988129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</a:t>
            </a:r>
            <a:r>
              <a:rPr lang="en-US" altLang="ko-KR" sz="1800" dirty="0" err="1">
                <a:solidFill>
                  <a:srgbClr val="494949"/>
                </a:solidFill>
                <a:latin typeface="Consolas" panose="020B0609020204030204" pitchFamily="49" charset="0"/>
              </a:rPr>
              <a:t>clean_generated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699410C-806C-CA85-EDEE-5F8A5E052DF7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2984567" y="5367705"/>
            <a:ext cx="1100100" cy="8392"/>
          </a:xfrm>
          <a:prstGeom prst="straightConnector1">
            <a:avLst/>
          </a:prstGeom>
          <a:ln w="28575" cap="flat" cmpd="sng" algn="ctr">
            <a:solidFill>
              <a:srgbClr val="00B05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AFA56D6-D0EE-5B2A-F82D-64AEDD29F3F1}"/>
              </a:ext>
            </a:extLst>
          </p:cNvPr>
          <p:cNvSpPr txBox="1"/>
          <p:nvPr/>
        </p:nvSpPr>
        <p:spPr>
          <a:xfrm>
            <a:off x="1600899" y="6278465"/>
            <a:ext cx="3445501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실제 명령어가 사용되는 경로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2C7000-6F85-82DE-76C1-574A6005DF87}"/>
              </a:ext>
            </a:extLst>
          </p:cNvPr>
          <p:cNvSpPr txBox="1"/>
          <p:nvPr/>
        </p:nvSpPr>
        <p:spPr>
          <a:xfrm>
            <a:off x="7609508" y="6278465"/>
            <a:ext cx="1336486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생성 결과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481B974-091C-A195-094F-E9D222E9A7E4}"/>
              </a:ext>
            </a:extLst>
          </p:cNvPr>
          <p:cNvGrpSpPr/>
          <p:nvPr/>
        </p:nvGrpSpPr>
        <p:grpSpPr>
          <a:xfrm>
            <a:off x="7397967" y="4121907"/>
            <a:ext cx="1759568" cy="2147078"/>
            <a:chOff x="6858612" y="6394897"/>
            <a:chExt cx="2232003" cy="2716151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703C3121-547A-EA6B-D2F2-6E39476EAE07}"/>
                </a:ext>
              </a:extLst>
            </p:cNvPr>
            <p:cNvGrpSpPr/>
            <p:nvPr/>
          </p:nvGrpSpPr>
          <p:grpSpPr>
            <a:xfrm>
              <a:off x="6858612" y="6394897"/>
              <a:ext cx="2232003" cy="2716151"/>
              <a:chOff x="748428" y="7037449"/>
              <a:chExt cx="2232003" cy="271615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892ACD41-E131-A12A-70A7-B957C7D59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8428" y="7037449"/>
                <a:ext cx="2232003" cy="2716151"/>
              </a:xfrm>
              <a:prstGeom prst="rect">
                <a:avLst/>
              </a:prstGeom>
            </p:spPr>
          </p:pic>
          <p:sp>
            <p:nvSpPr>
              <p:cNvPr id="25" name="왼쪽 중괄호 24">
                <a:extLst>
                  <a:ext uri="{FF2B5EF4-FFF2-40B4-BE49-F238E27FC236}">
                    <a16:creationId xmlns:a16="http://schemas.microsoft.com/office/drawing/2014/main" id="{9BA77601-5F45-A7A9-2182-8860EC1D64B2}"/>
                  </a:ext>
                </a:extLst>
              </p:cNvPr>
              <p:cNvSpPr/>
              <p:nvPr/>
            </p:nvSpPr>
            <p:spPr>
              <a:xfrm>
                <a:off x="748428" y="8695113"/>
                <a:ext cx="282350" cy="718357"/>
              </a:xfrm>
              <a:prstGeom prst="leftBrace">
                <a:avLst>
                  <a:gd name="adj1" fmla="val 63605"/>
                  <a:gd name="adj2" fmla="val 50000"/>
                </a:avLst>
              </a:prstGeom>
              <a:noFill/>
              <a:ln w="57150" cap="flat">
                <a:solidFill>
                  <a:srgbClr val="00B050"/>
                </a:solidFill>
                <a:prstDash val="solid"/>
                <a:miter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>
                <a:scrgbClr r="0" g="0" b="0"/>
              </a:fontRef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</a:pPr>
                <a:endParaRPr kumimoji="0" lang="ko-KR" altLang="en-US" sz="1800" b="0" i="0" u="none" strike="noStrike" cap="none" spc="0" normalizeH="0" baseline="0">
                  <a:solidFill>
                    <a:srgbClr val="000000"/>
                  </a:solidFill>
                  <a:effectLst/>
                  <a:uFillTx/>
                </a:endParaRPr>
              </a:p>
            </p:txBody>
          </p:sp>
        </p:grp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D09CAD1C-2890-F519-6C0D-1D8208A809E3}"/>
                </a:ext>
              </a:extLst>
            </p:cNvPr>
            <p:cNvCxnSpPr/>
            <p:nvPr/>
          </p:nvCxnSpPr>
          <p:spPr>
            <a:xfrm>
              <a:off x="7091978" y="6951408"/>
              <a:ext cx="0" cy="339299"/>
            </a:xfrm>
            <a:prstGeom prst="line">
              <a:avLst/>
            </a:prstGeom>
            <a:noFill/>
            <a:ln w="57150" cap="flat">
              <a:solidFill>
                <a:srgbClr val="00B05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</p:cxnSp>
      </p:grpSp>
      <p:sp>
        <p:nvSpPr>
          <p:cNvPr id="52" name="텍스트 개체 틀 2">
            <a:extLst>
              <a:ext uri="{FF2B5EF4-FFF2-40B4-BE49-F238E27FC236}">
                <a16:creationId xmlns:a16="http://schemas.microsoft.com/office/drawing/2014/main" id="{E2B950FD-D181-A6F8-656F-B35C7C6031F9}"/>
              </a:ext>
            </a:extLst>
          </p:cNvPr>
          <p:cNvSpPr txBox="1">
            <a:spLocks/>
          </p:cNvSpPr>
          <p:nvPr/>
        </p:nvSpPr>
        <p:spPr>
          <a:xfrm>
            <a:off x="636124" y="7525413"/>
            <a:ext cx="4838960" cy="60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r>
              <a:rPr lang="en-US" altLang="ko-KR" sz="2800" dirty="0"/>
              <a:t>Fakefile </a:t>
            </a:r>
            <a:r>
              <a:rPr lang="ko-KR" altLang="en-US" sz="2800" dirty="0"/>
              <a:t>적용</a:t>
            </a:r>
            <a:endParaRPr lang="ko-KR" altLang="ko-KR" sz="2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6B32E2-F03D-C006-A00B-15C5A597DCCE}"/>
              </a:ext>
            </a:extLst>
          </p:cNvPr>
          <p:cNvSpPr txBox="1"/>
          <p:nvPr/>
        </p:nvSpPr>
        <p:spPr>
          <a:xfrm>
            <a:off x="919689" y="8503780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</a:t>
            </a:r>
            <a:r>
              <a:rPr lang="en-US" altLang="ko-KR" sz="1800" dirty="0" err="1">
                <a:solidFill>
                  <a:srgbClr val="494949"/>
                </a:solidFill>
                <a:latin typeface="Consolas" panose="020B0609020204030204" pitchFamily="49" charset="0"/>
              </a:rPr>
              <a:t>rvx_each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F39438-7BFE-1C4C-E34A-2E47007B9844}"/>
              </a:ext>
            </a:extLst>
          </p:cNvPr>
          <p:cNvSpPr txBox="1"/>
          <p:nvPr/>
        </p:nvSpPr>
        <p:spPr>
          <a:xfrm>
            <a:off x="919689" y="8139493"/>
            <a:ext cx="278154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b="1" dirty="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/app/</a:t>
            </a:r>
            <a:r>
              <a:rPr lang="en-US" altLang="ko-KR" sz="1800" b="1" dirty="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v04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4A70ED-51D8-4D00-BE5C-ACB991C88680}"/>
              </a:ext>
            </a:extLst>
          </p:cNvPr>
          <p:cNvSpPr txBox="1"/>
          <p:nvPr/>
        </p:nvSpPr>
        <p:spPr>
          <a:xfrm>
            <a:off x="923147" y="8873112"/>
            <a:ext cx="5949239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rvx_each.mh 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에서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#USE_FAKEFILE=true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의 주석 제거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E62483-58AB-904A-248E-9FA092D749BA}"/>
              </a:ext>
            </a:extLst>
          </p:cNvPr>
          <p:cNvSpPr txBox="1"/>
          <p:nvPr/>
        </p:nvSpPr>
        <p:spPr>
          <a:xfrm>
            <a:off x="3129799" y="5437196"/>
            <a:ext cx="858142" cy="215444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800">
                <a:solidFill>
                  <a:srgbClr val="494949"/>
                </a:solidFill>
                <a:latin typeface="Consolas" panose="020B0609020204030204" pitchFamily="49" charset="0"/>
              </a:rPr>
              <a:t>생성과 초기화</a:t>
            </a:r>
            <a:endParaRPr lang="en-US" altLang="ko-KR" sz="800" dirty="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06247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BE06-211A-6B4D-8AE9-BEA927D5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738AC-EED4-4E90-97D2-CB18626C3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 sz="4000" dirty="0">
                <a:latin typeface="Consolas" panose="020B0609020204030204" pitchFamily="49" charset="0"/>
              </a:rPr>
              <a:t>Waveform / report</a:t>
            </a:r>
            <a:endParaRPr lang="ko-KR" altLang="en-US" sz="40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7B7C0-7BF5-D582-CF74-D93DD167DAC1}"/>
              </a:ext>
            </a:extLst>
          </p:cNvPr>
          <p:cNvSpPr txBox="1"/>
          <p:nvPr/>
        </p:nvSpPr>
        <p:spPr>
          <a:xfrm>
            <a:off x="720738" y="1850876"/>
            <a:ext cx="4072318" cy="179536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algn="l"/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 tip_emamba_v1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$ make </a:t>
            </a:r>
            <a:r>
              <a:rPr kumimoji="0" lang="en-US" altLang="ko-KR" sz="1800" b="0" i="0" u="none" strike="noStrike" cap="none" spc="0" normalizeH="0" baseline="0" dirty="0" err="1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sim_rtl</a:t>
            </a:r>
            <a:b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</a:t>
            </a: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cd </a:t>
            </a:r>
            <a:r>
              <a:rPr kumimoji="0" lang="en-US" altLang="ko-KR" sz="1800" b="0" i="0" u="none" strike="noStrike" cap="none" spc="0" normalizeH="0" baseline="0" dirty="0" err="1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sim_rtl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ev01.debug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 err="1">
                <a:solidFill>
                  <a:srgbClr val="494949"/>
                </a:solidFill>
                <a:latin typeface="Consolas" panose="020B0609020204030204" pitchFamily="49" charset="0"/>
              </a:rPr>
              <a:t>vsim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–view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 err="1">
                <a:solidFill>
                  <a:srgbClr val="494949"/>
                </a:solidFill>
                <a:latin typeface="Consolas" panose="020B0609020204030204" pitchFamily="49" charset="0"/>
              </a:rPr>
              <a:t>vsim.wlf</a:t>
            </a:r>
            <a:endParaRPr kumimoji="0" lang="en-US" altLang="ko-KR" sz="1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Consolas" panose="020B0609020204030204" pitchFamily="49" charset="0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EDF9B46-53D6-80A4-6625-024B7A1B2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3241" y="4876800"/>
            <a:ext cx="2706362" cy="3872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9CB631-B9A1-1A2C-704D-4910CC8A28DA}"/>
              </a:ext>
            </a:extLst>
          </p:cNvPr>
          <p:cNvSpPr txBox="1"/>
          <p:nvPr/>
        </p:nvSpPr>
        <p:spPr>
          <a:xfrm>
            <a:off x="720738" y="4876800"/>
            <a:ext cx="7405083" cy="68736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imp_genesys2-be_2026_06_XX / </a:t>
            </a:r>
            <a:r>
              <a:rPr kumimoji="0" lang="en-US" altLang="ko-KR" sz="1800" b="0" i="0" u="none" strike="noStrike" cap="none" spc="0" normalizeH="0" baseline="0" dirty="0" err="1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imp_result</a:t>
            </a: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 / </a:t>
            </a:r>
            <a:r>
              <a:rPr kumimoji="0" lang="en-US" altLang="ko-KR" sz="1800" b="0" i="0" u="none" strike="noStrike" cap="none" spc="0" normalizeH="0" baseline="0" dirty="0" err="1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route_util.rpt</a:t>
            </a:r>
            <a:endParaRPr kumimoji="0" lang="en-US" altLang="ko-KR" sz="1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FCFF20-72D1-B96B-D176-CB5FC78181B5}"/>
              </a:ext>
            </a:extLst>
          </p:cNvPr>
          <p:cNvSpPr txBox="1"/>
          <p:nvPr/>
        </p:nvSpPr>
        <p:spPr>
          <a:xfrm>
            <a:off x="-45757" y="914999"/>
            <a:ext cx="669471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1.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15DB8B8D-5C3C-53CA-0506-7657DCC48CBA}"/>
              </a:ext>
            </a:extLst>
          </p:cNvPr>
          <p:cNvSpPr txBox="1">
            <a:spLocks/>
          </p:cNvSpPr>
          <p:nvPr/>
        </p:nvSpPr>
        <p:spPr>
          <a:xfrm>
            <a:off x="636124" y="1215426"/>
            <a:ext cx="4838960" cy="60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r>
              <a:rPr lang="en-US" altLang="ko-KR" sz="2800" dirty="0"/>
              <a:t>Waveform </a:t>
            </a:r>
            <a:r>
              <a:rPr lang="ko-KR" altLang="en-US" sz="2800" dirty="0"/>
              <a:t>만들기</a:t>
            </a:r>
            <a:endParaRPr lang="ko-KR" altLang="ko-KR" sz="2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26E35E-D746-798F-C8D7-11BB41917ABA}"/>
              </a:ext>
            </a:extLst>
          </p:cNvPr>
          <p:cNvSpPr txBox="1"/>
          <p:nvPr/>
        </p:nvSpPr>
        <p:spPr>
          <a:xfrm>
            <a:off x="-45757" y="3810187"/>
            <a:ext cx="669471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2.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45" name="텍스트 개체 틀 2">
            <a:extLst>
              <a:ext uri="{FF2B5EF4-FFF2-40B4-BE49-F238E27FC236}">
                <a16:creationId xmlns:a16="http://schemas.microsoft.com/office/drawing/2014/main" id="{7CCEBAA7-23B3-AF7F-9698-872DDC274E9F}"/>
              </a:ext>
            </a:extLst>
          </p:cNvPr>
          <p:cNvSpPr txBox="1">
            <a:spLocks/>
          </p:cNvSpPr>
          <p:nvPr/>
        </p:nvSpPr>
        <p:spPr>
          <a:xfrm>
            <a:off x="636124" y="4067658"/>
            <a:ext cx="4838960" cy="60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r>
              <a:rPr lang="en-US" altLang="ko-KR" sz="2800" dirty="0"/>
              <a:t>Report </a:t>
            </a:r>
            <a:r>
              <a:rPr lang="ko-KR" altLang="en-US" sz="2800" dirty="0"/>
              <a:t>확인</a:t>
            </a:r>
            <a:endParaRPr lang="ko-KR" altLang="ko-KR" sz="2800" dirty="0"/>
          </a:p>
        </p:txBody>
      </p:sp>
    </p:spTree>
    <p:extLst>
      <p:ext uri="{BB962C8B-B14F-4D97-AF65-F5344CB8AC3E}">
        <p14:creationId xmlns:p14="http://schemas.microsoft.com/office/powerpoint/2010/main" val="96465746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39DFA-4E5F-5150-5C0C-79EE4D3BB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69BAF-EDAC-E1F7-31C6-40E4A3C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RISC-V </a:t>
            </a:r>
            <a:r>
              <a:rPr lang="ko-KR" altLang="en-US" sz="4400" dirty="0"/>
              <a:t>와 </a:t>
            </a:r>
            <a:r>
              <a:rPr lang="en-US" altLang="ko-KR" sz="4400" dirty="0"/>
              <a:t>RTL IP </a:t>
            </a:r>
            <a:r>
              <a:rPr lang="ko-KR" altLang="en-US" sz="4400" dirty="0"/>
              <a:t>연결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1CC2C4-E2FB-93CE-D47B-61573D38C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1" y="1266741"/>
            <a:ext cx="8251292" cy="423447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When I setup platform-xml file and </a:t>
            </a:r>
            <a:r>
              <a:rPr lang="en-US" altLang="ko-KR" sz="1800" b="1" i="1" dirty="0">
                <a:latin typeface="Consolas" panose="020B0609020204030204" pitchFamily="49" charset="0"/>
              </a:rPr>
              <a:t>$make syn, </a:t>
            </a:r>
            <a:r>
              <a:rPr lang="en-US" altLang="ko-KR" sz="1800" dirty="0">
                <a:ea typeface="Tahoma" panose="020B0604030504040204" pitchFamily="34" charset="0"/>
                <a:cs typeface="Tahoma" panose="020B0604030504040204" pitchFamily="34" charset="0"/>
              </a:rPr>
              <a:t>it generates {platform}.v.</a:t>
            </a:r>
          </a:p>
          <a:p>
            <a:endParaRPr lang="ko-KR" altLang="en-US" sz="1800" dirty="0">
              <a:cs typeface="Tahoma" panose="020B060403050404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EADA44-6E18-C032-89B4-AF4C8E65C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593" y="3937731"/>
            <a:ext cx="3086100" cy="19665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CBD9CE-1B17-D429-B194-4A11976D4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80" y="2576712"/>
            <a:ext cx="3153358" cy="3798749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6913B1FD-0D38-E3C7-19F7-2959B815D6D6}"/>
              </a:ext>
            </a:extLst>
          </p:cNvPr>
          <p:cNvSpPr/>
          <p:nvPr/>
        </p:nvSpPr>
        <p:spPr>
          <a:xfrm>
            <a:off x="4402319" y="4921011"/>
            <a:ext cx="1129192" cy="423447"/>
          </a:xfrm>
          <a:prstGeom prst="rightArrow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Consolas" panose="020B0609020204030204" pitchFamily="49" charset="0"/>
              </a:rPr>
              <a:t>make syn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A2F70A8-32C1-D03B-B6F5-D1220D7A2DC4}"/>
              </a:ext>
            </a:extLst>
          </p:cNvPr>
          <p:cNvGrpSpPr/>
          <p:nvPr/>
        </p:nvGrpSpPr>
        <p:grpSpPr>
          <a:xfrm>
            <a:off x="9012438" y="1890741"/>
            <a:ext cx="3153359" cy="5710897"/>
            <a:chOff x="8438255" y="0"/>
            <a:chExt cx="3753744" cy="685800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D631E59-1B70-8FBA-CD04-C7B2015D6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17185" y="0"/>
              <a:ext cx="3474814" cy="6858000"/>
            </a:xfrm>
            <a:prstGeom prst="rect">
              <a:avLst/>
            </a:prstGeom>
          </p:spPr>
        </p:pic>
        <p:sp>
          <p:nvSpPr>
            <p:cNvPr id="13" name="왼쪽 중괄호 12">
              <a:extLst>
                <a:ext uri="{FF2B5EF4-FFF2-40B4-BE49-F238E27FC236}">
                  <a16:creationId xmlns:a16="http://schemas.microsoft.com/office/drawing/2014/main" id="{E387A732-6E04-39CF-38F0-36AE9A9FD4FE}"/>
                </a:ext>
              </a:extLst>
            </p:cNvPr>
            <p:cNvSpPr/>
            <p:nvPr/>
          </p:nvSpPr>
          <p:spPr>
            <a:xfrm>
              <a:off x="8831017" y="355941"/>
              <a:ext cx="294572" cy="2497723"/>
            </a:xfrm>
            <a:prstGeom prst="leftBrace">
              <a:avLst>
                <a:gd name="adj1" fmla="val 148958"/>
                <a:gd name="adj2" fmla="val 50000"/>
              </a:avLst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연결선: 꺾임 13">
              <a:extLst>
                <a:ext uri="{FF2B5EF4-FFF2-40B4-BE49-F238E27FC236}">
                  <a16:creationId xmlns:a16="http://schemas.microsoft.com/office/drawing/2014/main" id="{D76D143C-A61F-E3C1-6C64-FA47C0E7F5AA}"/>
                </a:ext>
              </a:extLst>
            </p:cNvPr>
            <p:cNvCxnSpPr/>
            <p:nvPr/>
          </p:nvCxnSpPr>
          <p:spPr>
            <a:xfrm rot="16200000" flipH="1">
              <a:off x="6563428" y="3488835"/>
              <a:ext cx="4436988" cy="687334"/>
            </a:xfrm>
            <a:prstGeom prst="bentConnector3">
              <a:avLst>
                <a:gd name="adj1" fmla="val 100069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1609B278-1EFE-B769-F0E1-98FC64F267FB}"/>
                </a:ext>
              </a:extLst>
            </p:cNvPr>
            <p:cNvCxnSpPr>
              <a:stCxn id="13" idx="1"/>
            </p:cNvCxnSpPr>
            <p:nvPr/>
          </p:nvCxnSpPr>
          <p:spPr>
            <a:xfrm flipH="1">
              <a:off x="8438255" y="1604803"/>
              <a:ext cx="392762" cy="92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819AE19-80D6-AFC4-F8AF-C8CEF1EC8B9B}"/>
              </a:ext>
            </a:extLst>
          </p:cNvPr>
          <p:cNvSpPr txBox="1"/>
          <p:nvPr/>
        </p:nvSpPr>
        <p:spPr>
          <a:xfrm>
            <a:off x="8662161" y="7601638"/>
            <a:ext cx="3693798" cy="461665"/>
          </a:xfrm>
          <a:prstGeom prst="rect">
            <a:avLst/>
          </a:prstGeom>
          <a:solidFill>
            <a:srgbClr val="FFFFFF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Parameters setup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CD019B-2922-3530-25C2-990BEF1E2B28}"/>
              </a:ext>
            </a:extLst>
          </p:cNvPr>
          <p:cNvSpPr txBox="1"/>
          <p:nvPr/>
        </p:nvSpPr>
        <p:spPr>
          <a:xfrm>
            <a:off x="334736" y="7056917"/>
            <a:ext cx="6417435" cy="151836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$ cd imp_genesys2-be_2026-06-22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make imp 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또는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make </a:t>
            </a:r>
            <a:r>
              <a:rPr lang="en-US" altLang="ko-KR" sz="1800" dirty="0" err="1">
                <a:solidFill>
                  <a:srgbClr val="494949"/>
                </a:solidFill>
                <a:latin typeface="Consolas" panose="020B0609020204030204" pitchFamily="49" charset="0"/>
              </a:rPr>
              <a:t>reimp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program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drv00.all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A1F2EE-C7B0-96F2-EBF6-6081948E7B43}"/>
              </a:ext>
            </a:extLst>
          </p:cNvPr>
          <p:cNvSpPr txBox="1"/>
          <p:nvPr/>
        </p:nvSpPr>
        <p:spPr>
          <a:xfrm>
            <a:off x="839003" y="1843462"/>
            <a:ext cx="1547892" cy="68736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$ make syn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BC4883C6-9772-C2FA-5160-61313D2FDBEB}"/>
              </a:ext>
            </a:extLst>
          </p:cNvPr>
          <p:cNvSpPr txBox="1">
            <a:spLocks/>
          </p:cNvSpPr>
          <p:nvPr/>
        </p:nvSpPr>
        <p:spPr>
          <a:xfrm>
            <a:off x="334737" y="6585747"/>
            <a:ext cx="8251292" cy="423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US" altLang="ko-KR" sz="1800" dirty="0">
                <a:cs typeface="Tahoma" panose="020B0604030504040204" pitchFamily="34" charset="0"/>
              </a:rPr>
              <a:t>RTL </a:t>
            </a:r>
            <a:r>
              <a:rPr lang="ko-KR" altLang="en-US" sz="1800" dirty="0">
                <a:cs typeface="Tahoma" panose="020B0604030504040204" pitchFamily="34" charset="0"/>
              </a:rPr>
              <a:t>컴파일 </a:t>
            </a:r>
            <a:r>
              <a:rPr lang="en-US" altLang="ko-KR" sz="1800" dirty="0">
                <a:cs typeface="Tahoma" panose="020B0604030504040204" pitchFamily="34" charset="0"/>
              </a:rPr>
              <a:t>&amp; RISC-V</a:t>
            </a:r>
            <a:r>
              <a:rPr lang="ko-KR" altLang="en-US" sz="1800" dirty="0">
                <a:cs typeface="Tahoma" panose="020B0604030504040204" pitchFamily="34" charset="0"/>
              </a:rPr>
              <a:t>와 통합 실행</a:t>
            </a:r>
          </a:p>
        </p:txBody>
      </p:sp>
    </p:spTree>
    <p:extLst>
      <p:ext uri="{BB962C8B-B14F-4D97-AF65-F5344CB8AC3E}">
        <p14:creationId xmlns:p14="http://schemas.microsoft.com/office/powerpoint/2010/main" val="124384673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BAB7A-635B-9B5C-7E05-AE4219965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xFTL: Exploiting Error Tolerance for Extending Lifetime of NAND Flash Storage">
            <a:extLst>
              <a:ext uri="{FF2B5EF4-FFF2-40B4-BE49-F238E27FC236}">
                <a16:creationId xmlns:a16="http://schemas.microsoft.com/office/drawing/2014/main" id="{EF206000-ABA4-E523-A45B-ED8CC6AD6E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>
            <a:lvl1pPr defTabSz="566674">
              <a:defRPr sz="6305"/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en-US" altLang="ko-KR" sz="4000" dirty="0"/>
              <a:t>test</a:t>
            </a:r>
            <a:endParaRPr lang="ko-KR" altLang="en-US" sz="4000" dirty="0"/>
          </a:p>
        </p:txBody>
      </p:sp>
      <p:sp>
        <p:nvSpPr>
          <p:cNvPr id="83" name="Younghyun Kim…">
            <a:extLst>
              <a:ext uri="{FF2B5EF4-FFF2-40B4-BE49-F238E27FC236}">
                <a16:creationId xmlns:a16="http://schemas.microsoft.com/office/drawing/2014/main" id="{9D1BC975-FBCF-6A96-47DA-241011449E2B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254000" y="6481522"/>
            <a:ext cx="12192000" cy="266630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500" dirty="0"/>
              <a:t>University of </a:t>
            </a:r>
            <a:r>
              <a:rPr lang="en-US" altLang="ko-KR" sz="3500" dirty="0" err="1"/>
              <a:t>ulsan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/>
              <a:t>Electronical, Electronic and Computer Engineering</a:t>
            </a:r>
            <a:r>
              <a:rPr lang="ko-KR" altLang="en-US" sz="3500" dirty="0"/>
              <a:t> 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 err="1"/>
              <a:t>Jaehyeok</a:t>
            </a:r>
            <a:r>
              <a:rPr lang="en-US" altLang="ko-KR" sz="3500" dirty="0"/>
              <a:t> Cho</a:t>
            </a:r>
          </a:p>
        </p:txBody>
      </p:sp>
    </p:spTree>
    <p:extLst>
      <p:ext uri="{BB962C8B-B14F-4D97-AF65-F5344CB8AC3E}">
        <p14:creationId xmlns:p14="http://schemas.microsoft.com/office/powerpoint/2010/main" val="199384457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C6B2C-4E4B-D356-E32B-8A00E27E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D89874-A8E6-5699-529E-887050156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1" y="628057"/>
            <a:ext cx="3982006" cy="84974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CF28E9C-F6A2-EED3-365F-43A7996B1C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9"/>
          <a:stretch>
            <a:fillRect/>
          </a:stretch>
        </p:blipFill>
        <p:spPr>
          <a:xfrm>
            <a:off x="4159397" y="628057"/>
            <a:ext cx="4172532" cy="849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9165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New_Template7">
  <a:themeElements>
    <a:clrScheme name="New_Template7">
      <a:dk1>
        <a:srgbClr val="494949"/>
      </a:dk1>
      <a:lt1>
        <a:srgbClr val="222222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Avenir Next Regular"/>
        <a:ea typeface="Avenir Next Regular"/>
        <a:cs typeface="Avenir Next Regular"/>
      </a:majorFont>
      <a:minorFont>
        <a:latin typeface="Arial"/>
        <a:ea typeface="Arial"/>
        <a:cs typeface="Arial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5B5854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2800" b="0" i="0" u="none" strike="noStrike" cap="all" spc="0" normalizeH="0" baseline="0">
            <a:solidFill>
              <a:srgbClr val="838787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chemeClr val="accent1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FontTx/>
          <a:buNone/>
          <a:defRPr kumimoji="0" sz="2800" b="0" i="0" u="none" strike="noStrike" cap="none" spc="0" normalizeH="0" baseline="0">
            <a:solidFill>
              <a:srgbClr val="49494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  <a:extraClrSchemeLst/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Avenir Next Regular"/>
        <a:ea typeface="Avenir Next Regular"/>
        <a:cs typeface="Avenir Next Regular"/>
      </a:majorFont>
      <a:minorFont>
        <a:latin typeface="Arial"/>
        <a:ea typeface="Arial"/>
        <a:cs typeface="Arial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5B5854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2800" b="0" i="0" u="none" strike="noStrike" cap="all" spc="0" normalizeH="0" baseline="0">
            <a:solidFill>
              <a:srgbClr val="838787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chemeClr val="accent1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FontTx/>
          <a:buNone/>
          <a:defRPr kumimoji="0" sz="2800" b="0" i="0" u="none" strike="noStrike" cap="none" spc="0" normalizeH="0" baseline="0">
            <a:solidFill>
              <a:srgbClr val="49494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140528</TotalTime>
  <Words>423</Words>
  <Application>Microsoft Office PowerPoint</Application>
  <PresentationFormat>사용자 지정</PresentationFormat>
  <Paragraphs>84</Paragraphs>
  <Slides>29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DIN Alternate Bold</vt:lpstr>
      <vt:lpstr>DIN Condensed Bold</vt:lpstr>
      <vt:lpstr>맑은 고딕</vt:lpstr>
      <vt:lpstr>Arial</vt:lpstr>
      <vt:lpstr>Consolas</vt:lpstr>
      <vt:lpstr>Tahoma</vt:lpstr>
      <vt:lpstr>times</vt:lpstr>
      <vt:lpstr>Times New Roman</vt:lpstr>
      <vt:lpstr>New_Template7</vt:lpstr>
      <vt:lpstr>tip emamba v0</vt:lpstr>
      <vt:lpstr>Porting</vt:lpstr>
      <vt:lpstr>Porting</vt:lpstr>
      <vt:lpstr>Porting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direct convert – not fakefile</vt:lpstr>
      <vt:lpstr>PowerPoint 프레젠테이션</vt:lpstr>
      <vt:lpstr>PowerPoint 프레젠테이션</vt:lpstr>
      <vt:lpstr>PowerPoint 프레젠테이션</vt:lpstr>
      <vt:lpstr>PowerPoint 프레젠테이션</vt:lpstr>
      <vt:lpstr>Whole codes</vt:lpstr>
      <vt:lpstr>명령서 사용 설명서</vt:lpstr>
      <vt:lpstr>Platform &amp; App</vt:lpstr>
      <vt:lpstr>Fakefile 만들기</vt:lpstr>
      <vt:lpstr>Waveform / report</vt:lpstr>
      <vt:lpstr>RISC-V 와 RTL IP 연결</vt:lpstr>
      <vt:lpstr>test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Processor System with Zynq</dc:title>
  <dc:creator>Jaehyun</dc:creator>
  <cp:lastModifiedBy>조재혁</cp:lastModifiedBy>
  <cp:revision>3161</cp:revision>
  <dcterms:modified xsi:type="dcterms:W3CDTF">2026-07-06T03:09:24Z</dcterms:modified>
  <cp:version>1000.0000.01</cp:version>
</cp:coreProperties>
</file>
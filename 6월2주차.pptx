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58" r:id="rId1"/>
  </p:sldMasterIdLst>
  <p:notesMasterIdLst>
    <p:notesMasterId r:id="rId15"/>
  </p:notesMasterIdLst>
  <p:handoutMasterIdLst>
    <p:handoutMasterId r:id="rId16"/>
  </p:handoutMasterIdLst>
  <p:sldIdLst>
    <p:sldId id="1047" r:id="rId2"/>
    <p:sldId id="1081" r:id="rId3"/>
    <p:sldId id="1082" r:id="rId4"/>
    <p:sldId id="1084" r:id="rId5"/>
    <p:sldId id="1083" r:id="rId6"/>
    <p:sldId id="1090" r:id="rId7"/>
    <p:sldId id="1091" r:id="rId8"/>
    <p:sldId id="1092" r:id="rId9"/>
    <p:sldId id="1089" r:id="rId10"/>
    <p:sldId id="1077" r:id="rId11"/>
    <p:sldId id="1088" r:id="rId12"/>
    <p:sldId id="1078" r:id="rId13"/>
    <p:sldId id="1080" r:id="rId14"/>
  </p:sldIdLst>
  <p:sldSz cx="13004800" cy="9753600"/>
  <p:notesSz cx="7099300" cy="102346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FontTx/>
      <a:buNone/>
      <a:defRPr kumimoji="0" sz="1800" b="0" i="0" u="none" strike="noStrike" cap="none" spc="0" normalizeH="0" baseline="0"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71">
          <p15:clr>
            <a:srgbClr val="A4A3A4"/>
          </p15:clr>
        </p15:guide>
        <p15:guide id="2" pos="40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D09403-A110-087A-D73C-0A2C9D25C75A}" name="이상완" initials="전이" userId="S::lso500@mail.ulsan.ac.kr::96b8e34a-8cbc-4d1c-bc14-d555da540fa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6EFCE"/>
    <a:srgbClr val="7F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C3C2611-4C71-4FC5-86AE-919BDF0F9419}" styleName="">
    <a:wholeTbl>
      <a:tcTxStyle b="off" i="off">
        <a:font>
          <a:latin typeface="Avenir Next Medium"/>
          <a:ea typeface="Avenir Next Medium"/>
          <a:cs typeface="Avenir Next Medium"/>
        </a:font>
        <a:schemeClr val="accent1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178262"/>
              <a:satOff val="-8650"/>
              <a:lumOff val="-7250"/>
              <a:alpha val="29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63500" cap="flat">
              <a:solidFill>
                <a:srgbClr val="5F6568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Row>
  </a:tblStyle>
  <a:tblStyle styleId="{EEE7283C-3CF3-47DC-8721-378D4A62B228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chemeClr val="accent5">
              <a:hueOff val="-239254"/>
              <a:lumOff val="-1400"/>
            </a:schemeClr>
          </a:solidFill>
        </a:fill>
      </a:tcStyle>
    </a:firstRow>
  </a:tblStyle>
  <a:tblStyle styleId="{2708684C-4D16-4618-839F-0558EEFCDFE6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/>
            </a:ln>
          </a:left>
          <a:right>
            <a:ln w="25400" cap="flat">
              <a:solidFill>
                <a:srgbClr val="5F6568"/>
              </a:solidFill>
              <a:prstDash val="solid"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25400" cap="flat">
              <a:solidFill>
                <a:srgbClr val="5F6568"/>
              </a:solidFill>
              <a:prstDash val="solid"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63500" cap="flat">
              <a:solidFill>
                <a:srgbClr val="5F6568"/>
              </a:solidFill>
              <a:prstDash val="solid"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25400" cap="flat">
              <a:solidFill>
                <a:srgbClr val="5F6568"/>
              </a:solidFill>
              <a:prstDash val="solid"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63500" cap="flat">
              <a:solidFill>
                <a:srgbClr val="5F6568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/>
            </a:ln>
          </a:left>
          <a:right>
            <a:ln w="25400" cap="flat">
              <a:solidFill>
                <a:srgbClr val="5F6568"/>
              </a:solidFill>
              <a:prstDash val="solid"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25400" cap="flat">
              <a:solidFill>
                <a:srgbClr val="5F6568"/>
              </a:solidFill>
              <a:prstDash val="solid"/>
              <a:miter/>
            </a:ln>
          </a:insideV>
        </a:tcBdr>
        <a:fill>
          <a:noFill/>
        </a:fill>
      </a:tcStyle>
    </a:firstRow>
  </a:tblStyle>
  <a:tblStyle styleId="{33BA23B1-9221-436E-865A-0063620EA4FD}" styleName="">
    <a:wholeTb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222222"/>
              </a:solidFill>
              <a:prstDash val="solid"/>
              <a:miter/>
            </a:ln>
          </a:top>
          <a:bottom>
            <a:ln w="25400" cap="flat">
              <a:solidFill>
                <a:srgbClr val="222222"/>
              </a:solidFill>
              <a:prstDash val="solid"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>
              <a:alpha val="75000"/>
            </a:srgbClr>
          </a:solidFill>
        </a:fill>
      </a:tcStyle>
    </a:wholeTbl>
    <a:band2H>
      <a:tcTxStyle/>
      <a:tcStyle>
        <a:tcBdr/>
        <a:fill>
          <a:solidFill>
            <a:srgbClr val="686A6A">
              <a:alpha val="85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22222"/>
      </a:tcTxStyle>
      <a:tcStyle>
        <a:tcBdr>
          <a:left>
            <a:ln w="12700" cap="flat">
              <a:noFill/>
              <a:miter/>
            </a:ln>
          </a:left>
          <a:right>
            <a:ln w="63500" cap="flat">
              <a:solidFill>
                <a:srgbClr val="222222"/>
              </a:solidFill>
              <a:prstDash val="solid"/>
              <a:miter/>
            </a:ln>
          </a:right>
          <a:top>
            <a:ln w="25400" cap="flat">
              <a:solidFill>
                <a:srgbClr val="222222"/>
              </a:solidFill>
              <a:prstDash val="solid"/>
              <a:miter/>
            </a:ln>
          </a:top>
          <a:bottom>
            <a:ln w="25400" cap="flat">
              <a:solidFill>
                <a:srgbClr val="222222"/>
              </a:solidFill>
              <a:prstDash val="solid"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686A6A">
              <a:alpha val="85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63500" cap="flat">
              <a:solidFill>
                <a:srgbClr val="222222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222222"/>
              </a:solidFill>
              <a:prstDash val="solid"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/>
          </a:solidFill>
        </a:fill>
      </a:tcStyle>
    </a:firstRow>
  </a:tblStyle>
  <a:tblStyle styleId="{CF821DB8-F4EB-4A41-A1BA-3FCAFE7338EE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EB9B">
              <a:alpha val="26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88900" cap="flat">
              <a:solidFill>
                <a:srgbClr val="5F6568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147882"/>
          </a:solidFill>
        </a:fill>
      </a:tcStyle>
    </a:firstRow>
  </a:tblStyle>
  <a:tblStyle styleId="{C7B018BB-80A7-4F77-B60F-C8B233D01FF8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6">
              <a:alpha val="25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A01D73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781873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781873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5" autoAdjust="0"/>
    <p:restoredTop sz="86667" autoAdjust="0"/>
  </p:normalViewPr>
  <p:slideViewPr>
    <p:cSldViewPr snapToGrid="0">
      <p:cViewPr varScale="1">
        <p:scale>
          <a:sx n="117" d="100"/>
          <a:sy n="117" d="100"/>
        </p:scale>
        <p:origin x="1734" y="114"/>
      </p:cViewPr>
      <p:guideLst>
        <p:guide orient="horz" pos="3071"/>
        <p:guide pos="40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9" d="100"/>
          <a:sy n="109" d="100"/>
        </p:scale>
        <p:origin x="520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4B13CF4-DE26-4643-AC33-BF963B79312C}" type="datetime1">
              <a:rPr lang="ko-KR" altLang="en-US"/>
              <a:pPr lvl="0">
                <a:defRPr/>
              </a:pPr>
              <a:t>2026-06-09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D23B328-7739-49F3-9BFC-8E2CCC17EB8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9938"/>
            <a:ext cx="5114925" cy="3835400"/>
          </a:xfrm>
          <a:prstGeom prst="rect">
            <a:avLst/>
          </a:prstGeom>
        </p:spPr>
        <p:txBody>
          <a:bodyPr lIns="99040" tIns="49521" rIns="99040" bIns="49521"/>
          <a:lstStyle/>
          <a:p>
            <a:pPr lvl="0">
              <a:defRPr/>
            </a:pPr>
            <a:endParaRPr/>
          </a:p>
        </p:txBody>
      </p:sp>
      <p:sp>
        <p:nvSpPr>
          <p:cNvPr id="80" name="Shape 80"/>
          <p:cNvSpPr>
            <a:spLocks noGrp="1"/>
          </p:cNvSpPr>
          <p:nvPr>
            <p:ph type="body" sz="quarter" idx="1"/>
          </p:nvPr>
        </p:nvSpPr>
        <p:spPr>
          <a:xfrm>
            <a:off x="946575" y="4861442"/>
            <a:ext cx="5206153" cy="4605576"/>
          </a:xfrm>
          <a:prstGeom prst="rect">
            <a:avLst/>
          </a:prstGeom>
        </p:spPr>
        <p:txBody>
          <a:bodyPr lIns="99040" tIns="49521" rIns="99040" bIns="49521"/>
          <a:lstStyle/>
          <a:p>
            <a:pPr lvl="0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1pPr>
    <a:lvl2pPr indent="2286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2pPr>
    <a:lvl3pPr indent="4572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3pPr>
    <a:lvl4pPr indent="6858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4pPr>
    <a:lvl5pPr indent="9144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5pPr>
    <a:lvl6pPr indent="11430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6pPr>
    <a:lvl7pPr indent="13716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7pPr>
    <a:lvl8pPr indent="16002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8pPr>
    <a:lvl9pPr indent="18288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sz="17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02F91-1DA4-0EC0-0EF7-9C1388E03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63EB8B-DB86-0AE0-F3FD-C050CB84EF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AE443F-669E-A24A-AB09-73E95D241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sz="1700" dirty="0"/>
          </a:p>
        </p:txBody>
      </p:sp>
    </p:spTree>
    <p:extLst>
      <p:ext uri="{BB962C8B-B14F-4D97-AF65-F5344CB8AC3E}">
        <p14:creationId xmlns:p14="http://schemas.microsoft.com/office/powerpoint/2010/main" val="1563236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CBB42-3163-A179-0E60-BB9CA69A6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8622E4-8598-89E3-6483-838A4A284A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24FDF1-6400-CA50-A2A0-9F05A5526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sz="1700" dirty="0"/>
          </a:p>
        </p:txBody>
      </p:sp>
    </p:spTree>
    <p:extLst>
      <p:ext uri="{BB962C8B-B14F-4D97-AF65-F5344CB8AC3E}">
        <p14:creationId xmlns:p14="http://schemas.microsoft.com/office/powerpoint/2010/main" val="4028588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"/>
          <p:cNvSpPr/>
          <p:nvPr/>
        </p:nvSpPr>
        <p:spPr>
          <a:xfrm>
            <a:off x="-1" y="3053125"/>
            <a:ext cx="13004801" cy="2540001"/>
          </a:xfrm>
          <a:prstGeom prst="rect">
            <a:avLst/>
          </a:prstGeom>
          <a:solidFill>
            <a:srgbClr val="00A664"/>
          </a:solidFill>
          <a:ln w="12700">
            <a:miter lim="400000"/>
          </a:ln>
        </p:spPr>
        <p:txBody>
          <a:bodyPr lIns="254000" tIns="254000" rIns="254000" bIns="254000" anchor="ctr"/>
          <a:lstStyle/>
          <a:p>
            <a:pPr algn="l">
              <a:lnSpc>
                <a:spcPct val="80000"/>
              </a:lnSpc>
              <a:spcBef>
                <a:spcPts val="1800"/>
              </a:spcBef>
              <a:defRPr sz="3600">
                <a:solidFill>
                  <a:srgbClr val="FFFFFF"/>
                </a:solidFill>
                <a:latin typeface="+mj-lt"/>
                <a:ea typeface="+mj-ea"/>
                <a:cs typeface="+mj-cs"/>
                <a:sym typeface="Avenir Next Regular"/>
              </a:defRPr>
            </a:pPr>
            <a:endParaRPr/>
          </a:p>
        </p:txBody>
      </p:sp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406400" y="3053125"/>
            <a:ext cx="12192000" cy="2540001"/>
          </a:xfrm>
          <a:prstGeom prst="rect">
            <a:avLst/>
          </a:prstGeom>
        </p:spPr>
        <p:txBody>
          <a:bodyPr anchor="t"/>
          <a:lstStyle>
            <a:lvl1pPr>
              <a:spcBef>
                <a:spcPts val="0"/>
              </a:spcBef>
              <a:defRPr sz="8000" cap="none" baseline="0">
                <a:solidFill>
                  <a:srgbClr val="F7F7F7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06400" y="5810962"/>
            <a:ext cx="12192000" cy="266630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2700"/>
              </a:spcBef>
              <a:buClrTx/>
              <a:buSzTx/>
              <a:buNone/>
              <a:defRPr sz="45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1400"/>
              </a:spcBef>
              <a:buClrTx/>
              <a:buSzTx/>
              <a:buNone/>
              <a:defRPr sz="27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1400"/>
              </a:spcBef>
              <a:buClrTx/>
              <a:buSzTx/>
              <a:buNone/>
              <a:defRPr sz="27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1400"/>
              </a:spcBef>
              <a:buClrTx/>
              <a:buSzTx/>
              <a:buNone/>
              <a:defRPr sz="27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1400"/>
              </a:spcBef>
              <a:buClrTx/>
              <a:buSzTx/>
              <a:buNone/>
              <a:defRPr sz="27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6" name="Location, Year"/>
          <p:cNvSpPr txBox="1">
            <a:spLocks noGrp="1"/>
          </p:cNvSpPr>
          <p:nvPr>
            <p:ph type="body" sz="quarter" idx="13"/>
          </p:nvPr>
        </p:nvSpPr>
        <p:spPr>
          <a:xfrm>
            <a:off x="406400" y="8980785"/>
            <a:ext cx="12192000" cy="453430"/>
          </a:xfrm>
          <a:prstGeom prst="rect">
            <a:avLst/>
          </a:prstGeom>
        </p:spPr>
        <p:txBody>
          <a:bodyPr anchor="b"/>
          <a:lstStyle>
            <a:lvl1pPr marL="0" indent="0" defTabSz="525779">
              <a:lnSpc>
                <a:spcPct val="80000"/>
              </a:lnSpc>
              <a:spcBef>
                <a:spcPts val="2000"/>
              </a:spcBef>
              <a:buClrTx/>
              <a:buSzTx/>
              <a:buNone/>
              <a:defRPr sz="2430" cap="small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Location, Year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94440" y="431800"/>
            <a:ext cx="406898" cy="457200"/>
          </a:xfrm>
          <a:prstGeom prst="rect">
            <a:avLst/>
          </a:prstGeom>
        </p:spPr>
        <p:txBody>
          <a:bodyPr/>
          <a:lstStyle>
            <a:lvl1pPr algn="r">
              <a:lnSpc>
                <a:spcPct val="80000"/>
              </a:lnSpc>
              <a:defRPr sz="2400">
                <a:solidFill>
                  <a:srgbClr val="838787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&amp;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Text"/>
          <p:cNvSpPr txBox="1"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400" b="1" cap="none"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1266741"/>
            <a:ext cx="12192001" cy="7986316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  <a:lvl2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2pPr>
            <a:lvl3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3pPr>
            <a:lvl4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4pPr>
            <a:lvl5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360B8AA7-294D-4AB9-A31A-ACF342B117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090"/>
          <a:stretch/>
        </p:blipFill>
        <p:spPr>
          <a:xfrm>
            <a:off x="10544960" y="9329692"/>
            <a:ext cx="2053439" cy="420987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898BBA0-DE45-43B3-A69A-3A258E53729D}"/>
              </a:ext>
            </a:extLst>
          </p:cNvPr>
          <p:cNvCxnSpPr>
            <a:cxnSpLocks/>
          </p:cNvCxnSpPr>
          <p:nvPr userDrawn="1"/>
        </p:nvCxnSpPr>
        <p:spPr>
          <a:xfrm>
            <a:off x="0" y="1090569"/>
            <a:ext cx="13004800" cy="0"/>
          </a:xfrm>
          <a:prstGeom prst="line">
            <a:avLst/>
          </a:prstGeom>
          <a:noFill/>
          <a:ln w="25400" cap="flat">
            <a:solidFill>
              <a:srgbClr val="00A664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2168179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06400" y="316805"/>
            <a:ext cx="12192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r>
              <a:rPr dirty="0"/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1390054"/>
            <a:ext cx="12192001" cy="7639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2pPr marL="762000" indent="-381000">
              <a:spcBef>
                <a:spcPts val="1200"/>
              </a:spcBef>
              <a:buSzPct val="100000"/>
              <a:buChar char="‣"/>
              <a:defRPr sz="2800"/>
            </a:lvl2pPr>
            <a:lvl3pPr marL="1143000" indent="-381000">
              <a:spcBef>
                <a:spcPts val="800"/>
              </a:spcBef>
              <a:buSzPct val="100000"/>
              <a:defRPr sz="2400"/>
            </a:lvl3pPr>
            <a:lvl4pPr marL="1524000" indent="-381000">
              <a:spcBef>
                <a:spcPts val="400"/>
              </a:spcBef>
              <a:buSzPct val="100000"/>
              <a:buChar char="‣"/>
              <a:defRPr sz="2000"/>
            </a:lvl4pPr>
            <a:lvl5pPr marL="1905000" indent="-381000">
              <a:spcBef>
                <a:spcPts val="0"/>
              </a:spcBef>
              <a:buSzPct val="100000"/>
              <a:defRPr sz="1600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28376" y="9334500"/>
            <a:ext cx="333748" cy="3683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1800">
                <a:solidFill>
                  <a:srgbClr val="ADADAD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5400" b="0" i="0" u="none" strike="noStrike" cap="small" spc="0" baseline="0">
          <a:solidFill>
            <a:srgbClr val="00A664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1pPr>
      <a:lvl2pPr marL="0" marR="0" indent="2286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2pPr>
      <a:lvl3pPr marL="0" marR="0" indent="4572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3pPr>
      <a:lvl4pPr marL="0" marR="0" indent="6858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4pPr>
      <a:lvl5pPr marL="0" marR="0" indent="9144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5pPr>
      <a:lvl6pPr marL="0" marR="0" indent="11430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6pPr>
      <a:lvl7pPr marL="0" marR="0" indent="13716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7pPr>
      <a:lvl8pPr marL="0" marR="0" indent="16002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8pPr>
      <a:lvl9pPr marL="0" marR="0" indent="18288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9pPr>
    </p:titleStyle>
    <p:bodyStyle>
      <a:lvl1pPr marL="381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100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1pPr>
      <a:lvl2pPr marL="762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2pPr>
      <a:lvl3pPr marL="1143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3pPr>
      <a:lvl4pPr marL="1524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4pPr>
      <a:lvl5pPr marL="1905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5pPr>
      <a:lvl6pPr marL="2965726" marR="0" indent="-362226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6pPr>
      <a:lvl7pPr marL="3486425" marR="0" indent="-362225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7pPr>
      <a:lvl8pPr marL="4007125" marR="0" indent="-362225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8pPr>
      <a:lvl9pPr marL="4527825" marR="0" indent="-362225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AxFTL: Exploiting Error Tolerance for Extending Lifetime of NAND Flash Stora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/>
          </a:bodyPr>
          <a:lstStyle>
            <a:lvl1pPr defTabSz="566674">
              <a:defRPr sz="6305"/>
            </a:lvl1pPr>
          </a:lstStyle>
          <a:p>
            <a:pPr lvl="0" algn="ctr">
              <a:lnSpc>
                <a:spcPct val="100000"/>
              </a:lnSpc>
              <a:defRPr/>
            </a:pPr>
            <a:r>
              <a:rPr lang="en-US" altLang="ko-KR" sz="4000" dirty="0" err="1"/>
              <a:t>PureC</a:t>
            </a:r>
            <a:r>
              <a:rPr lang="en-US" altLang="ko-KR" sz="4000" dirty="0"/>
              <a:t>-Mamba on Genesys2-eb [ Internal</a:t>
            </a:r>
            <a:r>
              <a:rPr lang="ko-KR" altLang="en-US" sz="4000" dirty="0"/>
              <a:t> </a:t>
            </a:r>
            <a:r>
              <a:rPr lang="en-US" altLang="ko-KR" sz="4000" dirty="0"/>
              <a:t>Use ]</a:t>
            </a:r>
            <a:endParaRPr lang="ko-KR" altLang="en-US" sz="4000" dirty="0"/>
          </a:p>
        </p:txBody>
      </p:sp>
      <p:sp>
        <p:nvSpPr>
          <p:cNvPr id="83" name="Younghyun Kim…"/>
          <p:cNvSpPr txBox="1">
            <a:spLocks noGrp="1"/>
          </p:cNvSpPr>
          <p:nvPr>
            <p:ph type="body" sz="half" idx="1"/>
          </p:nvPr>
        </p:nvSpPr>
        <p:spPr>
          <a:xfrm>
            <a:off x="254000" y="6481522"/>
            <a:ext cx="12192000" cy="266630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3500" dirty="0"/>
              <a:t>University of </a:t>
            </a:r>
            <a:r>
              <a:rPr lang="en-US" altLang="ko-KR" sz="3500" dirty="0" err="1"/>
              <a:t>ulsan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/>
              <a:t>Electronical, Electronic and Computer Engineering</a:t>
            </a:r>
            <a:r>
              <a:rPr lang="ko-KR" altLang="en-US" sz="3500" dirty="0"/>
              <a:t> 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 err="1"/>
              <a:t>Jaehyeok</a:t>
            </a:r>
            <a:r>
              <a:rPr lang="en-US" altLang="ko-KR" sz="3500" dirty="0"/>
              <a:t> Cho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C10CB8-558B-2697-1B1D-B77BA5125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C-Mamba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E37BEB-CB8A-B71A-7155-8048D7253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C-Mamba showed </a:t>
            </a:r>
            <a:r>
              <a:rPr lang="ko-KR" altLang="ko-KR" sz="2400" dirty="0" err="1"/>
              <a:t>errors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against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Layer-wise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Py</a:t>
            </a:r>
            <a:r>
              <a:rPr lang="en-US" altLang="ko-KR" sz="2400" dirty="0"/>
              <a:t>.S</a:t>
            </a:r>
            <a:r>
              <a:rPr lang="ko-KR" altLang="ko-KR" sz="2400" dirty="0" err="1"/>
              <a:t>im</a:t>
            </a:r>
            <a:r>
              <a:rPr lang="en-US" altLang="ko-KR" sz="2400" dirty="0"/>
              <a:t>, as it uses </a:t>
            </a:r>
            <a:r>
              <a:rPr lang="ko-KR" altLang="ko-KR" sz="2400" dirty="0"/>
              <a:t>FP-</a:t>
            </a:r>
            <a:r>
              <a:rPr lang="ko-KR" altLang="ko-KR" sz="2400" dirty="0" err="1"/>
              <a:t>quant</a:t>
            </a:r>
            <a:r>
              <a:rPr lang="en-US" altLang="ko-KR" sz="2400" dirty="0"/>
              <a:t>. Ref.</a:t>
            </a:r>
            <a:r>
              <a:rPr lang="ko-KR" altLang="ko-KR" sz="2400" dirty="0"/>
              <a:t> </a:t>
            </a:r>
            <a:r>
              <a:rPr lang="en-US" altLang="ko-KR" sz="2400" dirty="0"/>
              <a:t>inputs.</a:t>
            </a:r>
            <a:endParaRPr lang="ko-KR" altLang="ko-KR" sz="2400" dirty="0"/>
          </a:p>
          <a:p>
            <a:r>
              <a:rPr lang="ko-KR" altLang="ko-KR" sz="2400" dirty="0"/>
              <a:t>C-</a:t>
            </a:r>
            <a:r>
              <a:rPr lang="ko-KR" altLang="ko-KR" sz="2400" dirty="0" err="1"/>
              <a:t>Mamba</a:t>
            </a:r>
            <a:r>
              <a:rPr lang="ko-KR" altLang="ko-KR" sz="2400" dirty="0"/>
              <a:t> </a:t>
            </a:r>
            <a:r>
              <a:rPr lang="ko-KR" altLang="ko-KR" sz="2400" dirty="0" err="1"/>
              <a:t>cascades</a:t>
            </a:r>
            <a:r>
              <a:rPr lang="ko-KR" altLang="ko-KR" sz="2400" dirty="0"/>
              <a:t> int8 </a:t>
            </a:r>
            <a:r>
              <a:rPr lang="ko-KR" altLang="ko-KR" sz="2400" dirty="0" err="1"/>
              <a:t>outputs</a:t>
            </a:r>
            <a:r>
              <a:rPr lang="ko-KR" altLang="ko-KR" sz="2400" dirty="0"/>
              <a:t> </a:t>
            </a:r>
            <a:r>
              <a:rPr lang="en-US" altLang="ko-KR" sz="2400" dirty="0"/>
              <a:t>by</a:t>
            </a:r>
            <a:r>
              <a:rPr lang="ko-KR" altLang="ko-KR" sz="2400" dirty="0"/>
              <a:t> </a:t>
            </a:r>
            <a:r>
              <a:rPr lang="ko-KR" altLang="ko-KR" sz="2400" dirty="0" err="1"/>
              <a:t>layers</a:t>
            </a:r>
            <a:r>
              <a:rPr lang="en-US" altLang="ko-KR" sz="2400" dirty="0"/>
              <a:t>, and it accumulates E</a:t>
            </a:r>
            <a:r>
              <a:rPr lang="ko-KR" altLang="ko-KR" sz="2400" dirty="0" err="1"/>
              <a:t>rror</a:t>
            </a:r>
            <a:r>
              <a:rPr lang="ko-KR" altLang="ko-KR" sz="2400" dirty="0"/>
              <a:t> </a:t>
            </a:r>
            <a:r>
              <a:rPr lang="ko-KR" altLang="ko-KR" sz="2400" dirty="0" err="1"/>
              <a:t>across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the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network</a:t>
            </a:r>
            <a:r>
              <a:rPr lang="en-US" altLang="ko-KR" sz="2400" dirty="0"/>
              <a:t>.</a:t>
            </a:r>
            <a:endParaRPr lang="ko-KR" altLang="ko-KR" sz="2400" dirty="0"/>
          </a:p>
          <a:p>
            <a:r>
              <a:rPr lang="ko-KR" altLang="ko-KR" sz="2400" dirty="0" err="1"/>
              <a:t>Under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the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same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cascaded</a:t>
            </a:r>
            <a:r>
              <a:rPr lang="ko-KR" altLang="ko-KR" sz="2400" dirty="0"/>
              <a:t> int8 </a:t>
            </a:r>
            <a:r>
              <a:rPr lang="ko-KR" altLang="ko-KR" sz="2400" dirty="0" err="1"/>
              <a:t>condition</a:t>
            </a:r>
            <a:r>
              <a:rPr lang="en-US" altLang="ko-KR" sz="2400" dirty="0"/>
              <a:t> of RTL</a:t>
            </a:r>
            <a:r>
              <a:rPr lang="ko-KR" altLang="ko-KR" sz="2400" dirty="0"/>
              <a:t> </a:t>
            </a:r>
            <a:r>
              <a:rPr lang="ko-KR" altLang="ko-KR" sz="2400" dirty="0" err="1"/>
              <a:t>log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the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final</a:t>
            </a:r>
            <a:r>
              <a:rPr lang="ko-KR" altLang="ko-KR" sz="2400" dirty="0"/>
              <a:t> </a:t>
            </a:r>
            <a:r>
              <a:rPr lang="ko-KR" altLang="ko-KR" sz="2400" dirty="0" err="1"/>
              <a:t>output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matched</a:t>
            </a:r>
            <a:r>
              <a:rPr lang="ko-KR" altLang="ko-KR" sz="2400" dirty="0"/>
              <a:t> 100%</a:t>
            </a:r>
          </a:p>
          <a:p>
            <a:r>
              <a:rPr lang="ko-KR" altLang="ko-KR" sz="2400" dirty="0"/>
              <a:t>The </a:t>
            </a:r>
            <a:r>
              <a:rPr lang="ko-KR" altLang="ko-KR" sz="2400" dirty="0" err="1"/>
              <a:t>verified</a:t>
            </a:r>
            <a:r>
              <a:rPr lang="ko-KR" altLang="ko-KR" sz="2400" dirty="0"/>
              <a:t> C-</a:t>
            </a:r>
            <a:r>
              <a:rPr lang="ko-KR" altLang="ko-KR" sz="2400" dirty="0" err="1"/>
              <a:t>Mamba</a:t>
            </a:r>
            <a:r>
              <a:rPr lang="ko-KR" altLang="ko-KR" sz="2400" dirty="0"/>
              <a:t> </a:t>
            </a:r>
            <a:r>
              <a:rPr lang="ko-KR" altLang="ko-KR" sz="2400" dirty="0" err="1"/>
              <a:t>was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successfully</a:t>
            </a:r>
            <a:r>
              <a:rPr lang="ko-KR" altLang="ko-KR" sz="2400" dirty="0"/>
              <a:t> </a:t>
            </a:r>
            <a:r>
              <a:rPr lang="ko-KR" altLang="ko-KR" sz="2400" dirty="0" err="1"/>
              <a:t>ported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to</a:t>
            </a:r>
            <a:r>
              <a:rPr lang="ko-KR" altLang="ko-KR" sz="2400" dirty="0"/>
              <a:t> Genesys2-EB</a:t>
            </a:r>
            <a:endParaRPr lang="en-US" altLang="ko-KR" sz="2400" dirty="0"/>
          </a:p>
          <a:p>
            <a:pPr lvl="1"/>
            <a:r>
              <a:rPr lang="en-US" altLang="ko-KR" sz="2400" dirty="0"/>
              <a:t>It is named </a:t>
            </a:r>
            <a:r>
              <a:rPr lang="en-US" altLang="ko-KR" sz="2400" b="1" i="1" dirty="0" err="1"/>
              <a:t>PureC</a:t>
            </a:r>
            <a:r>
              <a:rPr lang="en-US" altLang="ko-KR" sz="2400" b="1" i="1" dirty="0"/>
              <a:t>-Mamba</a:t>
            </a:r>
            <a:r>
              <a:rPr lang="en-US" altLang="ko-KR" sz="2400" dirty="0"/>
              <a:t>.</a:t>
            </a:r>
            <a:endParaRPr lang="ko-KR" altLang="ko-KR" sz="2400" dirty="0"/>
          </a:p>
          <a:p>
            <a:r>
              <a:rPr lang="ko-KR" altLang="ko-KR" sz="2400" dirty="0" err="1"/>
              <a:t>Fakefile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read</a:t>
            </a:r>
            <a:r>
              <a:rPr lang="ko-KR" altLang="ko-KR" sz="2400" dirty="0"/>
              <a:t> </a:t>
            </a:r>
            <a:r>
              <a:rPr lang="ko-KR" altLang="ko-KR" sz="2400" dirty="0" err="1"/>
              <a:t>is</a:t>
            </a:r>
            <a:r>
              <a:rPr lang="ko-KR" altLang="ko-KR" sz="2400" dirty="0"/>
              <a:t> </a:t>
            </a:r>
            <a:r>
              <a:rPr lang="ko-KR" altLang="ko-KR" sz="2400" dirty="0" err="1"/>
              <a:t>used</a:t>
            </a:r>
            <a:r>
              <a:rPr lang="ko-KR" altLang="ko-KR" sz="2400" dirty="0"/>
              <a:t> </a:t>
            </a:r>
            <a:r>
              <a:rPr lang="ko-KR" altLang="ko-KR" sz="2400" dirty="0" err="1"/>
              <a:t>twice</a:t>
            </a:r>
            <a:r>
              <a:rPr lang="en-US" altLang="ko-KR" sz="2400" dirty="0"/>
              <a:t>.</a:t>
            </a:r>
            <a:endParaRPr lang="ko-KR" altLang="ko-KR" sz="2400" dirty="0"/>
          </a:p>
          <a:p>
            <a:pPr lvl="1"/>
            <a:r>
              <a:rPr lang="ko-KR" altLang="ko-KR" sz="2400" dirty="0" err="1"/>
              <a:t>Input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loading</a:t>
            </a:r>
            <a:endParaRPr lang="ko-KR" altLang="ko-KR" sz="2400" dirty="0"/>
          </a:p>
          <a:p>
            <a:pPr lvl="1"/>
            <a:r>
              <a:rPr lang="ko-KR" altLang="ko-KR" sz="2400" dirty="0" err="1"/>
              <a:t>Final</a:t>
            </a:r>
            <a:r>
              <a:rPr lang="ko-KR" altLang="ko-KR" sz="2400" dirty="0"/>
              <a:t> </a:t>
            </a:r>
            <a:r>
              <a:rPr lang="ko-KR" altLang="ko-KR" sz="2400" dirty="0" err="1"/>
              <a:t>output</a:t>
            </a:r>
            <a:r>
              <a:rPr lang="ko-KR" altLang="ko-KR" sz="2400" dirty="0"/>
              <a:t> </a:t>
            </a:r>
            <a:r>
              <a:rPr lang="ko-KR" altLang="ko-KR" sz="2400" dirty="0" err="1"/>
              <a:t>comparison</a:t>
            </a:r>
            <a:endParaRPr lang="ko-KR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095DEC-B6F2-1BB1-FBD8-D2CD913D07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825" r="41158"/>
          <a:stretch>
            <a:fillRect/>
          </a:stretch>
        </p:blipFill>
        <p:spPr>
          <a:xfrm>
            <a:off x="1133033" y="7763020"/>
            <a:ext cx="2781379" cy="1160206"/>
          </a:xfrm>
          <a:prstGeom prst="rect">
            <a:avLst/>
          </a:prstGeom>
          <a:ln w="57150">
            <a:solidFill>
              <a:srgbClr val="92D050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B0ADF01-824F-996E-4333-8AB4ECF8A6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892" r="63104"/>
          <a:stretch>
            <a:fillRect/>
          </a:stretch>
        </p:blipFill>
        <p:spPr>
          <a:xfrm>
            <a:off x="9780023" y="4683561"/>
            <a:ext cx="2638574" cy="1152675"/>
          </a:xfrm>
          <a:prstGeom prst="rect">
            <a:avLst/>
          </a:prstGeom>
          <a:ln w="57150">
            <a:solidFill>
              <a:srgbClr val="92D050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9EF2F26-E475-9877-1EF6-9DBFB17347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07" t="43016" r="58800" b="18413"/>
          <a:stretch>
            <a:fillRect/>
          </a:stretch>
        </p:blipFill>
        <p:spPr>
          <a:xfrm>
            <a:off x="10246357" y="7142833"/>
            <a:ext cx="1820636" cy="132261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CCA5F3A-D46E-8D40-89F3-B20F8936A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1738" y="5073424"/>
            <a:ext cx="5368437" cy="46801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9A8C9B-76E2-4F9B-C84C-A3FC620669B9}"/>
              </a:ext>
            </a:extLst>
          </p:cNvPr>
          <p:cNvSpPr txBox="1"/>
          <p:nvPr/>
        </p:nvSpPr>
        <p:spPr>
          <a:xfrm>
            <a:off x="1044920" y="8934312"/>
            <a:ext cx="2869492" cy="83099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Result comparison </a:t>
            </a:r>
            <a:br>
              <a:rPr lang="en-US" altLang="ko-KR" sz="2400" dirty="0">
                <a:solidFill>
                  <a:srgbClr val="494949"/>
                </a:solidFill>
              </a:rPr>
            </a:br>
            <a:r>
              <a:rPr lang="en-US" altLang="ko-KR" sz="2400" dirty="0">
                <a:solidFill>
                  <a:srgbClr val="494949"/>
                </a:solidFill>
              </a:rPr>
              <a:t>with </a:t>
            </a:r>
            <a:r>
              <a:rPr lang="en-US" altLang="ko-KR" sz="2400" dirty="0" err="1">
                <a:solidFill>
                  <a:srgbClr val="494949"/>
                </a:solidFill>
              </a:rPr>
              <a:t>Py.Sim</a:t>
            </a:r>
            <a:r>
              <a:rPr lang="en-US" altLang="ko-KR" sz="2400" dirty="0">
                <a:solidFill>
                  <a:srgbClr val="494949"/>
                </a:solidFill>
              </a:rPr>
              <a:t>.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E54CA7-ACB2-12EE-85CF-EBA5CF11B2A5}"/>
              </a:ext>
            </a:extLst>
          </p:cNvPr>
          <p:cNvSpPr txBox="1"/>
          <p:nvPr/>
        </p:nvSpPr>
        <p:spPr>
          <a:xfrm>
            <a:off x="9664564" y="5895521"/>
            <a:ext cx="2869492" cy="1200329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Result comparison </a:t>
            </a:r>
            <a:br>
              <a:rPr lang="en-US" altLang="ko-KR" sz="2400" dirty="0">
                <a:solidFill>
                  <a:srgbClr val="494949"/>
                </a:solidFill>
              </a:rPr>
            </a:br>
            <a:r>
              <a:rPr lang="en-US" altLang="ko-KR" sz="2400" dirty="0">
                <a:solidFill>
                  <a:srgbClr val="494949"/>
                </a:solidFill>
              </a:rPr>
              <a:t>with Verilog LOG On Desktop Ubuntu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AB2583-1E44-79DB-F2A0-02D6EC11A897}"/>
              </a:ext>
            </a:extLst>
          </p:cNvPr>
          <p:cNvSpPr txBox="1"/>
          <p:nvPr/>
        </p:nvSpPr>
        <p:spPr>
          <a:xfrm>
            <a:off x="9664564" y="8512431"/>
            <a:ext cx="2869492" cy="1200329"/>
          </a:xfrm>
          <a:prstGeom prst="rect">
            <a:avLst/>
          </a:prstGeom>
          <a:solidFill>
            <a:srgbClr val="FFFFFF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Result comparison </a:t>
            </a:r>
            <a:br>
              <a:rPr lang="en-US" altLang="ko-KR" sz="2400" dirty="0">
                <a:solidFill>
                  <a:srgbClr val="494949"/>
                </a:solidFill>
              </a:rPr>
            </a:br>
            <a:r>
              <a:rPr lang="en-US" altLang="ko-KR" sz="2400" dirty="0">
                <a:solidFill>
                  <a:srgbClr val="494949"/>
                </a:solidFill>
              </a:rPr>
              <a:t>with Verilog LOG</a:t>
            </a:r>
            <a:br>
              <a:rPr lang="en-US" altLang="ko-KR" sz="2400" dirty="0">
                <a:solidFill>
                  <a:srgbClr val="494949"/>
                </a:solidFill>
              </a:rPr>
            </a:br>
            <a:r>
              <a:rPr lang="en-US" altLang="ko-KR" sz="2400" dirty="0">
                <a:solidFill>
                  <a:srgbClr val="494949"/>
                </a:solidFill>
              </a:rPr>
              <a:t>On</a:t>
            </a:r>
            <a:r>
              <a:rPr lang="ko-KR" altLang="en-US" sz="2400" dirty="0">
                <a:solidFill>
                  <a:srgbClr val="494949"/>
                </a:solidFill>
              </a:rPr>
              <a:t> </a:t>
            </a:r>
            <a:r>
              <a:rPr lang="en-US" altLang="ko-KR" sz="2400" dirty="0">
                <a:solidFill>
                  <a:srgbClr val="494949"/>
                </a:solidFill>
              </a:rPr>
              <a:t>Genesys2-EB</a:t>
            </a:r>
          </a:p>
        </p:txBody>
      </p:sp>
    </p:spTree>
    <p:extLst>
      <p:ext uri="{BB962C8B-B14F-4D97-AF65-F5344CB8AC3E}">
        <p14:creationId xmlns:p14="http://schemas.microsoft.com/office/powerpoint/2010/main" val="196967485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72765-D191-04B7-1266-2008D5BFA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444C36-B7C9-CA8F-8935-11BE5BC1B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Porting </a:t>
            </a:r>
            <a:r>
              <a:rPr lang="en-US" altLang="ko-KR" sz="4400" dirty="0" err="1"/>
              <a:t>PureC</a:t>
            </a:r>
            <a:r>
              <a:rPr lang="en-US" altLang="ko-KR" sz="4400" dirty="0"/>
              <a:t>-Mamba </a:t>
            </a:r>
            <a:r>
              <a:rPr lang="en-US" altLang="ko-KR" sz="4400" b="0" dirty="0"/>
              <a:t>from C-Mamba</a:t>
            </a:r>
            <a:endParaRPr lang="ko-KR" altLang="en-US" sz="4400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4A046-54C5-9D3B-F190-C9B0DB973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It uses .</a:t>
            </a:r>
            <a:r>
              <a:rPr lang="en-US" altLang="ko-KR" sz="2400" dirty="0" err="1"/>
              <a:t>bss</a:t>
            </a:r>
            <a:r>
              <a:rPr lang="en-US" altLang="ko-KR" sz="2400" dirty="0"/>
              <a:t> memory space due to s</a:t>
            </a:r>
            <a:r>
              <a:rPr lang="ko-KR" altLang="ko-KR" sz="2400" dirty="0" err="1"/>
              <a:t>tatic</a:t>
            </a:r>
            <a:r>
              <a:rPr lang="ko-KR" altLang="ko-KR" sz="2400" dirty="0"/>
              <a:t> </a:t>
            </a:r>
            <a:r>
              <a:rPr lang="ko-KR" altLang="ko-KR" sz="2400" dirty="0" err="1"/>
              <a:t>buffer</a:t>
            </a:r>
            <a:r>
              <a:rPr lang="en-US" altLang="ko-KR" sz="2400" dirty="0"/>
              <a:t> implementation.</a:t>
            </a:r>
            <a:endParaRPr lang="ko-KR" altLang="ko-KR" sz="2400" dirty="0"/>
          </a:p>
          <a:p>
            <a:r>
              <a:rPr lang="en-US" altLang="ko-KR" sz="2400" dirty="0"/>
              <a:t>Total memory usage: about </a:t>
            </a:r>
            <a:r>
              <a:rPr lang="ko-KR" altLang="ko-KR" sz="2400" b="1" dirty="0"/>
              <a:t>400KB</a:t>
            </a:r>
            <a:r>
              <a:rPr lang="ko-KR" altLang="ko-KR" sz="2400" dirty="0"/>
              <a:t> </a:t>
            </a:r>
            <a:r>
              <a:rPr lang="en-US" altLang="ko-KR" sz="2400" dirty="0">
                <a:sym typeface="Wingdings" panose="05000000000000000000" pitchFamily="2" charset="2"/>
              </a:rPr>
              <a:t></a:t>
            </a:r>
            <a:r>
              <a:rPr lang="ko-KR" altLang="ko-KR" sz="2400" dirty="0"/>
              <a:t> </a:t>
            </a:r>
            <a:r>
              <a:rPr lang="en-US" altLang="ko-KR" sz="2400" dirty="0"/>
              <a:t>It exceeds </a:t>
            </a:r>
            <a:r>
              <a:rPr lang="ko-KR" altLang="ko-KR" sz="2400" dirty="0"/>
              <a:t>Genesys2-EB SRAM </a:t>
            </a:r>
            <a:r>
              <a:rPr lang="ko-KR" altLang="ko-KR" sz="2400" b="1" dirty="0"/>
              <a:t>128KiB</a:t>
            </a:r>
          </a:p>
          <a:p>
            <a:r>
              <a:rPr lang="en-US" altLang="ko-KR" sz="2400" dirty="0"/>
              <a:t>I adapt two methods to optimized memory usage.</a:t>
            </a:r>
          </a:p>
          <a:p>
            <a:pPr lvl="1"/>
            <a:r>
              <a:rPr lang="en-US" altLang="ko-KR" sz="2000" dirty="0"/>
              <a:t>I reused memory space several times and applied in-place updates(Data Dependence).</a:t>
            </a:r>
          </a:p>
          <a:p>
            <a:pPr lvl="1"/>
            <a:r>
              <a:rPr lang="en-US" altLang="ko-KR" sz="2000" dirty="0"/>
              <a:t>I leveraged on-the-fly computation instead of array buffer (no middle buffers).</a:t>
            </a:r>
            <a:endParaRPr lang="ko-KR" altLang="en-US" sz="20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97CFFBF-F28F-181A-D958-8F0A4305D79D}"/>
              </a:ext>
            </a:extLst>
          </p:cNvPr>
          <p:cNvGrpSpPr/>
          <p:nvPr/>
        </p:nvGrpSpPr>
        <p:grpSpPr>
          <a:xfrm>
            <a:off x="3570895" y="8110037"/>
            <a:ext cx="2698378" cy="753643"/>
            <a:chOff x="7226709" y="4738347"/>
            <a:chExt cx="4420217" cy="133368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7F4C1BD-EB8E-9247-D2D9-0CA3364E1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26709" y="4738347"/>
              <a:ext cx="4420217" cy="1333686"/>
            </a:xfrm>
            <a:prstGeom prst="rect">
              <a:avLst/>
            </a:prstGeom>
          </p:spPr>
        </p:pic>
        <p:sp>
          <p:nvSpPr>
            <p:cNvPr id="10" name="액자 9">
              <a:extLst>
                <a:ext uri="{FF2B5EF4-FFF2-40B4-BE49-F238E27FC236}">
                  <a16:creationId xmlns:a16="http://schemas.microsoft.com/office/drawing/2014/main" id="{F77DCA54-1FE3-7140-1EB2-9D95B9957ACC}"/>
                </a:ext>
              </a:extLst>
            </p:cNvPr>
            <p:cNvSpPr/>
            <p:nvPr/>
          </p:nvSpPr>
          <p:spPr>
            <a:xfrm>
              <a:off x="8681657" y="5405190"/>
              <a:ext cx="2965269" cy="313509"/>
            </a:xfrm>
            <a:prstGeom prst="frame">
              <a:avLst>
                <a:gd name="adj1" fmla="val 0"/>
              </a:avLst>
            </a:prstGeom>
            <a:solidFill>
              <a:srgbClr val="FFFF00"/>
            </a:solidFill>
            <a:ln w="25400" cap="flat">
              <a:solidFill>
                <a:srgbClr val="FF000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60998B2-2EFE-CA26-B754-A3959338FB4F}"/>
              </a:ext>
            </a:extLst>
          </p:cNvPr>
          <p:cNvGrpSpPr/>
          <p:nvPr/>
        </p:nvGrpSpPr>
        <p:grpSpPr>
          <a:xfrm>
            <a:off x="3671583" y="4693181"/>
            <a:ext cx="2476950" cy="3351985"/>
            <a:chOff x="2009670" y="2225891"/>
            <a:chExt cx="5217039" cy="6672106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A65302A5-BD69-4286-BCD7-582A76102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388" t="-45" r="3868" b="4495"/>
            <a:stretch>
              <a:fillRect/>
            </a:stretch>
          </p:blipFill>
          <p:spPr>
            <a:xfrm>
              <a:off x="2009670" y="2225891"/>
              <a:ext cx="5217039" cy="6672106"/>
            </a:xfrm>
            <a:prstGeom prst="rect">
              <a:avLst/>
            </a:prstGeom>
          </p:spPr>
        </p:pic>
        <p:sp>
          <p:nvSpPr>
            <p:cNvPr id="16" name="액자 15">
              <a:extLst>
                <a:ext uri="{FF2B5EF4-FFF2-40B4-BE49-F238E27FC236}">
                  <a16:creationId xmlns:a16="http://schemas.microsoft.com/office/drawing/2014/main" id="{6FB03D8F-4647-1612-1468-8FB891DD5A06}"/>
                </a:ext>
              </a:extLst>
            </p:cNvPr>
            <p:cNvSpPr/>
            <p:nvPr/>
          </p:nvSpPr>
          <p:spPr>
            <a:xfrm>
              <a:off x="3654656" y="3773150"/>
              <a:ext cx="1703926" cy="366231"/>
            </a:xfrm>
            <a:prstGeom prst="frame">
              <a:avLst>
                <a:gd name="adj1" fmla="val 3091"/>
              </a:avLst>
            </a:prstGeom>
            <a:solidFill>
              <a:srgbClr val="FFFF00"/>
            </a:solidFill>
            <a:ln w="25400" cap="flat">
              <a:solidFill>
                <a:srgbClr val="FF000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4BD5994-7D24-6352-1CDF-9C5E3652FB6F}"/>
              </a:ext>
            </a:extLst>
          </p:cNvPr>
          <p:cNvGrpSpPr/>
          <p:nvPr/>
        </p:nvGrpSpPr>
        <p:grpSpPr>
          <a:xfrm>
            <a:off x="101972" y="6163680"/>
            <a:ext cx="3384178" cy="2661595"/>
            <a:chOff x="26892" y="6135843"/>
            <a:chExt cx="3930374" cy="253454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D7CE757B-279F-A77A-71E4-1B7A61DE5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49266"/>
            <a:stretch>
              <a:fillRect/>
            </a:stretch>
          </p:blipFill>
          <p:spPr>
            <a:xfrm>
              <a:off x="26892" y="6135843"/>
              <a:ext cx="1912053" cy="2534547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8EBA5CD-B4AA-3F50-7A4C-97A9C34F8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1019"/>
            <a:stretch>
              <a:fillRect/>
            </a:stretch>
          </p:blipFill>
          <p:spPr>
            <a:xfrm>
              <a:off x="1976753" y="6135844"/>
              <a:ext cx="1980513" cy="2534546"/>
            </a:xfrm>
            <a:prstGeom prst="rect">
              <a:avLst/>
            </a:prstGeom>
          </p:spPr>
        </p:pic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D97418C0-C106-556A-6A78-52D10154D8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26" t="10912" b="16055"/>
          <a:stretch>
            <a:fillRect/>
          </a:stretch>
        </p:blipFill>
        <p:spPr>
          <a:xfrm>
            <a:off x="5910943" y="4606196"/>
            <a:ext cx="7093857" cy="77575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AE98268-A95B-184D-0A20-33990BF873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530" y="5945745"/>
            <a:ext cx="4035852" cy="28443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1A8DDAB-A2C0-5FE0-ED3B-50A9C4003EC8}"/>
              </a:ext>
            </a:extLst>
          </p:cNvPr>
          <p:cNvSpPr txBox="1"/>
          <p:nvPr/>
        </p:nvSpPr>
        <p:spPr>
          <a:xfrm>
            <a:off x="313565" y="9124154"/>
            <a:ext cx="2869492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Ported int arrays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DE3BDF-481D-757E-4262-45C78847A111}"/>
              </a:ext>
            </a:extLst>
          </p:cNvPr>
          <p:cNvSpPr txBox="1"/>
          <p:nvPr/>
        </p:nvSpPr>
        <p:spPr>
          <a:xfrm>
            <a:off x="3475312" y="9124153"/>
            <a:ext cx="2869492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Memory Limitation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AFCC-11EC-71FB-531F-6390794E31A4}"/>
              </a:ext>
            </a:extLst>
          </p:cNvPr>
          <p:cNvSpPr txBox="1"/>
          <p:nvPr/>
        </p:nvSpPr>
        <p:spPr>
          <a:xfrm>
            <a:off x="7626032" y="8819700"/>
            <a:ext cx="3575368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Reduced int8_t arrays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49B0C8-999E-C1F4-080C-D3E0464F9399}"/>
              </a:ext>
            </a:extLst>
          </p:cNvPr>
          <p:cNvSpPr txBox="1"/>
          <p:nvPr/>
        </p:nvSpPr>
        <p:spPr>
          <a:xfrm>
            <a:off x="6618376" y="5399155"/>
            <a:ext cx="5832160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Manually checked Data Dependence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29411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0D497-BD96-2835-1B19-B8301A370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CA10949-5F66-392C-C5D9-0043423E3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10" y="0"/>
            <a:ext cx="9515911" cy="168282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56F7C7A-3C25-2277-6C1A-7ECEAF9FF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10" y="2584732"/>
            <a:ext cx="9622047" cy="1764714"/>
          </a:xfrm>
          <a:prstGeom prst="rect">
            <a:avLst/>
          </a:prstGeom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DC476C33-F594-F2F9-B9D0-028CF9301C08}"/>
              </a:ext>
            </a:extLst>
          </p:cNvPr>
          <p:cNvSpPr/>
          <p:nvPr/>
        </p:nvSpPr>
        <p:spPr>
          <a:xfrm>
            <a:off x="7004606" y="1630642"/>
            <a:ext cx="1848464" cy="921568"/>
          </a:xfrm>
          <a:prstGeom prst="downArrow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400" i="1" u="none" strike="noStrike" cap="all" spc="0" normalizeH="0" baseline="0" dirty="0">
                <a:solidFill>
                  <a:srgbClr val="FF0000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rPr>
              <a:t>- 648 Byte</a:t>
            </a:r>
            <a:endParaRPr kumimoji="0" lang="ko-KR" altLang="en-US" sz="2400" i="1" u="none" strike="noStrike" cap="all" spc="0" normalizeH="0" baseline="0" dirty="0">
              <a:solidFill>
                <a:srgbClr val="FF0000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AA905BD-B54A-CC9F-89EE-D68D3B0D7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10" y="5294135"/>
            <a:ext cx="9834319" cy="1826373"/>
          </a:xfrm>
          <a:prstGeom prst="rect">
            <a:avLst/>
          </a:prstGeom>
        </p:spPr>
      </p:pic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F248572F-15A2-2E9D-21C3-E4F8F880ADF5}"/>
              </a:ext>
            </a:extLst>
          </p:cNvPr>
          <p:cNvSpPr/>
          <p:nvPr/>
        </p:nvSpPr>
        <p:spPr>
          <a:xfrm>
            <a:off x="7127071" y="4342210"/>
            <a:ext cx="1848464" cy="921568"/>
          </a:xfrm>
          <a:prstGeom prst="downArrow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400" i="1" u="none" strike="noStrike" cap="all" spc="0" normalizeH="0" baseline="0" dirty="0">
                <a:solidFill>
                  <a:srgbClr val="FF0000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rPr>
              <a:t>- 328</a:t>
            </a:r>
          </a:p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2400" i="1" cap="all" dirty="0">
                <a:solidFill>
                  <a:srgbClr val="FF0000"/>
                </a:solidFill>
                <a:latin typeface="DIN Condensed Bold"/>
                <a:ea typeface="DIN Condensed Bold"/>
                <a:cs typeface="DIN Condensed Bold"/>
                <a:sym typeface="DIN Condensed Bold"/>
              </a:rPr>
              <a:t>Byte</a:t>
            </a:r>
            <a:endParaRPr kumimoji="0" lang="ko-KR" altLang="en-US" sz="2400" i="1" u="none" strike="noStrike" cap="all" spc="0" normalizeH="0" baseline="0" dirty="0">
              <a:solidFill>
                <a:srgbClr val="FF0000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F4A23E6-BE75-73B9-5D41-1CEAD61969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10" y="8122958"/>
            <a:ext cx="9973111" cy="935962"/>
          </a:xfrm>
          <a:prstGeom prst="rect">
            <a:avLst/>
          </a:prstGeom>
        </p:spPr>
      </p:pic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0897F4AB-5C4B-18E5-CC7A-C8D6578ADD87}"/>
              </a:ext>
            </a:extLst>
          </p:cNvPr>
          <p:cNvSpPr/>
          <p:nvPr/>
        </p:nvSpPr>
        <p:spPr>
          <a:xfrm>
            <a:off x="7275450" y="7143629"/>
            <a:ext cx="1848464" cy="921568"/>
          </a:xfrm>
          <a:prstGeom prst="downArrow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400" i="1" u="none" strike="noStrike" cap="all" spc="0" normalizeH="0" baseline="0" dirty="0">
                <a:solidFill>
                  <a:srgbClr val="FF0000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rPr>
              <a:t>- 648</a:t>
            </a:r>
          </a:p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2400" i="1" cap="all" dirty="0">
                <a:solidFill>
                  <a:srgbClr val="FF0000"/>
                </a:solidFill>
                <a:latin typeface="DIN Condensed Bold"/>
                <a:ea typeface="DIN Condensed Bold"/>
                <a:cs typeface="DIN Condensed Bold"/>
                <a:sym typeface="DIN Condensed Bold"/>
              </a:rPr>
              <a:t>Byte</a:t>
            </a:r>
            <a:endParaRPr kumimoji="0" lang="ko-KR" altLang="en-US" sz="2400" i="1" u="none" strike="noStrike" cap="all" spc="0" normalizeH="0" baseline="0" dirty="0">
              <a:solidFill>
                <a:srgbClr val="FF0000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C5B477-9A24-100A-411E-2ED8C42CE08E}"/>
              </a:ext>
            </a:extLst>
          </p:cNvPr>
          <p:cNvSpPr/>
          <p:nvPr/>
        </p:nvSpPr>
        <p:spPr>
          <a:xfrm>
            <a:off x="9016686" y="1849062"/>
            <a:ext cx="2393669" cy="447302"/>
          </a:xfrm>
          <a:prstGeom prst="rect">
            <a:avLst/>
          </a:prstGeom>
          <a:noFill/>
          <a:ln w="25400" cap="flat">
            <a:solidFill>
              <a:srgbClr val="5B5854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spc="0" normalizeH="0" baseline="0" dirty="0">
                <a:solidFill>
                  <a:schemeClr val="bg1"/>
                </a:solidFill>
                <a:effectLst/>
                <a:uFillTx/>
                <a:latin typeface="Consolas" panose="020B0609020204030204" pitchFamily="49" charset="0"/>
                <a:ea typeface="DIN Condensed Bold"/>
                <a:cs typeface="DIN Condensed Bold"/>
                <a:sym typeface="DIN Condensed Bold"/>
              </a:rPr>
              <a:t>xxx </a:t>
            </a:r>
            <a:r>
              <a:rPr kumimoji="0" lang="en-US" altLang="ko-KR" sz="2800" b="0" i="0" u="none" strike="noStrike" spc="0" normalizeH="0" baseline="0" dirty="0">
                <a:solidFill>
                  <a:schemeClr val="bg1"/>
                </a:solidFill>
                <a:effectLst/>
                <a:uFillTx/>
                <a:latin typeface="Consolas" panose="020B0609020204030204" pitchFamily="49" charset="0"/>
                <a:ea typeface="DIN Condensed Bold"/>
                <a:cs typeface="DIN Condensed Bold"/>
                <a:sym typeface="Wingdings" panose="05000000000000000000" pitchFamily="2" charset="2"/>
              </a:rPr>
              <a:t></a:t>
            </a:r>
            <a:r>
              <a:rPr kumimoji="0" lang="en-US" altLang="ko-KR" sz="2800" b="0" i="0" u="none" strike="noStrike" spc="0" normalizeH="0" baseline="0" dirty="0">
                <a:solidFill>
                  <a:schemeClr val="bg1"/>
                </a:solidFill>
                <a:effectLst/>
                <a:uFillTx/>
                <a:latin typeface="Consolas" panose="020B0609020204030204" pitchFamily="49" charset="0"/>
                <a:ea typeface="DIN Condensed Bold"/>
                <a:cs typeface="DIN Condensed Bold"/>
                <a:sym typeface="DIN Condensed Bold"/>
              </a:rPr>
              <a:t> xx</a:t>
            </a:r>
            <a:endParaRPr kumimoji="0" lang="ko-KR" altLang="en-US" sz="2800" b="0" i="0" u="none" strike="noStrike" spc="0" normalizeH="0" baseline="0" dirty="0">
              <a:solidFill>
                <a:schemeClr val="bg1"/>
              </a:solidFill>
              <a:effectLst/>
              <a:uFillTx/>
              <a:latin typeface="Consolas" panose="020B0609020204030204" pitchFamily="49" charset="0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2AAB6FC-EC61-022F-DE84-07F570EA33C0}"/>
              </a:ext>
            </a:extLst>
          </p:cNvPr>
          <p:cNvSpPr/>
          <p:nvPr/>
        </p:nvSpPr>
        <p:spPr>
          <a:xfrm>
            <a:off x="9123914" y="4532938"/>
            <a:ext cx="3549446" cy="447302"/>
          </a:xfrm>
          <a:prstGeom prst="rect">
            <a:avLst/>
          </a:prstGeom>
          <a:noFill/>
          <a:ln w="25400" cap="flat">
            <a:solidFill>
              <a:srgbClr val="5B5854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spc="0" normalizeH="0" baseline="0" dirty="0">
                <a:solidFill>
                  <a:schemeClr val="bg1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rPr>
              <a:t>blk1_backup </a:t>
            </a:r>
            <a:r>
              <a:rPr kumimoji="0" lang="en-US" altLang="ko-KR" sz="2800" b="0" i="0" u="none" strike="noStrike" spc="0" normalizeH="0" baseline="0" dirty="0">
                <a:solidFill>
                  <a:schemeClr val="bg1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Wingdings" panose="05000000000000000000" pitchFamily="2" charset="2"/>
              </a:rPr>
              <a:t></a:t>
            </a:r>
            <a:r>
              <a:rPr kumimoji="0" lang="en-US" altLang="ko-KR" sz="2800" b="0" i="0" u="none" strike="noStrike" spc="0" normalizeH="0" baseline="0" dirty="0">
                <a:solidFill>
                  <a:schemeClr val="bg1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rPr>
              <a:t> skip</a:t>
            </a:r>
            <a:endParaRPr kumimoji="0" lang="ko-KR" altLang="en-US" sz="2800" b="0" i="0" u="none" strike="noStrike" spc="0" normalizeH="0" baseline="0" dirty="0">
              <a:solidFill>
                <a:schemeClr val="bg1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48FA1FA-B910-1AC8-3F17-68C3A618AD37}"/>
              </a:ext>
            </a:extLst>
          </p:cNvPr>
          <p:cNvSpPr/>
          <p:nvPr/>
        </p:nvSpPr>
        <p:spPr>
          <a:xfrm>
            <a:off x="9266816" y="7380762"/>
            <a:ext cx="2546555" cy="447302"/>
          </a:xfrm>
          <a:prstGeom prst="rect">
            <a:avLst/>
          </a:prstGeom>
          <a:noFill/>
          <a:ln w="25400" cap="flat">
            <a:solidFill>
              <a:srgbClr val="5B5854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spc="0" normalizeH="0" baseline="0" dirty="0">
                <a:solidFill>
                  <a:schemeClr val="bg1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rPr>
              <a:t>z1_silu </a:t>
            </a:r>
            <a:r>
              <a:rPr kumimoji="0" lang="en-US" altLang="ko-KR" sz="2800" b="0" i="0" u="none" strike="noStrike" spc="0" normalizeH="0" baseline="0" dirty="0">
                <a:solidFill>
                  <a:schemeClr val="bg1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Wingdings" panose="05000000000000000000" pitchFamily="2" charset="2"/>
              </a:rPr>
              <a:t></a:t>
            </a:r>
            <a:r>
              <a:rPr kumimoji="0" lang="en-US" altLang="ko-KR" sz="2800" b="0" i="0" u="none" strike="noStrike" spc="0" normalizeH="0" baseline="0" dirty="0">
                <a:solidFill>
                  <a:schemeClr val="bg1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rPr>
              <a:t> z1</a:t>
            </a:r>
            <a:endParaRPr kumimoji="0" lang="ko-KR" altLang="en-US" sz="2800" b="0" i="0" u="none" strike="noStrike" spc="0" normalizeH="0" baseline="0" dirty="0">
              <a:solidFill>
                <a:schemeClr val="bg1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2" name="액자 1">
            <a:extLst>
              <a:ext uri="{FF2B5EF4-FFF2-40B4-BE49-F238E27FC236}">
                <a16:creationId xmlns:a16="http://schemas.microsoft.com/office/drawing/2014/main" id="{760BE85D-2A1B-5C14-E0B1-CFE2DF562849}"/>
              </a:ext>
            </a:extLst>
          </p:cNvPr>
          <p:cNvSpPr/>
          <p:nvPr/>
        </p:nvSpPr>
        <p:spPr>
          <a:xfrm>
            <a:off x="8051304" y="1"/>
            <a:ext cx="1705018" cy="184209"/>
          </a:xfrm>
          <a:prstGeom prst="frame">
            <a:avLst>
              <a:gd name="adj1" fmla="val 5882"/>
            </a:avLst>
          </a:prstGeom>
          <a:solidFill>
            <a:srgbClr val="FFFF00"/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3" name="액자 2">
            <a:extLst>
              <a:ext uri="{FF2B5EF4-FFF2-40B4-BE49-F238E27FC236}">
                <a16:creationId xmlns:a16="http://schemas.microsoft.com/office/drawing/2014/main" id="{51529469-4BD1-D1D9-1A45-E28A8A6DBDAE}"/>
              </a:ext>
            </a:extLst>
          </p:cNvPr>
          <p:cNvSpPr/>
          <p:nvPr/>
        </p:nvSpPr>
        <p:spPr>
          <a:xfrm>
            <a:off x="7127071" y="2777121"/>
            <a:ext cx="1556639" cy="202843"/>
          </a:xfrm>
          <a:prstGeom prst="frame">
            <a:avLst>
              <a:gd name="adj1" fmla="val 5882"/>
            </a:avLst>
          </a:prstGeom>
          <a:solidFill>
            <a:srgbClr val="FFFF00"/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4" name="액자 3">
            <a:extLst>
              <a:ext uri="{FF2B5EF4-FFF2-40B4-BE49-F238E27FC236}">
                <a16:creationId xmlns:a16="http://schemas.microsoft.com/office/drawing/2014/main" id="{9D925900-733F-569E-7FB2-C78C9873EC03}"/>
              </a:ext>
            </a:extLst>
          </p:cNvPr>
          <p:cNvSpPr/>
          <p:nvPr/>
        </p:nvSpPr>
        <p:spPr>
          <a:xfrm>
            <a:off x="8305818" y="5524032"/>
            <a:ext cx="1768911" cy="202843"/>
          </a:xfrm>
          <a:prstGeom prst="frame">
            <a:avLst>
              <a:gd name="adj1" fmla="val 5882"/>
            </a:avLst>
          </a:prstGeom>
          <a:solidFill>
            <a:srgbClr val="FFFF00"/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6" name="액자 5">
            <a:extLst>
              <a:ext uri="{FF2B5EF4-FFF2-40B4-BE49-F238E27FC236}">
                <a16:creationId xmlns:a16="http://schemas.microsoft.com/office/drawing/2014/main" id="{E11B4318-3A86-8CFC-6266-4FB5F0EEF1D4}"/>
              </a:ext>
            </a:extLst>
          </p:cNvPr>
          <p:cNvSpPr/>
          <p:nvPr/>
        </p:nvSpPr>
        <p:spPr>
          <a:xfrm>
            <a:off x="8382360" y="8489517"/>
            <a:ext cx="1768911" cy="202843"/>
          </a:xfrm>
          <a:prstGeom prst="frame">
            <a:avLst>
              <a:gd name="adj1" fmla="val 5882"/>
            </a:avLst>
          </a:prstGeom>
          <a:solidFill>
            <a:srgbClr val="FFFF00"/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CE6B5790-91F2-17A0-00A3-F4EB3FE6E3C9}"/>
              </a:ext>
            </a:extLst>
          </p:cNvPr>
          <p:cNvSpPr/>
          <p:nvPr/>
        </p:nvSpPr>
        <p:spPr>
          <a:xfrm>
            <a:off x="7162441" y="9116681"/>
            <a:ext cx="2073728" cy="555450"/>
          </a:xfrm>
          <a:prstGeom prst="downArrow">
            <a:avLst>
              <a:gd name="adj1" fmla="val 33465"/>
              <a:gd name="adj2" fmla="val 59595"/>
            </a:avLst>
          </a:prstGeom>
          <a:solidFill>
            <a:schemeClr val="accent5">
              <a:lumMod val="60000"/>
              <a:lumOff val="40000"/>
            </a:schemeClr>
          </a:solidFill>
          <a:ln w="25400" cap="flat">
            <a:solidFill>
              <a:schemeClr val="bg1">
                <a:lumMod val="90000"/>
                <a:lumOff val="10000"/>
              </a:schemeClr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1" i="0" u="none" strike="noStrike" cap="all" spc="0" normalizeH="0" baseline="0" dirty="0">
              <a:solidFill>
                <a:schemeClr val="bg1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145229821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C1070-15F2-5C83-C726-2065969DE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61EA5-D908-3D29-3A35-38DDA712E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PureC</a:t>
            </a:r>
            <a:r>
              <a:rPr lang="en-US" altLang="ko-KR" dirty="0"/>
              <a:t>-Mamba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BA7C3F-3ACD-B679-59E8-F3886DECA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399" y="1266741"/>
            <a:ext cx="12192001" cy="7986316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Memory Usage of Final Version</a:t>
            </a:r>
            <a:r>
              <a:rPr lang="ko-KR" altLang="ko-KR" sz="2800" dirty="0"/>
              <a:t>: </a:t>
            </a:r>
            <a:r>
              <a:rPr lang="ko-KR" altLang="ko-KR" sz="2800" b="1" dirty="0"/>
              <a:t>129,244B / 131,072B</a:t>
            </a:r>
            <a:endParaRPr lang="ko-KR" altLang="ko-KR" sz="2800" dirty="0"/>
          </a:p>
          <a:p>
            <a:r>
              <a:rPr lang="ko-KR" altLang="ko-KR" sz="2800" dirty="0"/>
              <a:t>SRAM </a:t>
            </a:r>
            <a:r>
              <a:rPr lang="en-US" altLang="ko-KR" sz="2800" dirty="0"/>
              <a:t>Free Space</a:t>
            </a:r>
            <a:r>
              <a:rPr lang="ko-KR" altLang="ko-KR" sz="2800" dirty="0"/>
              <a:t>: </a:t>
            </a:r>
            <a:r>
              <a:rPr lang="ko-KR" altLang="ko-KR" sz="2800" b="1" dirty="0"/>
              <a:t>1.8KB</a:t>
            </a:r>
            <a:endParaRPr lang="ko-KR" altLang="ko-KR" sz="2800" dirty="0"/>
          </a:p>
          <a:p>
            <a:r>
              <a:rPr lang="en-US" altLang="ko-KR" sz="2800" dirty="0"/>
              <a:t>It works well on </a:t>
            </a:r>
            <a:r>
              <a:rPr lang="ko-KR" altLang="ko-KR" sz="2800" dirty="0"/>
              <a:t>Genesys2-EB </a:t>
            </a:r>
            <a:r>
              <a:rPr lang="en-US" altLang="ko-KR" sz="2800" dirty="0"/>
              <a:t>with limited </a:t>
            </a:r>
            <a:r>
              <a:rPr lang="ko-KR" altLang="ko-KR" sz="2800" dirty="0"/>
              <a:t>SRAM</a:t>
            </a:r>
            <a:r>
              <a:rPr lang="en-US" altLang="ko-KR" sz="2800" dirty="0"/>
              <a:t>.</a:t>
            </a:r>
            <a:endParaRPr lang="ko-KR" altLang="ko-KR" sz="2800" dirty="0"/>
          </a:p>
          <a:p>
            <a:r>
              <a:rPr lang="en-US" altLang="ko-KR" sz="2800" dirty="0"/>
              <a:t>However, the size of single </a:t>
            </a:r>
            <a:r>
              <a:rPr lang="ko-KR" altLang="ko-KR" sz="2800" dirty="0" err="1"/>
              <a:t>input</a:t>
            </a:r>
            <a:r>
              <a:rPr lang="en-US" altLang="ko-KR" sz="2800" dirty="0"/>
              <a:t> takes about </a:t>
            </a:r>
            <a:r>
              <a:rPr lang="ko-KR" altLang="ko-KR" sz="2800" b="1" dirty="0"/>
              <a:t>9KiB</a:t>
            </a:r>
            <a:r>
              <a:rPr lang="en-US" altLang="ko-KR" sz="2800" b="1" dirty="0"/>
              <a:t>, </a:t>
            </a:r>
            <a:r>
              <a:rPr lang="en-US" altLang="ko-KR" sz="2800" dirty="0"/>
              <a:t>we cannot upload multiple input at once.</a:t>
            </a:r>
            <a:endParaRPr lang="ko-KR" altLang="ko-KR" sz="2800" dirty="0"/>
          </a:p>
          <a:p>
            <a:r>
              <a:rPr lang="en-US" altLang="ko-KR" sz="2800" dirty="0"/>
              <a:t>It requires additional capacity optimization or storage off-loading.</a:t>
            </a:r>
            <a:endParaRPr lang="ko-KR" altLang="ko-KR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995BAE-4BC4-CD84-0222-441E55C07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17" y="6335528"/>
            <a:ext cx="9456565" cy="64702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465DE37-4B12-D4E5-0750-A566A2734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16" y="6106516"/>
            <a:ext cx="7708815" cy="20934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890A105-0813-9E11-884E-B2A36311634C}"/>
              </a:ext>
            </a:extLst>
          </p:cNvPr>
          <p:cNvSpPr txBox="1"/>
          <p:nvPr/>
        </p:nvSpPr>
        <p:spPr>
          <a:xfrm>
            <a:off x="473528" y="8626391"/>
            <a:ext cx="8539843" cy="64633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 dirty="0">
                <a:solidFill>
                  <a:srgbClr val="494949"/>
                </a:solidFill>
              </a:rPr>
              <a:t>quant_input_1_json_file_raw 		[</a:t>
            </a:r>
            <a:r>
              <a:rPr lang="en-US" altLang="ko-KR" sz="1400" dirty="0">
                <a:solidFill>
                  <a:srgbClr val="494949"/>
                </a:solidFill>
                <a:latin typeface="Consolas" panose="020B0609020204030204" pitchFamily="49" charset="0"/>
              </a:rPr>
              <a:t>0x23d9</a:t>
            </a:r>
            <a:r>
              <a:rPr lang="en-US" altLang="ko-KR" sz="1800" dirty="0">
                <a:solidFill>
                  <a:srgbClr val="494949"/>
                </a:solidFill>
              </a:rPr>
              <a:t>]  =   9,177 bytes ≈   8.96 KiB</a:t>
            </a:r>
            <a:br>
              <a:rPr lang="en-US" altLang="ko-KR" sz="1800" dirty="0">
                <a:solidFill>
                  <a:srgbClr val="494949"/>
                </a:solidFill>
              </a:rPr>
            </a:br>
            <a:r>
              <a:rPr lang="en-US" altLang="ko-KR" sz="1800" dirty="0">
                <a:solidFill>
                  <a:srgbClr val="494949"/>
                </a:solidFill>
              </a:rPr>
              <a:t>FPGA_result_1029_3_json_file_raw 	[</a:t>
            </a:r>
            <a:r>
              <a:rPr lang="en-US" altLang="ko-KR" sz="1400" dirty="0">
                <a:solidFill>
                  <a:srgbClr val="494949"/>
                </a:solidFill>
                <a:latin typeface="Consolas" panose="020B0609020204030204" pitchFamily="49" charset="0"/>
              </a:rPr>
              <a:t>0x3f71</a:t>
            </a:r>
            <a:r>
              <a:rPr lang="en-US" altLang="ko-KR" sz="1800" dirty="0">
                <a:solidFill>
                  <a:srgbClr val="494949"/>
                </a:solidFill>
              </a:rPr>
              <a:t>]  = 16,241 bytes ≈ 15.86 KiB</a:t>
            </a:r>
            <a:endParaRPr kumimoji="0" lang="ko-KR" altLang="en-US" sz="1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53BF4EB-CD41-893E-3D68-856C273BB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17" y="8164458"/>
            <a:ext cx="4801759" cy="44226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8E81169-9D5D-2BAF-9DAB-87008722D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217" y="7905886"/>
            <a:ext cx="10626147" cy="23890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5F2D5F6-A42F-09C9-F5AB-4D8A4BC7D5A7}"/>
              </a:ext>
            </a:extLst>
          </p:cNvPr>
          <p:cNvSpPr txBox="1"/>
          <p:nvPr/>
        </p:nvSpPr>
        <p:spPr>
          <a:xfrm>
            <a:off x="564217" y="6982556"/>
            <a:ext cx="7120986" cy="92333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</a:rPr>
              <a:t>SRAM</a:t>
            </a:r>
            <a:r>
              <a:rPr lang="ko-KR" altLang="en-US" sz="1800" dirty="0">
                <a:solidFill>
                  <a:srgbClr val="494949"/>
                </a:solidFill>
              </a:rPr>
              <a:t> </a:t>
            </a:r>
            <a:r>
              <a:rPr lang="en-US" altLang="ko-KR" sz="1800" dirty="0">
                <a:solidFill>
                  <a:srgbClr val="494949"/>
                </a:solidFill>
              </a:rPr>
              <a:t>Capacity</a:t>
            </a:r>
            <a:r>
              <a:rPr lang="ko-KR" altLang="en-US" sz="1800" dirty="0">
                <a:solidFill>
                  <a:srgbClr val="494949"/>
                </a:solidFill>
              </a:rPr>
              <a:t> </a:t>
            </a:r>
            <a:r>
              <a:rPr lang="en-US" altLang="ko-KR" sz="1800" dirty="0">
                <a:solidFill>
                  <a:srgbClr val="494949"/>
                </a:solidFill>
              </a:rPr>
              <a:t>[</a:t>
            </a:r>
            <a:r>
              <a:rPr lang="en-US" altLang="ko-KR" sz="1400" dirty="0">
                <a:solidFill>
                  <a:srgbClr val="494949"/>
                </a:solidFill>
                <a:latin typeface="Consolas" panose="020B0609020204030204" pitchFamily="49" charset="0"/>
              </a:rPr>
              <a:t>0x20_000</a:t>
            </a:r>
            <a:r>
              <a:rPr lang="en-US" altLang="ko-KR" sz="1800" dirty="0">
                <a:solidFill>
                  <a:srgbClr val="494949"/>
                </a:solidFill>
              </a:rPr>
              <a:t>] = 131,072B</a:t>
            </a:r>
            <a:br>
              <a:rPr lang="en-US" altLang="ko-KR" sz="1800" dirty="0">
                <a:solidFill>
                  <a:srgbClr val="494949"/>
                </a:solidFill>
              </a:rPr>
            </a:br>
            <a:r>
              <a:rPr lang="en-US" altLang="ko-KR" sz="1800" dirty="0">
                <a:solidFill>
                  <a:srgbClr val="494949"/>
                </a:solidFill>
              </a:rPr>
              <a:t>Memory Usage 		     = 129,244B</a:t>
            </a:r>
            <a:br>
              <a:rPr lang="en-US" altLang="ko-KR" sz="1800" dirty="0">
                <a:solidFill>
                  <a:srgbClr val="494949"/>
                </a:solidFill>
              </a:rPr>
            </a:br>
            <a:r>
              <a:rPr kumimoji="0" lang="en-US" altLang="ko-KR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Free Space</a:t>
            </a:r>
            <a:r>
              <a:rPr kumimoji="0" lang="ko-KR" altLang="en-US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 </a:t>
            </a:r>
            <a:r>
              <a:rPr kumimoji="0" lang="en-US" altLang="ko-KR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	</a:t>
            </a:r>
            <a:r>
              <a:rPr lang="en-US" altLang="ko-KR" sz="1800" dirty="0">
                <a:solidFill>
                  <a:srgbClr val="494949"/>
                </a:solidFill>
              </a:rPr>
              <a:t>	     </a:t>
            </a:r>
            <a:r>
              <a:rPr kumimoji="0" lang="en-US" altLang="ko-KR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= 131,072 - 129,244 = 1,828 </a:t>
            </a:r>
            <a:r>
              <a:rPr lang="en-US" altLang="ko-KR" sz="1800" dirty="0">
                <a:solidFill>
                  <a:srgbClr val="494949"/>
                </a:solidFill>
              </a:rPr>
              <a:t>Byte</a:t>
            </a:r>
            <a:endParaRPr kumimoji="0" lang="ko-KR" altLang="en-US" sz="1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009715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7548C-370F-6E60-02DC-A2FEC737B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AxFTL: Exploiting Error Tolerance for Extending Lifetime of NAND Flash Storage">
            <a:extLst>
              <a:ext uri="{FF2B5EF4-FFF2-40B4-BE49-F238E27FC236}">
                <a16:creationId xmlns:a16="http://schemas.microsoft.com/office/drawing/2014/main" id="{841EC9BC-E8ED-8352-0C61-CD62592B6C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/>
          </a:bodyPr>
          <a:lstStyle>
            <a:lvl1pPr defTabSz="566674">
              <a:defRPr sz="6305"/>
            </a:lvl1pPr>
          </a:lstStyle>
          <a:p>
            <a:pPr lvl="0" algn="ctr">
              <a:lnSpc>
                <a:spcPct val="100000"/>
              </a:lnSpc>
              <a:defRPr/>
            </a:pPr>
            <a:r>
              <a:rPr lang="en-US" altLang="ko-KR" sz="4000" dirty="0" err="1"/>
              <a:t>PureC</a:t>
            </a:r>
            <a:r>
              <a:rPr lang="en-US" altLang="ko-KR" sz="4000" dirty="0"/>
              <a:t>-Mamba on Genesys2-eb [ External</a:t>
            </a:r>
            <a:r>
              <a:rPr lang="ko-KR" altLang="en-US" sz="4000" dirty="0"/>
              <a:t> </a:t>
            </a:r>
            <a:r>
              <a:rPr lang="en-US" altLang="ko-KR" sz="4000" dirty="0"/>
              <a:t>Use ]</a:t>
            </a:r>
            <a:endParaRPr lang="ko-KR" altLang="en-US" sz="4000" dirty="0"/>
          </a:p>
        </p:txBody>
      </p:sp>
      <p:sp>
        <p:nvSpPr>
          <p:cNvPr id="83" name="Younghyun Kim…">
            <a:extLst>
              <a:ext uri="{FF2B5EF4-FFF2-40B4-BE49-F238E27FC236}">
                <a16:creationId xmlns:a16="http://schemas.microsoft.com/office/drawing/2014/main" id="{C27D3773-8351-EAD8-7660-BF05678219B1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254000" y="6481522"/>
            <a:ext cx="12192000" cy="266630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3500" dirty="0"/>
              <a:t>University of </a:t>
            </a:r>
            <a:r>
              <a:rPr lang="en-US" altLang="ko-KR" sz="3500" dirty="0" err="1"/>
              <a:t>ulsan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/>
              <a:t>Electronical, Electronic and Computer Engineering</a:t>
            </a:r>
            <a:r>
              <a:rPr lang="ko-KR" altLang="en-US" sz="3500" dirty="0"/>
              <a:t> 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 err="1"/>
              <a:t>Jaehyeok</a:t>
            </a:r>
            <a:r>
              <a:rPr lang="en-US" altLang="ko-KR" sz="3500" dirty="0"/>
              <a:t> Cho</a:t>
            </a:r>
          </a:p>
        </p:txBody>
      </p:sp>
    </p:spTree>
    <p:extLst>
      <p:ext uri="{BB962C8B-B14F-4D97-AF65-F5344CB8AC3E}">
        <p14:creationId xmlns:p14="http://schemas.microsoft.com/office/powerpoint/2010/main" val="163388336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F82E5-E53B-73D7-0F91-A7D967051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DD624-DC7E-BDE4-96C5-8127DF89A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 err="1"/>
              <a:t>PureC</a:t>
            </a:r>
            <a:r>
              <a:rPr lang="en-US" altLang="ko-KR" sz="4400" dirty="0"/>
              <a:t>-Mamba</a:t>
            </a:r>
            <a:endParaRPr lang="ko-KR" altLang="en-US" sz="44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C01D1C-2AC5-0170-BE32-B037172E5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RTL </a:t>
            </a:r>
            <a:r>
              <a:rPr lang="ko-KR" altLang="en-US" sz="2800" dirty="0"/>
              <a:t>결과와</a:t>
            </a:r>
            <a:r>
              <a:rPr lang="ko-KR" altLang="ko-KR" sz="2800" dirty="0"/>
              <a:t> 일치</a:t>
            </a:r>
            <a:r>
              <a:rPr lang="ko-KR" altLang="en-US" sz="2800" dirty="0"/>
              <a:t>하도록 </a:t>
            </a:r>
            <a:r>
              <a:rPr lang="ko-KR" altLang="ko-KR" sz="2800" dirty="0"/>
              <a:t>Genesys2-EB에 </a:t>
            </a:r>
            <a:r>
              <a:rPr lang="ko-KR" altLang="ko-KR" sz="2800" dirty="0" err="1"/>
              <a:t>포팅하여</a:t>
            </a:r>
            <a:r>
              <a:rPr lang="ko-KR" altLang="ko-KR" sz="2800" dirty="0"/>
              <a:t> 정상 동작 확인</a:t>
            </a:r>
            <a:endParaRPr lang="en-US" altLang="ko-KR" sz="2800" dirty="0"/>
          </a:p>
          <a:p>
            <a:pPr lvl="1"/>
            <a:r>
              <a:rPr lang="en-US" altLang="ko-KR" sz="2400" dirty="0" err="1"/>
              <a:t>PureC</a:t>
            </a:r>
            <a:r>
              <a:rPr lang="en-US" altLang="ko-KR" sz="2400" dirty="0"/>
              <a:t>-Mamba.</a:t>
            </a:r>
            <a:endParaRPr lang="ko-KR" altLang="ko-KR" sz="2400" dirty="0"/>
          </a:p>
          <a:p>
            <a:r>
              <a:rPr lang="ko-KR" altLang="ko-KR" sz="2800" dirty="0" err="1"/>
              <a:t>Fakefile</a:t>
            </a:r>
            <a:r>
              <a:rPr lang="ko-KR" altLang="ko-KR" sz="2800" dirty="0"/>
              <a:t> </a:t>
            </a:r>
            <a:r>
              <a:rPr lang="ko-KR" altLang="ko-KR" sz="2800" dirty="0" err="1"/>
              <a:t>read는</a:t>
            </a:r>
            <a:r>
              <a:rPr lang="en-US" altLang="ko-KR" sz="2800" dirty="0"/>
              <a:t> 2</a:t>
            </a:r>
            <a:r>
              <a:rPr lang="ko-KR" altLang="en-US" sz="2800" dirty="0"/>
              <a:t>번 사용</a:t>
            </a:r>
            <a:endParaRPr lang="en-US" altLang="ko-KR" sz="2800" dirty="0"/>
          </a:p>
          <a:p>
            <a:pPr lvl="1"/>
            <a:r>
              <a:rPr lang="ko-KR" altLang="ko-KR" sz="2400" dirty="0"/>
              <a:t> </a:t>
            </a:r>
            <a:r>
              <a:rPr lang="ko-KR" altLang="ko-KR" sz="2400" dirty="0" err="1"/>
              <a:t>input</a:t>
            </a:r>
            <a:r>
              <a:rPr lang="ko-KR" altLang="ko-KR" sz="2400" dirty="0"/>
              <a:t> 로딩</a:t>
            </a:r>
            <a:endParaRPr lang="en-US" altLang="ko-KR" sz="2400" dirty="0"/>
          </a:p>
          <a:p>
            <a:pPr lvl="1"/>
            <a:r>
              <a:rPr lang="ko-KR" altLang="en-US" sz="2400" dirty="0"/>
              <a:t>결과 </a:t>
            </a:r>
            <a:r>
              <a:rPr lang="ko-KR" altLang="ko-KR" sz="2400" dirty="0"/>
              <a:t>비교</a:t>
            </a:r>
            <a:r>
              <a:rPr lang="ko-KR" altLang="en-US" sz="2400" dirty="0"/>
              <a:t> 평가를 위한 </a:t>
            </a:r>
            <a:r>
              <a:rPr lang="en-US" altLang="ko-KR" sz="2400" dirty="0"/>
              <a:t>RTL-ZCU102</a:t>
            </a:r>
            <a:r>
              <a:rPr lang="ko-KR" altLang="en-US" sz="2400" dirty="0"/>
              <a:t>의 </a:t>
            </a:r>
            <a:r>
              <a:rPr lang="ko-KR" altLang="ko-KR" sz="2400" dirty="0"/>
              <a:t>최종 결과 </a:t>
            </a:r>
            <a:r>
              <a:rPr lang="ko-KR" altLang="en-US" sz="2400" dirty="0"/>
              <a:t>로딩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9F3D781-6881-BEB1-4B0F-237C136098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7" t="43016" r="58800" b="18413"/>
          <a:stretch>
            <a:fillRect/>
          </a:stretch>
        </p:blipFill>
        <p:spPr>
          <a:xfrm>
            <a:off x="7130041" y="6264928"/>
            <a:ext cx="2670740" cy="194017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6E98AA6-6BBC-CE12-BCD3-2AB2691A0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201" y="4244748"/>
            <a:ext cx="3314606" cy="53410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0229B4-8039-B82D-0865-B1481FB26874}"/>
              </a:ext>
            </a:extLst>
          </p:cNvPr>
          <p:cNvSpPr txBox="1"/>
          <p:nvPr/>
        </p:nvSpPr>
        <p:spPr>
          <a:xfrm>
            <a:off x="2682752" y="9291935"/>
            <a:ext cx="2927503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Flow Diagram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9795B0-76A0-A49E-E506-7379CBD1AB4C}"/>
              </a:ext>
            </a:extLst>
          </p:cNvPr>
          <p:cNvSpPr txBox="1"/>
          <p:nvPr/>
        </p:nvSpPr>
        <p:spPr>
          <a:xfrm>
            <a:off x="6521357" y="9253057"/>
            <a:ext cx="3888108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Genesys2-EB </a:t>
            </a:r>
            <a:r>
              <a:rPr lang="ko-KR" altLang="en-US" sz="2400" dirty="0">
                <a:solidFill>
                  <a:srgbClr val="494949"/>
                </a:solidFill>
              </a:rPr>
              <a:t>출력 결과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841253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880AD-FDE4-59A7-78CF-AC1310F1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904E6-F4DE-56D9-7833-2DF14F1F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/>
              <a:t>Porting </a:t>
            </a:r>
            <a:r>
              <a:rPr lang="en-US" altLang="ko-KR" sz="4400" dirty="0" err="1"/>
              <a:t>PureC</a:t>
            </a:r>
            <a:r>
              <a:rPr lang="en-US" altLang="ko-KR" sz="4400" dirty="0"/>
              <a:t>-Mamba</a:t>
            </a:r>
            <a:endParaRPr lang="ko-KR" altLang="en-US" sz="4400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978613-77D4-4762-75EE-B2DADC941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ko-KR" sz="2800" dirty="0"/>
              <a:t>최종 메모리 사용량: </a:t>
            </a:r>
            <a:r>
              <a:rPr lang="ko-KR" altLang="ko-KR" sz="2800" b="1" dirty="0"/>
              <a:t>129,244B / 131,072B</a:t>
            </a:r>
            <a:endParaRPr lang="ko-KR" altLang="ko-KR" sz="2800" dirty="0"/>
          </a:p>
          <a:p>
            <a:r>
              <a:rPr lang="ko-KR" altLang="ko-KR" sz="2800" dirty="0"/>
              <a:t>SRAM 잔여 공간: </a:t>
            </a:r>
            <a:r>
              <a:rPr lang="ko-KR" altLang="ko-KR" sz="2800" b="1" dirty="0"/>
              <a:t>1.8KB</a:t>
            </a:r>
            <a:r>
              <a:rPr lang="en-US" altLang="ko-KR" sz="2800" b="1" dirty="0"/>
              <a:t>, </a:t>
            </a:r>
            <a:r>
              <a:rPr lang="ko-KR" altLang="ko-KR" sz="2800" dirty="0"/>
              <a:t>정상 동작 확인</a:t>
            </a:r>
            <a:endParaRPr lang="en-US" altLang="ko-KR" sz="2800" dirty="0"/>
          </a:p>
          <a:p>
            <a:r>
              <a:rPr lang="ko-KR" altLang="ko-KR" sz="2800" dirty="0" err="1"/>
              <a:t>input</a:t>
            </a:r>
            <a:r>
              <a:rPr lang="ko-KR" altLang="ko-KR" sz="2800" dirty="0"/>
              <a:t> 1개가 약 </a:t>
            </a:r>
            <a:r>
              <a:rPr lang="ko-KR" altLang="ko-KR" sz="2800" b="1" dirty="0"/>
              <a:t>9KiB</a:t>
            </a:r>
            <a:r>
              <a:rPr lang="en-US" altLang="ko-KR" sz="2800" b="1" dirty="0"/>
              <a:t>: </a:t>
            </a:r>
            <a:r>
              <a:rPr lang="ko-KR" altLang="en-US" sz="2800" dirty="0"/>
              <a:t>내부 로직 최적화</a:t>
            </a:r>
            <a:r>
              <a:rPr lang="en-US" altLang="ko-KR" sz="2800" dirty="0"/>
              <a:t> / </a:t>
            </a:r>
            <a:r>
              <a:rPr lang="ko-KR" altLang="ko-KR" sz="2800" dirty="0"/>
              <a:t>외부 로딩 방식 필요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858840-4707-D8F4-D6B7-411D2F0C5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93" y="3117343"/>
            <a:ext cx="3278362" cy="5913907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AFD5E5DE-BF66-13F6-2BF2-BC199408E715}"/>
              </a:ext>
            </a:extLst>
          </p:cNvPr>
          <p:cNvGrpSpPr/>
          <p:nvPr/>
        </p:nvGrpSpPr>
        <p:grpSpPr>
          <a:xfrm>
            <a:off x="3783841" y="4380471"/>
            <a:ext cx="3488496" cy="4629151"/>
            <a:chOff x="4145112" y="3918857"/>
            <a:chExt cx="3488496" cy="4629151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64486D2-D1D3-0EC3-796A-F854EF6C0618}"/>
                </a:ext>
              </a:extLst>
            </p:cNvPr>
            <p:cNvGrpSpPr/>
            <p:nvPr/>
          </p:nvGrpSpPr>
          <p:grpSpPr>
            <a:xfrm>
              <a:off x="4145112" y="3918857"/>
              <a:ext cx="3488496" cy="4629151"/>
              <a:chOff x="2009670" y="2225891"/>
              <a:chExt cx="5217039" cy="6672106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920395E6-0AF0-F951-8441-146D0A93EE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0388" t="-45" r="3868" b="4495"/>
              <a:stretch>
                <a:fillRect/>
              </a:stretch>
            </p:blipFill>
            <p:spPr>
              <a:xfrm>
                <a:off x="2009670" y="2225891"/>
                <a:ext cx="5217039" cy="6672106"/>
              </a:xfrm>
              <a:prstGeom prst="rect">
                <a:avLst/>
              </a:prstGeom>
            </p:spPr>
          </p:pic>
          <p:sp>
            <p:nvSpPr>
              <p:cNvPr id="16" name="액자 15">
                <a:extLst>
                  <a:ext uri="{FF2B5EF4-FFF2-40B4-BE49-F238E27FC236}">
                    <a16:creationId xmlns:a16="http://schemas.microsoft.com/office/drawing/2014/main" id="{062A45E9-3347-CD92-F89E-03F0EF668255}"/>
                  </a:ext>
                </a:extLst>
              </p:cNvPr>
              <p:cNvSpPr/>
              <p:nvPr/>
            </p:nvSpPr>
            <p:spPr>
              <a:xfrm>
                <a:off x="3654656" y="3773150"/>
                <a:ext cx="1703926" cy="366231"/>
              </a:xfrm>
              <a:prstGeom prst="frame">
                <a:avLst>
                  <a:gd name="adj1" fmla="val 3091"/>
                </a:avLst>
              </a:prstGeom>
              <a:solidFill>
                <a:srgbClr val="FFFF00"/>
              </a:solidFill>
              <a:ln w="25400" cap="flat">
                <a:solidFill>
                  <a:srgbClr val="FF0000"/>
                </a:solidFill>
                <a:prstDash val="solid"/>
                <a:miter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>
                <a:scrgbClr r="0" g="0" b="0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</a:pPr>
                <a:endParaRPr kumimoji="0" lang="ko-KR" altLang="en-US" sz="2800" b="0" i="0" u="none" strike="noStrike" cap="all" spc="0" normalizeH="0" baseline="0">
                  <a:solidFill>
                    <a:srgbClr val="838787"/>
                  </a:solidFill>
                  <a:effectLst/>
                  <a:uFillTx/>
                  <a:latin typeface="DIN Condensed Bold"/>
                  <a:ea typeface="DIN Condensed Bold"/>
                  <a:cs typeface="DIN Condensed Bold"/>
                  <a:sym typeface="DIN Condensed Bold"/>
                </a:endParaRPr>
              </a:p>
            </p:txBody>
          </p:sp>
        </p:grpSp>
        <p:sp>
          <p:nvSpPr>
            <p:cNvPr id="6" name="액자 5">
              <a:extLst>
                <a:ext uri="{FF2B5EF4-FFF2-40B4-BE49-F238E27FC236}">
                  <a16:creationId xmlns:a16="http://schemas.microsoft.com/office/drawing/2014/main" id="{E1D06DC1-FF8F-3FD4-FE66-DCDF7B640601}"/>
                </a:ext>
              </a:extLst>
            </p:cNvPr>
            <p:cNvSpPr/>
            <p:nvPr/>
          </p:nvSpPr>
          <p:spPr>
            <a:xfrm>
              <a:off x="5236905" y="6707171"/>
              <a:ext cx="1368000" cy="322278"/>
            </a:xfrm>
            <a:prstGeom prst="frame">
              <a:avLst>
                <a:gd name="adj1" fmla="val 4928"/>
              </a:avLst>
            </a:prstGeom>
            <a:solidFill>
              <a:srgbClr val="00B050"/>
            </a:solidFill>
            <a:ln w="25400" cap="flat">
              <a:solidFill>
                <a:srgbClr val="FFFF0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67B29A32-ABB0-2C29-816C-F35E6AA6E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324" y="5880387"/>
            <a:ext cx="5354864" cy="59423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F8363F0-0303-315C-A988-065B7AA22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7324" y="7814690"/>
            <a:ext cx="4801759" cy="4422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0B5BC7-E97B-89E1-465C-21812DA69796}"/>
              </a:ext>
            </a:extLst>
          </p:cNvPr>
          <p:cNvSpPr txBox="1"/>
          <p:nvPr/>
        </p:nvSpPr>
        <p:spPr>
          <a:xfrm>
            <a:off x="7552835" y="6512856"/>
            <a:ext cx="4687498" cy="83099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600" dirty="0">
                <a:solidFill>
                  <a:srgbClr val="494949"/>
                </a:solidFill>
              </a:rPr>
              <a:t>SRAM</a:t>
            </a:r>
            <a:r>
              <a:rPr lang="ko-KR" altLang="en-US" sz="1600" dirty="0">
                <a:solidFill>
                  <a:srgbClr val="494949"/>
                </a:solidFill>
              </a:rPr>
              <a:t> </a:t>
            </a:r>
            <a:r>
              <a:rPr lang="en-US" altLang="ko-KR" sz="1600" dirty="0">
                <a:solidFill>
                  <a:srgbClr val="494949"/>
                </a:solidFill>
              </a:rPr>
              <a:t>Capacity</a:t>
            </a:r>
            <a:r>
              <a:rPr lang="ko-KR" altLang="en-US" sz="1600" dirty="0">
                <a:solidFill>
                  <a:srgbClr val="494949"/>
                </a:solidFill>
              </a:rPr>
              <a:t> </a:t>
            </a:r>
            <a:r>
              <a:rPr lang="en-US" altLang="ko-KR" sz="1600" dirty="0">
                <a:solidFill>
                  <a:srgbClr val="494949"/>
                </a:solidFill>
              </a:rPr>
              <a:t>[</a:t>
            </a:r>
            <a:r>
              <a:rPr lang="en-US" altLang="ko-KR" sz="1200" dirty="0">
                <a:solidFill>
                  <a:srgbClr val="494949"/>
                </a:solidFill>
                <a:latin typeface="Consolas" panose="020B0609020204030204" pitchFamily="49" charset="0"/>
              </a:rPr>
              <a:t>0x20_000</a:t>
            </a:r>
            <a:r>
              <a:rPr lang="en-US" altLang="ko-KR" sz="1600" dirty="0">
                <a:solidFill>
                  <a:srgbClr val="494949"/>
                </a:solidFill>
              </a:rPr>
              <a:t>] = 131,072 Byte</a:t>
            </a:r>
            <a:br>
              <a:rPr lang="en-US" altLang="ko-KR" sz="1600" dirty="0">
                <a:solidFill>
                  <a:srgbClr val="494949"/>
                </a:solidFill>
              </a:rPr>
            </a:br>
            <a:r>
              <a:rPr lang="en-US" altLang="ko-KR" sz="1600" dirty="0">
                <a:solidFill>
                  <a:srgbClr val="494949"/>
                </a:solidFill>
              </a:rPr>
              <a:t>Memory Usage 		     = 129,244 Byte</a:t>
            </a:r>
            <a:br>
              <a:rPr lang="en-US" altLang="ko-KR" sz="1600" dirty="0">
                <a:solidFill>
                  <a:srgbClr val="494949"/>
                </a:solidFill>
              </a:rPr>
            </a:br>
            <a:r>
              <a:rPr kumimoji="0" lang="en-US" altLang="ko-KR" sz="16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Free Space</a:t>
            </a:r>
            <a:r>
              <a:rPr kumimoji="0" lang="ko-KR" altLang="en-US" sz="16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 </a:t>
            </a:r>
            <a:r>
              <a:rPr kumimoji="0" lang="en-US" altLang="ko-KR" sz="16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	</a:t>
            </a:r>
            <a:r>
              <a:rPr lang="en-US" altLang="ko-KR" sz="1600" dirty="0">
                <a:solidFill>
                  <a:srgbClr val="494949"/>
                </a:solidFill>
              </a:rPr>
              <a:t>	     </a:t>
            </a:r>
            <a:r>
              <a:rPr kumimoji="0" lang="en-US" altLang="ko-KR" sz="16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=     1,828 </a:t>
            </a:r>
            <a:r>
              <a:rPr lang="en-US" altLang="ko-KR" sz="1600" dirty="0">
                <a:solidFill>
                  <a:srgbClr val="494949"/>
                </a:solidFill>
              </a:rPr>
              <a:t>Byte</a:t>
            </a:r>
            <a:endParaRPr kumimoji="0" lang="ko-KR" altLang="en-US" sz="16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C9A0A7-D02D-CB8B-086B-336E45E2584C}"/>
              </a:ext>
            </a:extLst>
          </p:cNvPr>
          <p:cNvSpPr txBox="1"/>
          <p:nvPr/>
        </p:nvSpPr>
        <p:spPr>
          <a:xfrm>
            <a:off x="7597324" y="8345839"/>
            <a:ext cx="5354864" cy="58477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600" dirty="0">
                <a:solidFill>
                  <a:srgbClr val="494949"/>
                </a:solidFill>
              </a:rPr>
              <a:t>quant_input_1_json_file_raw [</a:t>
            </a:r>
            <a:r>
              <a:rPr lang="en-US" altLang="ko-KR" sz="1200" dirty="0">
                <a:solidFill>
                  <a:srgbClr val="494949"/>
                </a:solidFill>
                <a:latin typeface="Consolas" panose="020B0609020204030204" pitchFamily="49" charset="0"/>
              </a:rPr>
              <a:t>0x23d9</a:t>
            </a:r>
            <a:r>
              <a:rPr lang="en-US" altLang="ko-KR" sz="1600" dirty="0">
                <a:solidFill>
                  <a:srgbClr val="494949"/>
                </a:solidFill>
              </a:rPr>
              <a:t>] 	        ≈   8.96 KiB</a:t>
            </a:r>
            <a:br>
              <a:rPr lang="en-US" altLang="ko-KR" sz="1600" dirty="0">
                <a:solidFill>
                  <a:srgbClr val="494949"/>
                </a:solidFill>
              </a:rPr>
            </a:br>
            <a:r>
              <a:rPr lang="en-US" altLang="ko-KR" sz="1600" dirty="0">
                <a:solidFill>
                  <a:srgbClr val="494949"/>
                </a:solidFill>
              </a:rPr>
              <a:t>FPGA_result_1029_3_json_file_raw [</a:t>
            </a:r>
            <a:r>
              <a:rPr lang="en-US" altLang="ko-KR" sz="1200" dirty="0">
                <a:solidFill>
                  <a:srgbClr val="494949"/>
                </a:solidFill>
                <a:latin typeface="Consolas" panose="020B0609020204030204" pitchFamily="49" charset="0"/>
              </a:rPr>
              <a:t>0x3f71</a:t>
            </a:r>
            <a:r>
              <a:rPr lang="en-US" altLang="ko-KR" sz="1600" dirty="0">
                <a:solidFill>
                  <a:srgbClr val="494949"/>
                </a:solidFill>
              </a:rPr>
              <a:t>] ≈ 15.86 KiB</a:t>
            </a:r>
            <a:endParaRPr kumimoji="0" lang="ko-KR" altLang="en-US" sz="16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397864-4801-0CBE-B96D-A23CC5ECC383}"/>
              </a:ext>
            </a:extLst>
          </p:cNvPr>
          <p:cNvSpPr txBox="1"/>
          <p:nvPr/>
        </p:nvSpPr>
        <p:spPr>
          <a:xfrm>
            <a:off x="361889" y="9137385"/>
            <a:ext cx="2927503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 err="1">
                <a:solidFill>
                  <a:srgbClr val="494949"/>
                </a:solidFill>
              </a:rPr>
              <a:t>objdump</a:t>
            </a:r>
            <a:r>
              <a:rPr lang="en-US" altLang="ko-KR" sz="2400" dirty="0">
                <a:solidFill>
                  <a:srgbClr val="494949"/>
                </a:solidFill>
              </a:rPr>
              <a:t> ELF file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D13D17-43FF-AE15-27ED-1A5D6E95B12A}"/>
              </a:ext>
            </a:extLst>
          </p:cNvPr>
          <p:cNvSpPr txBox="1"/>
          <p:nvPr/>
        </p:nvSpPr>
        <p:spPr>
          <a:xfrm>
            <a:off x="4544869" y="8930614"/>
            <a:ext cx="2266018" cy="830997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kumimoji="0" lang="en-US" altLang="ko-KR" sz="24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Genesys2-eb</a:t>
            </a:r>
            <a:br>
              <a:rPr kumimoji="0" lang="en-US" altLang="ko-KR" sz="24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</a:br>
            <a:r>
              <a:rPr kumimoji="0" lang="en-US" altLang="ko-KR" sz="24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memory tree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277498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49484-2339-D980-AFF8-E25345F34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AxFTL: Exploiting Error Tolerance for Extending Lifetime of NAND Flash Storage">
            <a:extLst>
              <a:ext uri="{FF2B5EF4-FFF2-40B4-BE49-F238E27FC236}">
                <a16:creationId xmlns:a16="http://schemas.microsoft.com/office/drawing/2014/main" id="{24361808-D1E6-E7DA-BFB6-E376B4B007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/>
          </a:bodyPr>
          <a:lstStyle>
            <a:lvl1pPr defTabSz="566674">
              <a:defRPr sz="6305"/>
            </a:lvl1pPr>
          </a:lstStyle>
          <a:p>
            <a:pPr lvl="0" algn="ctr">
              <a:lnSpc>
                <a:spcPct val="100000"/>
              </a:lnSpc>
              <a:defRPr/>
            </a:pPr>
            <a:r>
              <a:rPr lang="en-US" altLang="ko-KR" sz="4000" dirty="0"/>
              <a:t>Tutorial</a:t>
            </a:r>
            <a:endParaRPr lang="ko-KR" altLang="en-US" sz="4000" dirty="0"/>
          </a:p>
        </p:txBody>
      </p:sp>
      <p:sp>
        <p:nvSpPr>
          <p:cNvPr id="83" name="Younghyun Kim…">
            <a:extLst>
              <a:ext uri="{FF2B5EF4-FFF2-40B4-BE49-F238E27FC236}">
                <a16:creationId xmlns:a16="http://schemas.microsoft.com/office/drawing/2014/main" id="{35C67236-0B58-7D3E-27AD-D72D5A835D45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254000" y="6481522"/>
            <a:ext cx="12192000" cy="266630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3500" dirty="0"/>
              <a:t>University of </a:t>
            </a:r>
            <a:r>
              <a:rPr lang="en-US" altLang="ko-KR" sz="3500" dirty="0" err="1"/>
              <a:t>ulsan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/>
              <a:t>Electronical, Electronic and Computer Engineering</a:t>
            </a:r>
            <a:r>
              <a:rPr lang="ko-KR" altLang="en-US" sz="3500" dirty="0"/>
              <a:t> </a:t>
            </a:r>
            <a:endParaRPr lang="en-US" altLang="ko-KR" sz="3500" dirty="0"/>
          </a:p>
          <a:p>
            <a:pPr lvl="0">
              <a:defRPr/>
            </a:pPr>
            <a:r>
              <a:rPr lang="en-US" altLang="ko-KR" sz="3500" dirty="0" err="1"/>
              <a:t>Jaehyeok</a:t>
            </a:r>
            <a:r>
              <a:rPr lang="en-US" altLang="ko-KR" sz="3500" dirty="0"/>
              <a:t> Cho</a:t>
            </a:r>
          </a:p>
        </p:txBody>
      </p:sp>
    </p:spTree>
    <p:extLst>
      <p:ext uri="{BB962C8B-B14F-4D97-AF65-F5344CB8AC3E}">
        <p14:creationId xmlns:p14="http://schemas.microsoft.com/office/powerpoint/2010/main" val="381289628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E29E0-F2D6-FBE3-28F7-3107C1C6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2BCC2D8-A313-194E-7B1D-E2B89151E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21" y="1657673"/>
            <a:ext cx="2810267" cy="17147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BF33F3D-2CC3-BC0E-2DA4-072BE650F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21" y="1868128"/>
            <a:ext cx="1419423" cy="49536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550676C-B539-CAA6-634B-9ECB040B6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11" y="2419256"/>
            <a:ext cx="2133898" cy="22863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4AE1B9C-4225-AC9D-27EF-D0E9871F4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767" y="1574074"/>
            <a:ext cx="3532207" cy="330272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18C011-E4C6-A283-5635-E33B7B9FAC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682" y="5612261"/>
            <a:ext cx="3686689" cy="20005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AA1CCBD-CA09-5D84-E3DC-50126D22B1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682" y="5860918"/>
            <a:ext cx="4182059" cy="20957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D076460-B2C6-E1CA-CEAA-DACBF4D8A8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682" y="6128695"/>
            <a:ext cx="5944430" cy="23815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294D887-1FF5-597E-3CED-D693A020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</p:spPr>
        <p:txBody>
          <a:bodyPr/>
          <a:lstStyle/>
          <a:p>
            <a:r>
              <a:rPr lang="en-US" altLang="ko-KR" sz="3500" dirty="0">
                <a:latin typeface="Consolas" panose="020B0609020204030204" pitchFamily="49" charset="0"/>
              </a:rPr>
              <a:t>Platform &amp; App </a:t>
            </a:r>
            <a:r>
              <a:rPr lang="ko-KR" altLang="en-US" sz="3500" dirty="0">
                <a:latin typeface="Consolas" panose="020B0609020204030204" pitchFamily="49" charset="0"/>
              </a:rPr>
              <a:t>만들기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658264-BD49-D105-BC44-486642F24007}"/>
              </a:ext>
            </a:extLst>
          </p:cNvPr>
          <p:cNvSpPr txBox="1"/>
          <p:nvPr/>
        </p:nvSpPr>
        <p:spPr>
          <a:xfrm>
            <a:off x="0" y="912740"/>
            <a:ext cx="669471" cy="8412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1.</a:t>
            </a:r>
            <a:endParaRPr kumimoji="0" lang="ko-KR" altLang="en-US" sz="2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7" name="액자 6">
            <a:extLst>
              <a:ext uri="{FF2B5EF4-FFF2-40B4-BE49-F238E27FC236}">
                <a16:creationId xmlns:a16="http://schemas.microsoft.com/office/drawing/2014/main" id="{3D363E99-A304-2F33-71F7-612EA339232C}"/>
              </a:ext>
            </a:extLst>
          </p:cNvPr>
          <p:cNvSpPr/>
          <p:nvPr/>
        </p:nvSpPr>
        <p:spPr>
          <a:xfrm>
            <a:off x="7711767" y="4163785"/>
            <a:ext cx="1053193" cy="216829"/>
          </a:xfrm>
          <a:prstGeom prst="frame">
            <a:avLst>
              <a:gd name="adj1" fmla="val 0"/>
            </a:avLst>
          </a:prstGeom>
          <a:solidFill>
            <a:srgbClr val="00B050"/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11" name="액자 10">
            <a:extLst>
              <a:ext uri="{FF2B5EF4-FFF2-40B4-BE49-F238E27FC236}">
                <a16:creationId xmlns:a16="http://schemas.microsoft.com/office/drawing/2014/main" id="{0FDCDA46-8E88-DFAE-1EBE-442A812F1F0C}"/>
              </a:ext>
            </a:extLst>
          </p:cNvPr>
          <p:cNvSpPr/>
          <p:nvPr/>
        </p:nvSpPr>
        <p:spPr>
          <a:xfrm>
            <a:off x="8764960" y="1582447"/>
            <a:ext cx="2479014" cy="3213866"/>
          </a:xfrm>
          <a:prstGeom prst="frame">
            <a:avLst>
              <a:gd name="adj1" fmla="val 0"/>
            </a:avLst>
          </a:prstGeom>
          <a:solidFill>
            <a:srgbClr val="00B050"/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F3EF978-A328-E109-D9FC-05F420457921}"/>
              </a:ext>
            </a:extLst>
          </p:cNvPr>
          <p:cNvCxnSpPr>
            <a:stCxn id="7" idx="1"/>
            <a:endCxn id="10" idx="3"/>
          </p:cNvCxnSpPr>
          <p:nvPr/>
        </p:nvCxnSpPr>
        <p:spPr>
          <a:xfrm flipH="1" flipV="1">
            <a:off x="2794409" y="2533572"/>
            <a:ext cx="4917358" cy="1738628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miter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2012C94-10DA-10CB-9083-94D181B313C2}"/>
              </a:ext>
            </a:extLst>
          </p:cNvPr>
          <p:cNvSpPr txBox="1"/>
          <p:nvPr/>
        </p:nvSpPr>
        <p:spPr>
          <a:xfrm>
            <a:off x="2368300" y="2978575"/>
            <a:ext cx="5034612" cy="64633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construct my own system memory tree.</a:t>
            </a:r>
            <a:b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Copy from original hello file.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3CFCE1-2F42-6C41-95E8-D67931724C27}"/>
              </a:ext>
            </a:extLst>
          </p:cNvPr>
          <p:cNvSpPr txBox="1"/>
          <p:nvPr/>
        </p:nvSpPr>
        <p:spPr>
          <a:xfrm>
            <a:off x="34701" y="4764577"/>
            <a:ext cx="669471" cy="8412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2.</a:t>
            </a:r>
            <a:endParaRPr kumimoji="0" lang="ko-KR" altLang="en-US" sz="2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560532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E3160-3133-F04E-47FC-20709F4B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6C7EB03-02AB-B9F9-6A30-A16C7E506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8" y="2679157"/>
            <a:ext cx="5773965" cy="47444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D024088-294B-C921-F804-D5C8881C3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2004450"/>
            <a:ext cx="5514053" cy="3428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51651DE-65D8-A467-FEC2-1370C7BEDC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8970"/>
          <a:stretch>
            <a:fillRect/>
          </a:stretch>
        </p:blipFill>
        <p:spPr>
          <a:xfrm>
            <a:off x="691252" y="3510198"/>
            <a:ext cx="2857899" cy="161881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AEC9D39-0D5C-46AD-00FA-C7E477019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3349" y="4302687"/>
            <a:ext cx="4375703" cy="353889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63793C8-26E1-FDD3-2FE9-9AD653627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</p:spPr>
        <p:txBody>
          <a:bodyPr/>
          <a:lstStyle/>
          <a:p>
            <a:r>
              <a:rPr lang="en-US" altLang="ko-KR" sz="3500" dirty="0" err="1">
                <a:latin typeface="Consolas" panose="020B0609020204030204" pitchFamily="49" charset="0"/>
              </a:rPr>
              <a:t>Fakefile</a:t>
            </a:r>
            <a:r>
              <a:rPr lang="en-US" altLang="ko-KR" sz="3500" dirty="0">
                <a:latin typeface="Consolas" panose="020B0609020204030204" pitchFamily="49" charset="0"/>
              </a:rPr>
              <a:t> </a:t>
            </a:r>
            <a:r>
              <a:rPr lang="ko-KR" altLang="en-US" sz="3500" dirty="0">
                <a:latin typeface="Consolas" panose="020B0609020204030204" pitchFamily="49" charset="0"/>
              </a:rPr>
              <a:t>만들기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2ED634-E666-82A1-2E30-748B01BD2742}"/>
              </a:ext>
            </a:extLst>
          </p:cNvPr>
          <p:cNvSpPr txBox="1"/>
          <p:nvPr/>
        </p:nvSpPr>
        <p:spPr>
          <a:xfrm>
            <a:off x="406399" y="1323913"/>
            <a:ext cx="3969657" cy="5232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What we want to make</a:t>
            </a:r>
            <a:endParaRPr kumimoji="0" lang="ko-KR" altLang="en-US" sz="2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F9AEA59D-D079-54F1-F96C-EBF83B692086}"/>
              </a:ext>
            </a:extLst>
          </p:cNvPr>
          <p:cNvSpPr/>
          <p:nvPr/>
        </p:nvSpPr>
        <p:spPr>
          <a:xfrm>
            <a:off x="2937167" y="2347371"/>
            <a:ext cx="356214" cy="314572"/>
          </a:xfrm>
          <a:prstGeom prst="downArrow">
            <a:avLst>
              <a:gd name="adj1" fmla="val 21428"/>
              <a:gd name="adj2" fmla="val 42580"/>
            </a:avLst>
          </a:prstGeom>
          <a:solidFill>
            <a:srgbClr val="00B050"/>
          </a:solidFill>
          <a:ln w="25400" cap="flat">
            <a:solidFill>
              <a:srgbClr val="00B05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BB079B8-5C49-0B56-63E9-EC88AEF5C7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3349" y="3973664"/>
            <a:ext cx="5251451" cy="16065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591FDD2-589E-0203-99D3-40447252E9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10" t="58095" r="1310" b="36096"/>
          <a:stretch>
            <a:fillRect/>
          </a:stretch>
        </p:blipFill>
        <p:spPr>
          <a:xfrm>
            <a:off x="633243" y="5164386"/>
            <a:ext cx="2857899" cy="18425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B021132-8B3E-F7C2-6C78-C27C3F773F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243" y="6286480"/>
            <a:ext cx="5724068" cy="65605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BFBEC8C-CF86-8795-4842-E40D13E08D62}"/>
              </a:ext>
            </a:extLst>
          </p:cNvPr>
          <p:cNvSpPr txBox="1"/>
          <p:nvPr/>
        </p:nvSpPr>
        <p:spPr>
          <a:xfrm>
            <a:off x="1593892" y="5438616"/>
            <a:ext cx="5034612" cy="369332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Paste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your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source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text/</a:t>
            </a:r>
            <a:r>
              <a:rPr lang="en-US" altLang="ko-KR" sz="1800" dirty="0" err="1">
                <a:solidFill>
                  <a:srgbClr val="494949"/>
                </a:solidFill>
                <a:latin typeface="Consolas" panose="020B0609020204030204" pitchFamily="49" charset="0"/>
              </a:rPr>
              <a:t>json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file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here.</a:t>
            </a:r>
            <a:endParaRPr kumimoji="0" lang="ko-KR" altLang="en-US" sz="1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Consolas" panose="020B0609020204030204" pitchFamily="49" charset="0"/>
              <a:sym typeface="Arial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4C267E9-9D11-A49B-C852-3C91BA9D0733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1593891" y="5360366"/>
            <a:ext cx="1" cy="262916"/>
          </a:xfrm>
          <a:prstGeom prst="straightConnector1">
            <a:avLst/>
          </a:prstGeom>
          <a:noFill/>
          <a:ln w="38100" cap="flat">
            <a:solidFill>
              <a:srgbClr val="00B050"/>
            </a:solidFill>
            <a:prstDash val="solid"/>
            <a:miter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893BFD4-CBA3-F49A-693F-1C9DA3E221EE}"/>
              </a:ext>
            </a:extLst>
          </p:cNvPr>
          <p:cNvCxnSpPr>
            <a:cxnSpLocks/>
          </p:cNvCxnSpPr>
          <p:nvPr/>
        </p:nvCxnSpPr>
        <p:spPr>
          <a:xfrm>
            <a:off x="-15829" y="3216729"/>
            <a:ext cx="12841922" cy="0"/>
          </a:xfrm>
          <a:prstGeom prst="line">
            <a:avLst/>
          </a:prstGeom>
          <a:noFill/>
          <a:ln w="57150" cap="flat">
            <a:solidFill>
              <a:srgbClr val="00B05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03C3121-547A-EA6B-D2F2-6E39476EAE07}"/>
              </a:ext>
            </a:extLst>
          </p:cNvPr>
          <p:cNvGrpSpPr/>
          <p:nvPr/>
        </p:nvGrpSpPr>
        <p:grpSpPr>
          <a:xfrm>
            <a:off x="1014248" y="6992297"/>
            <a:ext cx="2232003" cy="2716151"/>
            <a:chOff x="748428" y="7037449"/>
            <a:chExt cx="2232003" cy="2716151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892ACD41-E131-A12A-70A7-B957C7D59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8428" y="7037449"/>
              <a:ext cx="2232003" cy="2716151"/>
            </a:xfrm>
            <a:prstGeom prst="rect">
              <a:avLst/>
            </a:prstGeom>
          </p:spPr>
        </p:pic>
        <p:sp>
          <p:nvSpPr>
            <p:cNvPr id="25" name="왼쪽 중괄호 24">
              <a:extLst>
                <a:ext uri="{FF2B5EF4-FFF2-40B4-BE49-F238E27FC236}">
                  <a16:creationId xmlns:a16="http://schemas.microsoft.com/office/drawing/2014/main" id="{9BA77601-5F45-A7A9-2182-8860EC1D64B2}"/>
                </a:ext>
              </a:extLst>
            </p:cNvPr>
            <p:cNvSpPr/>
            <p:nvPr/>
          </p:nvSpPr>
          <p:spPr>
            <a:xfrm>
              <a:off x="748428" y="8695113"/>
              <a:ext cx="282350" cy="718357"/>
            </a:xfrm>
            <a:prstGeom prst="leftBrace">
              <a:avLst>
                <a:gd name="adj1" fmla="val 63605"/>
                <a:gd name="adj2" fmla="val 50000"/>
              </a:avLst>
            </a:prstGeom>
            <a:noFill/>
            <a:ln w="57150" cap="flat">
              <a:solidFill>
                <a:srgbClr val="00B05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1800" b="0" i="0" u="none" strike="noStrike" cap="none" spc="0" normalizeH="0" baseline="0">
                <a:solidFill>
                  <a:srgbClr val="000000"/>
                </a:solidFill>
                <a:effectLst/>
                <a:uFillTx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957690F-D6B7-8E53-E2C4-021C75C3A03E}"/>
              </a:ext>
            </a:extLst>
          </p:cNvPr>
          <p:cNvSpPr txBox="1"/>
          <p:nvPr/>
        </p:nvSpPr>
        <p:spPr>
          <a:xfrm>
            <a:off x="-164194" y="3092954"/>
            <a:ext cx="669471" cy="8412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1.</a:t>
            </a:r>
            <a:endParaRPr kumimoji="0" lang="ko-KR" altLang="en-US" sz="2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5DF509-3148-90A4-F217-E5B9A0559F6E}"/>
              </a:ext>
            </a:extLst>
          </p:cNvPr>
          <p:cNvSpPr txBox="1"/>
          <p:nvPr/>
        </p:nvSpPr>
        <p:spPr>
          <a:xfrm>
            <a:off x="-106572" y="6072132"/>
            <a:ext cx="669471" cy="8412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2.</a:t>
            </a:r>
            <a:endParaRPr kumimoji="0" lang="ko-KR" altLang="en-US" sz="2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809720-463C-99F2-82BD-4F5ECFB49BB7}"/>
              </a:ext>
            </a:extLst>
          </p:cNvPr>
          <p:cNvSpPr txBox="1"/>
          <p:nvPr/>
        </p:nvSpPr>
        <p:spPr>
          <a:xfrm>
            <a:off x="7192300" y="3478351"/>
            <a:ext cx="669471" cy="8412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b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3.</a:t>
            </a:r>
            <a:endParaRPr kumimoji="0" lang="ko-KR" altLang="en-US" sz="2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32" name="액자 31">
            <a:extLst>
              <a:ext uri="{FF2B5EF4-FFF2-40B4-BE49-F238E27FC236}">
                <a16:creationId xmlns:a16="http://schemas.microsoft.com/office/drawing/2014/main" id="{EEA87B6E-794A-73A5-70C4-4431295D2F1C}"/>
              </a:ext>
            </a:extLst>
          </p:cNvPr>
          <p:cNvSpPr/>
          <p:nvPr/>
        </p:nvSpPr>
        <p:spPr>
          <a:xfrm>
            <a:off x="9357130" y="4947557"/>
            <a:ext cx="1231949" cy="216829"/>
          </a:xfrm>
          <a:prstGeom prst="frame">
            <a:avLst>
              <a:gd name="adj1" fmla="val 0"/>
            </a:avLst>
          </a:prstGeom>
          <a:solidFill>
            <a:srgbClr val="00B050"/>
          </a:solidFill>
          <a:ln w="25400" cap="flat">
            <a:solidFill>
              <a:srgbClr val="00B05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B4E17E98-EF64-DFE7-581B-DF8A9830632C}"/>
              </a:ext>
            </a:extLst>
          </p:cNvPr>
          <p:cNvSpPr/>
          <p:nvPr/>
        </p:nvSpPr>
        <p:spPr>
          <a:xfrm>
            <a:off x="10592644" y="4985666"/>
            <a:ext cx="293914" cy="143350"/>
          </a:xfrm>
          <a:prstGeom prst="rightArrow">
            <a:avLst/>
          </a:prstGeom>
          <a:solidFill>
            <a:srgbClr val="00B050"/>
          </a:solidFill>
          <a:ln w="25400" cap="flat">
            <a:solidFill>
              <a:srgbClr val="00B05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314DAE7-4670-77CA-B653-572A09756C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49823" y="4917839"/>
            <a:ext cx="1800476" cy="27626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B63C03F-39FB-A115-485C-2B22467E4A68}"/>
              </a:ext>
            </a:extLst>
          </p:cNvPr>
          <p:cNvSpPr txBox="1"/>
          <p:nvPr/>
        </p:nvSpPr>
        <p:spPr>
          <a:xfrm>
            <a:off x="8279815" y="7879686"/>
            <a:ext cx="3322770" cy="369332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Un-comment (</a:t>
            </a:r>
            <a:r>
              <a:rPr kumimoji="0" lang="ko-KR" altLang="en-US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주석 제거</a:t>
            </a:r>
            <a:r>
              <a:rPr kumimoji="0" lang="en-US" altLang="ko-KR" sz="1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)</a:t>
            </a:r>
            <a:endParaRPr kumimoji="0" lang="ko-KR" altLang="en-US" sz="1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Consolas" panose="020B0609020204030204" pitchFamily="49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294568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34F20D9-9C78-EBE5-6EB9-17D640411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809" y="8614133"/>
            <a:ext cx="4382112" cy="9716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969F14-362E-FE6E-F7E0-7BC9DE0CF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30" y="8842765"/>
            <a:ext cx="1648055" cy="51442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0891518-2F50-C5C4-8B66-D28D5E665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</p:spPr>
        <p:txBody>
          <a:bodyPr/>
          <a:lstStyle/>
          <a:p>
            <a:r>
              <a:rPr lang="en-US" altLang="ko-KR" sz="3500" dirty="0" err="1">
                <a:latin typeface="Consolas" panose="020B0609020204030204" pitchFamily="49" charset="0"/>
              </a:rPr>
              <a:t>Fakefile</a:t>
            </a:r>
            <a:r>
              <a:rPr lang="en-US" altLang="ko-KR" sz="3500" dirty="0">
                <a:latin typeface="Consolas" panose="020B0609020204030204" pitchFamily="49" charset="0"/>
              </a:rPr>
              <a:t> </a:t>
            </a:r>
            <a:r>
              <a:rPr lang="ko-KR" altLang="en-US" sz="3500" dirty="0">
                <a:latin typeface="Consolas" panose="020B0609020204030204" pitchFamily="49" charset="0"/>
              </a:rPr>
              <a:t>읽기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CEDD08-EC2C-1EEF-F162-5D9959BED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74" y="2716240"/>
            <a:ext cx="4650940" cy="37600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BDF5B36-DDC2-03DE-B196-F3B9D17D5B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174" y="1344106"/>
            <a:ext cx="5001323" cy="20957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FEE698D-5134-4E26-F096-87AF6FCD01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174" y="1597707"/>
            <a:ext cx="3116083" cy="10745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FF4583-5096-D7D4-5EA6-0CD2B5F1E5E6}"/>
              </a:ext>
            </a:extLst>
          </p:cNvPr>
          <p:cNvSpPr txBox="1"/>
          <p:nvPr/>
        </p:nvSpPr>
        <p:spPr>
          <a:xfrm>
            <a:off x="310930" y="8090913"/>
            <a:ext cx="3969657" cy="5232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28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Error shooting</a:t>
            </a:r>
            <a:endParaRPr kumimoji="0" lang="ko-KR" altLang="en-US" sz="28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2F2E287-AABE-EF3B-8D9B-29D08FA89D3A}"/>
              </a:ext>
            </a:extLst>
          </p:cNvPr>
          <p:cNvCxnSpPr>
            <a:cxnSpLocks/>
          </p:cNvCxnSpPr>
          <p:nvPr/>
        </p:nvCxnSpPr>
        <p:spPr>
          <a:xfrm>
            <a:off x="0" y="7960179"/>
            <a:ext cx="7323364" cy="0"/>
          </a:xfrm>
          <a:prstGeom prst="line">
            <a:avLst/>
          </a:prstGeom>
          <a:noFill/>
          <a:ln w="57150" cap="flat">
            <a:solidFill>
              <a:srgbClr val="00B05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</p:spTree>
    <p:extLst>
      <p:ext uri="{BB962C8B-B14F-4D97-AF65-F5344CB8AC3E}">
        <p14:creationId xmlns:p14="http://schemas.microsoft.com/office/powerpoint/2010/main" val="377472797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3616B4C-26E7-519D-35C2-22FBAFE4C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7" y="1607686"/>
            <a:ext cx="10661414" cy="7294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F91DDD4-7885-4660-3EFA-8B36BCA57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87" y="1318358"/>
            <a:ext cx="8650845" cy="23492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39CAC56-8AC6-8B5F-0993-353AF70AA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87" y="2435044"/>
            <a:ext cx="12690068" cy="332128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588D3745-17FF-C724-F2CA-35583CE27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</p:spPr>
        <p:txBody>
          <a:bodyPr/>
          <a:lstStyle/>
          <a:p>
            <a:r>
              <a:rPr lang="en-US" altLang="ko-KR" sz="3500" dirty="0">
                <a:latin typeface="Consolas" panose="020B0609020204030204" pitchFamily="49" charset="0"/>
              </a:rPr>
              <a:t>elf file</a:t>
            </a:r>
            <a:endParaRPr lang="ko-KR" altLang="en-US" sz="3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26639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New_Template7">
  <a:themeElements>
    <a:clrScheme name="New_Template7">
      <a:dk1>
        <a:srgbClr val="494949"/>
      </a:dk1>
      <a:lt1>
        <a:srgbClr val="222222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Avenir Next Regular"/>
        <a:ea typeface="Avenir Next Regular"/>
        <a:cs typeface="Avenir Next Regular"/>
      </a:majorFont>
      <a:minorFont>
        <a:latin typeface="Arial"/>
        <a:ea typeface="Arial"/>
        <a:cs typeface="Arial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5B5854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2800" b="0" i="0" u="none" strike="noStrike" cap="all" spc="0" normalizeH="0" baseline="0">
            <a:solidFill>
              <a:srgbClr val="838787"/>
            </a:solidFill>
            <a:effectLst/>
            <a:uFillTx/>
            <a:latin typeface="DIN Condensed Bold"/>
            <a:ea typeface="DIN Condensed Bold"/>
            <a:cs typeface="DIN Condensed Bold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spDef>
    <a:lnDef>
      <a:spPr>
        <a:noFill/>
        <a:ln w="25400" cap="flat">
          <a:solidFill>
            <a:schemeClr val="accent1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lnDef>
    <a:txDef>
      <a:spPr>
        <a:noFill/>
        <a:ln w="12700" cap="flat">
          <a:noFill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FontTx/>
          <a:buNone/>
          <a:defRPr kumimoji="0" sz="2800" b="0" i="0" u="none" strike="noStrike" cap="none" spc="0" normalizeH="0" baseline="0">
            <a:solidFill>
              <a:srgbClr val="49494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txDef>
  </a:objectDefaults>
  <a:extraClrSchemeLst/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Avenir Next Regular"/>
        <a:ea typeface="Avenir Next Regular"/>
        <a:cs typeface="Avenir Next Regular"/>
      </a:majorFont>
      <a:minorFont>
        <a:latin typeface="Arial"/>
        <a:ea typeface="Arial"/>
        <a:cs typeface="Arial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5B5854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2800" b="0" i="0" u="none" strike="noStrike" cap="all" spc="0" normalizeH="0" baseline="0">
            <a:solidFill>
              <a:srgbClr val="838787"/>
            </a:solidFill>
            <a:effectLst/>
            <a:uFillTx/>
            <a:latin typeface="DIN Condensed Bold"/>
            <a:ea typeface="DIN Condensed Bold"/>
            <a:cs typeface="DIN Condensed Bold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spDef>
    <a:lnDef>
      <a:spPr>
        <a:noFill/>
        <a:ln w="25400" cap="flat">
          <a:solidFill>
            <a:schemeClr val="accent1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lnDef>
    <a:txDef>
      <a:spPr>
        <a:noFill/>
        <a:ln w="12700" cap="flat">
          <a:noFill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FontTx/>
          <a:buNone/>
          <a:defRPr kumimoji="0" sz="2800" b="0" i="0" u="none" strike="noStrike" cap="none" spc="0" normalizeH="0" baseline="0">
            <a:solidFill>
              <a:srgbClr val="49494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132188</TotalTime>
  <Words>567</Words>
  <Application>Microsoft Office PowerPoint</Application>
  <PresentationFormat>사용자 지정</PresentationFormat>
  <Paragraphs>80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DIN Alternate Bold</vt:lpstr>
      <vt:lpstr>DIN Condensed Bold</vt:lpstr>
      <vt:lpstr>맑은 고딕</vt:lpstr>
      <vt:lpstr>Arial</vt:lpstr>
      <vt:lpstr>Consolas</vt:lpstr>
      <vt:lpstr>Tahoma</vt:lpstr>
      <vt:lpstr>Times New Roman</vt:lpstr>
      <vt:lpstr>Wingdings</vt:lpstr>
      <vt:lpstr>New_Template7</vt:lpstr>
      <vt:lpstr>PureC-Mamba on Genesys2-eb [ Internal Use ]</vt:lpstr>
      <vt:lpstr>C-Mamba</vt:lpstr>
      <vt:lpstr>Porting PureC-Mamba from C-Mamba</vt:lpstr>
      <vt:lpstr>PowerPoint 프레젠테이션</vt:lpstr>
      <vt:lpstr>PureC-Mamba</vt:lpstr>
      <vt:lpstr>PureC-Mamba on Genesys2-eb [ External Use ]</vt:lpstr>
      <vt:lpstr>PureC-Mamba</vt:lpstr>
      <vt:lpstr>Porting PureC-Mamba</vt:lpstr>
      <vt:lpstr>Tutorial</vt:lpstr>
      <vt:lpstr>Platform &amp; App 만들기</vt:lpstr>
      <vt:lpstr>Fakefile 만들기</vt:lpstr>
      <vt:lpstr>Fakefile 읽기</vt:lpstr>
      <vt:lpstr>elf file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Processor System with Zynq</dc:title>
  <dc:creator>Jaehyun</dc:creator>
  <cp:lastModifiedBy>조재혁</cp:lastModifiedBy>
  <cp:revision>3072</cp:revision>
  <dcterms:modified xsi:type="dcterms:W3CDTF">2026-06-09T08:02:15Z</dcterms:modified>
  <cp:version>1000.0000.01</cp:version>
</cp:coreProperties>
</file>
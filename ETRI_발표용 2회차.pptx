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8" r:id="rId1"/>
  </p:sldMasterIdLst>
  <p:notesMasterIdLst>
    <p:notesMasterId r:id="rId12"/>
  </p:notesMasterIdLst>
  <p:handoutMasterIdLst>
    <p:handoutMasterId r:id="rId13"/>
  </p:handoutMasterIdLst>
  <p:sldIdLst>
    <p:sldId id="476" r:id="rId2"/>
    <p:sldId id="1091" r:id="rId3"/>
    <p:sldId id="1100" r:id="rId4"/>
    <p:sldId id="1101" r:id="rId5"/>
    <p:sldId id="1102" r:id="rId6"/>
    <p:sldId id="1099" r:id="rId7"/>
    <p:sldId id="1104" r:id="rId8"/>
    <p:sldId id="1093" r:id="rId9"/>
    <p:sldId id="1096" r:id="rId10"/>
    <p:sldId id="1098" r:id="rId11"/>
  </p:sldIdLst>
  <p:sldSz cx="13004800" cy="9753600"/>
  <p:notesSz cx="7099300" cy="102346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1800" b="0" i="0" u="none" strike="noStrike" cap="none" spc="0" normalizeH="0" baseline="0"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FontTx/>
      <a:buNone/>
      <a:defRPr kumimoji="0" sz="2800" b="0" i="0" u="none" strike="noStrike" cap="none" spc="0" normalizeH="0" baseline="0">
        <a:solidFill>
          <a:srgbClr val="494949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1">
          <p15:clr>
            <a:srgbClr val="A4A3A4"/>
          </p15:clr>
        </p15:guide>
        <p15:guide id="2" pos="40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D09403-A110-087A-D73C-0A2C9D25C75A}" name="이상완" initials="전이" userId="S::lso500@mail.ulsan.ac.kr::96b8e34a-8cbc-4d1c-bc14-d555da540f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6EFCE"/>
    <a:srgbClr val="7F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C3C2611-4C71-4FC5-86AE-919BDF0F9419}" styleName=""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0"/>
              <a:lumOff val="-7250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Row>
  </a:tblStyle>
  <a:tblStyle styleId="{EEE7283C-3CF3-47DC-8721-378D4A62B228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chemeClr val="accent5">
              <a:hueOff val="-239254"/>
              <a:lumOff val="-1400"/>
            </a:schemeClr>
          </a:solidFill>
        </a:fill>
      </a:tcStyle>
    </a:firstRow>
  </a:tblStyle>
  <a:tblStyle styleId="{2708684C-4D16-4618-839F-0558EEFCDFE6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/>
            </a:ln>
          </a:left>
          <a:right>
            <a:ln w="25400" cap="flat">
              <a:solidFill>
                <a:srgbClr val="5F6568"/>
              </a:solidFill>
              <a:prstDash val="solid"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63500" cap="flat">
              <a:solidFill>
                <a:srgbClr val="5F6568"/>
              </a:solidFill>
              <a:prstDash val="solid"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/>
            </a:ln>
          </a:left>
          <a:right>
            <a:ln w="25400" cap="flat">
              <a:solidFill>
                <a:srgbClr val="5F6568"/>
              </a:solidFill>
              <a:prstDash val="solid"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25400" cap="flat">
              <a:solidFill>
                <a:srgbClr val="5F6568"/>
              </a:solidFill>
              <a:prstDash val="solid"/>
              <a:miter/>
            </a:ln>
          </a:insideV>
        </a:tcBdr>
        <a:fill>
          <a:noFill/>
        </a:fill>
      </a:tcStyle>
    </a:firstRow>
  </a:tblStyle>
  <a:tblStyle styleId="{33BA23B1-9221-436E-865A-0063620EA4FD}" styleName=""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222222"/>
              </a:solidFill>
              <a:prstDash val="solid"/>
              <a:miter/>
            </a:ln>
          </a:top>
          <a:bottom>
            <a:ln w="254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/>
            </a:ln>
          </a:left>
          <a:right>
            <a:ln w="63500" cap="flat">
              <a:solidFill>
                <a:srgbClr val="222222"/>
              </a:solidFill>
              <a:prstDash val="solid"/>
              <a:miter/>
            </a:ln>
          </a:right>
          <a:top>
            <a:ln w="25400" cap="flat">
              <a:solidFill>
                <a:srgbClr val="222222"/>
              </a:solidFill>
              <a:prstDash val="solid"/>
              <a:miter/>
            </a:ln>
          </a:top>
          <a:bottom>
            <a:ln w="254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63500" cap="flat">
              <a:solidFill>
                <a:srgbClr val="222222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222222"/>
              </a:solidFill>
              <a:prstDash val="solid"/>
              <a:miter/>
            </a:ln>
          </a:bottom>
          <a:insideH>
            <a:ln w="25400" cap="flat">
              <a:solidFill>
                <a:srgbClr val="222222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838787"/>
          </a:solidFill>
        </a:fill>
      </a:tcStyle>
    </a:firstRow>
  </a:tblStyle>
  <a:tblStyle styleId="{CF821DB8-F4EB-4A41-A1BA-3FCAFE7338EE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5F6568"/>
              </a:solidFill>
              <a:prstDash val="solid"/>
              <a:miter/>
            </a:ln>
          </a:top>
          <a:bottom>
            <a:ln w="254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5F6568"/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88900" cap="flat">
              <a:solidFill>
                <a:srgbClr val="5F6568"/>
              </a:solidFill>
              <a:prstDash val="solid"/>
              <a:miter/>
            </a:ln>
          </a:top>
          <a:bottom>
            <a:ln w="12700" cap="flat">
              <a:noFill/>
              <a:miter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63500" cap="flat">
              <a:solidFill>
                <a:srgbClr val="5F6568"/>
              </a:solidFill>
              <a:prstDash val="solid"/>
              <a:miter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147882"/>
          </a:solidFill>
        </a:fill>
      </a:tcStyle>
    </a:firstRow>
  </a:tblStyle>
  <a:tblStyle styleId="{C7B018BB-80A7-4F77-B60F-C8B233D01FF8}" styleName=""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78187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31" autoAdjust="0"/>
    <p:restoredTop sz="86667" autoAdjust="0"/>
  </p:normalViewPr>
  <p:slideViewPr>
    <p:cSldViewPr snapToGrid="0">
      <p:cViewPr varScale="1">
        <p:scale>
          <a:sx n="102" d="100"/>
          <a:sy n="102" d="100"/>
        </p:scale>
        <p:origin x="168" y="126"/>
      </p:cViewPr>
      <p:guideLst>
        <p:guide orient="horz" pos="3071"/>
        <p:guide pos="40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9" d="100"/>
          <a:sy n="109" d="100"/>
        </p:scale>
        <p:origin x="520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4B13CF4-DE26-4643-AC33-BF963B79312C}" type="datetime1">
              <a:rPr lang="ko-KR" altLang="en-US"/>
              <a:pPr lvl="0">
                <a:defRPr/>
              </a:pPr>
              <a:t>2026-07-06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D23B328-7739-49F3-9BFC-8E2CCC17EB8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9938"/>
            <a:ext cx="5114925" cy="3835400"/>
          </a:xfrm>
          <a:prstGeom prst="rect">
            <a:avLst/>
          </a:prstGeom>
        </p:spPr>
        <p:txBody>
          <a:bodyPr lIns="99040" tIns="49521" rIns="99040" bIns="49521"/>
          <a:lstStyle/>
          <a:p>
            <a:pPr lvl="0">
              <a:defRPr/>
            </a:pPr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46575" y="4861442"/>
            <a:ext cx="5206153" cy="4605576"/>
          </a:xfrm>
          <a:prstGeom prst="rect">
            <a:avLst/>
          </a:prstGeom>
        </p:spPr>
        <p:txBody>
          <a:bodyPr lIns="99040" tIns="49521" rIns="99040" bIns="49521"/>
          <a:lstStyle/>
          <a:p>
            <a:pPr lvl="0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1pPr>
    <a:lvl2pPr indent="2286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2pPr>
    <a:lvl3pPr indent="4572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3pPr>
    <a:lvl4pPr indent="6858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4pPr>
    <a:lvl5pPr indent="9144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5pPr>
    <a:lvl6pPr indent="11430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6pPr>
    <a:lvl7pPr indent="13716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7pPr>
    <a:lvl8pPr indent="16002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8pPr>
    <a:lvl9pPr indent="1828800" defTabSz="457200" latinLnBrk="0">
      <a:lnSpc>
        <a:spcPct val="125000"/>
      </a:lnSpc>
      <a:defRPr sz="2000">
        <a:latin typeface="Times New Roman"/>
        <a:ea typeface="Times New Roman"/>
        <a:cs typeface="Times New Roman"/>
        <a:sym typeface="Times New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56E1A3-E917-4907-B9DC-481FD19AB619}" type="slidenum">
              <a:rPr kumimoji="0" lang="ko-KR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ctr" defTabSz="584200" rtl="0" eaLnBrk="1" fontAlgn="auto" latinLnBrk="0" hangingPunct="0">
                <a:lnSpc>
                  <a:spcPct val="100000"/>
                </a:lnSpc>
                <a:spcBef>
                  <a:spcPts val="2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2800" b="0" i="0" u="none" strike="noStrike" kern="0" cap="none" spc="0" normalizeH="0" baseline="0" noProof="0">
              <a:ln>
                <a:noFill/>
              </a:ln>
              <a:solidFill>
                <a:srgbClr val="49494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0281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"/>
          <p:cNvSpPr/>
          <p:nvPr/>
        </p:nvSpPr>
        <p:spPr>
          <a:xfrm>
            <a:off x="-1" y="3053125"/>
            <a:ext cx="13004801" cy="2540001"/>
          </a:xfrm>
          <a:prstGeom prst="rect">
            <a:avLst/>
          </a:prstGeom>
          <a:solidFill>
            <a:srgbClr val="00A664"/>
          </a:solidFill>
          <a:ln w="12700">
            <a:miter lim="400000"/>
          </a:ln>
        </p:spPr>
        <p:txBody>
          <a:bodyPr lIns="254000" tIns="254000" rIns="254000" bIns="254000" anchor="ctr"/>
          <a:lstStyle/>
          <a:p>
            <a:pPr algn="l">
              <a:lnSpc>
                <a:spcPct val="80000"/>
              </a:lnSpc>
              <a:spcBef>
                <a:spcPts val="1800"/>
              </a:spcBef>
              <a:defRPr sz="3600">
                <a:solidFill>
                  <a:srgbClr val="FFFFFF"/>
                </a:solidFill>
                <a:latin typeface="+mj-lt"/>
                <a:ea typeface="+mj-ea"/>
                <a:cs typeface="+mj-cs"/>
                <a:sym typeface="Avenir Next Regular"/>
              </a:defRPr>
            </a:pPr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406400" y="3053125"/>
            <a:ext cx="12192000" cy="2540001"/>
          </a:xfrm>
          <a:prstGeom prst="rect">
            <a:avLst/>
          </a:prstGeom>
        </p:spPr>
        <p:txBody>
          <a:bodyPr anchor="t"/>
          <a:lstStyle>
            <a:lvl1pPr>
              <a:spcBef>
                <a:spcPts val="0"/>
              </a:spcBef>
              <a:defRPr sz="8000" cap="none" baseline="0">
                <a:solidFill>
                  <a:srgbClr val="F7F7F7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06400" y="5810962"/>
            <a:ext cx="12192000" cy="2666307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2700"/>
              </a:spcBef>
              <a:buClrTx/>
              <a:buSzTx/>
              <a:buNone/>
              <a:defRPr sz="45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1400"/>
              </a:spcBef>
              <a:buClrTx/>
              <a:buSzTx/>
              <a:buNone/>
              <a:defRPr sz="2700" cap="smal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IN Alternate Bold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6" name="Location, Year"/>
          <p:cNvSpPr txBox="1">
            <a:spLocks noGrp="1"/>
          </p:cNvSpPr>
          <p:nvPr>
            <p:ph type="body" sz="quarter" idx="13"/>
          </p:nvPr>
        </p:nvSpPr>
        <p:spPr>
          <a:xfrm>
            <a:off x="406400" y="8980785"/>
            <a:ext cx="12192000" cy="453430"/>
          </a:xfrm>
          <a:prstGeom prst="rect">
            <a:avLst/>
          </a:prstGeom>
        </p:spPr>
        <p:txBody>
          <a:bodyPr anchor="b"/>
          <a:lstStyle>
            <a:lvl1pPr marL="0" indent="0" defTabSz="525779">
              <a:lnSpc>
                <a:spcPct val="80000"/>
              </a:lnSpc>
              <a:spcBef>
                <a:spcPts val="2000"/>
              </a:spcBef>
              <a:buClrTx/>
              <a:buSzTx/>
              <a:buNone/>
              <a:defRPr sz="2430" cap="small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Location, Year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94440" y="431800"/>
            <a:ext cx="406898" cy="457200"/>
          </a:xfrm>
          <a:prstGeom prst="rect">
            <a:avLst/>
          </a:prstGeom>
        </p:spPr>
        <p:txBody>
          <a:bodyPr/>
          <a:lstStyle>
            <a:lvl1pPr algn="r">
              <a:lnSpc>
                <a:spcPct val="80000"/>
              </a:lnSpc>
              <a:defRPr sz="2400">
                <a:solidFill>
                  <a:srgbClr val="838787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&amp;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 txBox="1"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400" b="1" cap="none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266741"/>
            <a:ext cx="12192001" cy="7986316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>
              <a:defRPr baseline="0">
                <a:latin typeface="Tahoma" panose="020B0604030504040204" pitchFamily="34" charset="0"/>
                <a:ea typeface="맑은 고딕" panose="020B0503020000020004" pitchFamily="50" charset="-127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360B8AA7-294D-4AB9-A31A-ACF342B11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090"/>
          <a:stretch/>
        </p:blipFill>
        <p:spPr>
          <a:xfrm>
            <a:off x="10544960" y="9329692"/>
            <a:ext cx="2053439" cy="42098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898BBA0-DE45-43B3-A69A-3A258E53729D}"/>
              </a:ext>
            </a:extLst>
          </p:cNvPr>
          <p:cNvCxnSpPr>
            <a:cxnSpLocks/>
          </p:cNvCxnSpPr>
          <p:nvPr userDrawn="1"/>
        </p:nvCxnSpPr>
        <p:spPr>
          <a:xfrm>
            <a:off x="0" y="1090569"/>
            <a:ext cx="13004800" cy="0"/>
          </a:xfrm>
          <a:prstGeom prst="line">
            <a:avLst/>
          </a:prstGeom>
          <a:noFill/>
          <a:ln w="25400" cap="flat">
            <a:solidFill>
              <a:srgbClr val="00A664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2168179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265667"/>
            <a:ext cx="12192001" cy="8012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/>
              <a:t>Body Level One</a:t>
            </a:r>
          </a:p>
          <a:p>
            <a:pPr lvl="1"/>
            <a:r>
              <a:rPr lang="en-US"/>
              <a:t>Body Level Two</a:t>
            </a:r>
          </a:p>
          <a:p>
            <a:pPr lvl="2"/>
            <a:r>
              <a:rPr lang="en-US"/>
              <a:t>Body Level Three</a:t>
            </a:r>
          </a:p>
          <a:p>
            <a:pPr lvl="3"/>
            <a:r>
              <a:rPr lang="en-US"/>
              <a:t>Body Level Four</a:t>
            </a:r>
          </a:p>
          <a:p>
            <a:pPr lvl="4"/>
            <a:r>
              <a:rPr lang="en-US"/>
              <a:t>Body Level Five</a:t>
            </a:r>
            <a:endParaRPr/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360B8AA7-294D-4AB9-A31A-ACF342B117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090"/>
          <a:stretch/>
        </p:blipFill>
        <p:spPr>
          <a:xfrm>
            <a:off x="10544960" y="9329692"/>
            <a:ext cx="2053439" cy="420987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898BBA0-DE45-43B3-A69A-3A258E53729D}"/>
              </a:ext>
            </a:extLst>
          </p:cNvPr>
          <p:cNvCxnSpPr>
            <a:cxnSpLocks/>
          </p:cNvCxnSpPr>
          <p:nvPr userDrawn="1"/>
        </p:nvCxnSpPr>
        <p:spPr>
          <a:xfrm>
            <a:off x="0" y="1090569"/>
            <a:ext cx="13004800" cy="0"/>
          </a:xfrm>
          <a:prstGeom prst="line">
            <a:avLst/>
          </a:prstGeom>
          <a:noFill/>
          <a:ln w="25400" cap="flat">
            <a:solidFill>
              <a:srgbClr val="00A664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Title Text">
            <a:extLst>
              <a:ext uri="{FF2B5EF4-FFF2-40B4-BE49-F238E27FC236}">
                <a16:creationId xmlns:a16="http://schemas.microsoft.com/office/drawing/2014/main" id="{1CD9C1CE-5DD4-BE6B-7617-63ADB6443F1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06400" y="167781"/>
            <a:ext cx="12192000" cy="91102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5400" b="1" cap="none" baseline="0">
                <a:latin typeface="Arial" panose="020B0604020202020204" pitchFamily="34" charset="0"/>
                <a:ea typeface="나눔고딕" pitchFamily="2" charset="-127"/>
              </a:defRPr>
            </a:lvl1pPr>
          </a:lstStyle>
          <a:p>
            <a: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90767721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06400" y="316805"/>
            <a:ext cx="121920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1390054"/>
            <a:ext cx="12192001" cy="7639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2pPr marL="762000" indent="-381000">
              <a:spcBef>
                <a:spcPts val="1200"/>
              </a:spcBef>
              <a:buSzPct val="100000"/>
              <a:buChar char="‣"/>
              <a:defRPr sz="2800"/>
            </a:lvl2pPr>
            <a:lvl3pPr marL="1143000" indent="-381000">
              <a:spcBef>
                <a:spcPts val="800"/>
              </a:spcBef>
              <a:buSzPct val="100000"/>
              <a:defRPr sz="2400"/>
            </a:lvl3pPr>
            <a:lvl4pPr marL="1524000" indent="-381000">
              <a:spcBef>
                <a:spcPts val="400"/>
              </a:spcBef>
              <a:buSzPct val="100000"/>
              <a:buChar char="‣"/>
              <a:defRPr sz="2000"/>
            </a:lvl4pPr>
            <a:lvl5pPr marL="1905000" indent="-381000">
              <a:spcBef>
                <a:spcPts val="0"/>
              </a:spcBef>
              <a:buSzPct val="100000"/>
              <a:defRPr sz="160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28376" y="9334500"/>
            <a:ext cx="333748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spcBef>
                <a:spcPts val="0"/>
              </a:spcBef>
              <a:defRPr sz="1800">
                <a:solidFill>
                  <a:srgbClr val="ADADAD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9" r:id="rId3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5400" b="0" i="0" u="none" strike="noStrike" cap="small" spc="0" baseline="0">
          <a:solidFill>
            <a:srgbClr val="00A664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1pPr>
      <a:lvl2pPr marL="0" marR="0" indent="228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2pPr>
      <a:lvl3pPr marL="0" marR="0" indent="457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3pPr>
      <a:lvl4pPr marL="0" marR="0" indent="685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4pPr>
      <a:lvl5pPr marL="0" marR="0" indent="9144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5pPr>
      <a:lvl6pPr marL="0" marR="0" indent="11430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6pPr>
      <a:lvl7pPr marL="0" marR="0" indent="13716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7pPr>
      <a:lvl8pPr marL="0" marR="0" indent="16002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8pPr>
      <a:lvl9pPr marL="0" marR="0" indent="1828800" algn="l" defTabSz="584200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small" spc="0" baseline="0">
          <a:solidFill>
            <a:srgbClr val="C5050C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9pPr>
    </p:titleStyle>
    <p:bodyStyle>
      <a:lvl1pPr marL="381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100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1pPr>
      <a:lvl2pPr marL="762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2pPr>
      <a:lvl3pPr marL="1143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3pPr>
      <a:lvl4pPr marL="1524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4pPr>
      <a:lvl5pPr marL="1905000" marR="0" indent="-381000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00A664"/>
        </a:buClr>
        <a:buSzPct val="82000"/>
        <a:buFont typeface="Arial" panose="020B0604020202020204" pitchFamily="34" charset="0"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5pPr>
      <a:lvl6pPr marL="2965726" marR="0" indent="-362226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6pPr>
      <a:lvl7pPr marL="34864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7pPr>
      <a:lvl8pPr marL="40071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8pPr>
      <a:lvl9pPr marL="4527825" marR="0" indent="-362225" algn="l" defTabSz="584200" latinLnBrk="0">
        <a:lnSpc>
          <a:spcPct val="100000"/>
        </a:lnSpc>
        <a:spcBef>
          <a:spcPts val="1600"/>
        </a:spcBef>
        <a:spcAft>
          <a:spcPts val="0"/>
        </a:spcAft>
        <a:buClr>
          <a:srgbClr val="9B0000"/>
        </a:buClr>
        <a:buSzPct val="82000"/>
        <a:buFontTx/>
        <a:buChar char="•"/>
        <a:tabLst/>
        <a:defRPr sz="3200" b="0" i="0" u="none" strike="noStrike" cap="none" spc="0" baseline="0">
          <a:solidFill>
            <a:srgbClr val="494949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aehyun@ulsan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6399" y="3041752"/>
            <a:ext cx="12192000" cy="2540001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6600" dirty="0"/>
              <a:t>딥러닝 기반 </a:t>
            </a:r>
            <a:r>
              <a:rPr lang="en-US" altLang="ko-KR" sz="6600" dirty="0"/>
              <a:t>Mamba </a:t>
            </a:r>
            <a:r>
              <a:rPr lang="ko-KR" altLang="en-US" sz="6600" dirty="0"/>
              <a:t>가속 하드웨어 </a:t>
            </a:r>
            <a:r>
              <a:rPr lang="en-US" altLang="ko-KR" sz="6600" dirty="0"/>
              <a:t>IP </a:t>
            </a:r>
            <a:r>
              <a:rPr lang="ko-KR" altLang="en-US" sz="6600" dirty="0"/>
              <a:t>회로 개발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body" sz="half" idx="1"/>
          </p:nvPr>
        </p:nvSpPr>
        <p:spPr>
          <a:xfrm>
            <a:off x="406399" y="6937241"/>
            <a:ext cx="12192000" cy="2666307"/>
          </a:xfrm>
        </p:spPr>
        <p:txBody>
          <a:bodyPr>
            <a:normAutofit/>
          </a:bodyPr>
          <a:lstStyle/>
          <a:p>
            <a:pPr algn="ctr"/>
            <a:r>
              <a:rPr lang="en-US" altLang="ko-KR" sz="2800" dirty="0">
                <a:latin typeface="+mn-lt"/>
              </a:rPr>
              <a:t>University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of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Ulsan</a:t>
            </a:r>
          </a:p>
          <a:p>
            <a:pPr algn="ctr"/>
            <a:r>
              <a:rPr lang="en-US" altLang="ko-KR" sz="2800" dirty="0">
                <a:latin typeface="+mn-lt"/>
              </a:rPr>
              <a:t>School of Electrical Engineering</a:t>
            </a:r>
          </a:p>
          <a:p>
            <a:pPr algn="ctr"/>
            <a:r>
              <a:rPr lang="en-US" altLang="ko-KR" sz="2800" dirty="0">
                <a:latin typeface="+mn-lt"/>
              </a:rPr>
              <a:t>Jaehyun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Park</a:t>
            </a:r>
          </a:p>
          <a:p>
            <a:pPr algn="ctr"/>
            <a:r>
              <a:rPr lang="en-US" altLang="ko-KR" sz="2800" dirty="0">
                <a:latin typeface="+mn-lt"/>
                <a:hlinkClick r:id="rId3"/>
              </a:rPr>
              <a:t>jaehyun@ulsan.ac.kr</a:t>
            </a:r>
            <a:endParaRPr lang="en-US" altLang="ko-KR" sz="2800" dirty="0">
              <a:latin typeface="+mn-lt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14FA5E-9E2A-8B03-6A9E-7CA2590FFB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6399" y="5597987"/>
            <a:ext cx="12192000" cy="704953"/>
          </a:xfrm>
        </p:spPr>
        <p:txBody>
          <a:bodyPr/>
          <a:lstStyle/>
          <a:p>
            <a:pPr algn="ctr"/>
            <a:r>
              <a:rPr lang="ko-KR" altLang="en-US" dirty="0"/>
              <a:t>진행 상황 점검 </a:t>
            </a:r>
            <a:r>
              <a:rPr lang="en-US" altLang="ko-KR" dirty="0"/>
              <a:t>26.07.08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74550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F82E5-E53B-73D7-0F91-A7D96705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DD624-DC7E-BDE4-96C5-8127DF89A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Overview</a:t>
            </a:r>
            <a:endParaRPr lang="ko-KR" altLang="en-US" sz="4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C01D1C-2AC5-0170-BE32-B037172E5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Build </a:t>
            </a:r>
            <a:r>
              <a:rPr lang="ko-KR" altLang="en-US" sz="2800" dirty="0"/>
              <a:t>과정 검증</a:t>
            </a:r>
            <a:endParaRPr lang="en-US" altLang="ko-KR" sz="2800" dirty="0"/>
          </a:p>
          <a:p>
            <a:pPr lvl="1"/>
            <a:r>
              <a:rPr lang="en-US" altLang="ko-KR" sz="2400" dirty="0"/>
              <a:t>Platform</a:t>
            </a:r>
            <a:r>
              <a:rPr lang="ko-KR" altLang="en-US" sz="2400" dirty="0"/>
              <a:t> </a:t>
            </a:r>
            <a:r>
              <a:rPr lang="en-US" altLang="ko-KR" sz="2400" dirty="0"/>
              <a:t>&amp;</a:t>
            </a:r>
            <a:r>
              <a:rPr lang="ko-KR" altLang="en-US" sz="2400" dirty="0"/>
              <a:t> </a:t>
            </a:r>
            <a:r>
              <a:rPr lang="en-US" altLang="ko-KR" sz="2400" dirty="0"/>
              <a:t>App</a:t>
            </a:r>
            <a:r>
              <a:rPr lang="ko-KR" altLang="en-US" sz="2400" dirty="0"/>
              <a:t> 만들기</a:t>
            </a:r>
            <a:endParaRPr lang="en-US" altLang="ko-KR" sz="2400" dirty="0"/>
          </a:p>
          <a:p>
            <a:pPr lvl="1"/>
            <a:r>
              <a:rPr lang="en-US" altLang="ko-KR" sz="2400" dirty="0"/>
              <a:t>Fakefile </a:t>
            </a:r>
            <a:r>
              <a:rPr lang="ko-KR" altLang="en-US" sz="2400" dirty="0"/>
              <a:t>만들기 </a:t>
            </a:r>
            <a:r>
              <a:rPr lang="en-US" altLang="ko-KR" sz="2400" dirty="0"/>
              <a:t>&amp; </a:t>
            </a:r>
            <a:r>
              <a:rPr lang="ko-KR" altLang="en-US" sz="2400" dirty="0"/>
              <a:t>읽기</a:t>
            </a:r>
            <a:endParaRPr lang="en-US" altLang="ko-KR" sz="2400" dirty="0"/>
          </a:p>
          <a:p>
            <a:pPr lvl="1"/>
            <a:r>
              <a:rPr lang="en-US" altLang="ko-KR" sz="2400" dirty="0"/>
              <a:t>RISC-V</a:t>
            </a:r>
            <a:r>
              <a:rPr lang="ko-KR" altLang="en-US" sz="2400" dirty="0"/>
              <a:t> 와 </a:t>
            </a:r>
            <a:r>
              <a:rPr lang="en-US" altLang="ko-KR" sz="2400" dirty="0"/>
              <a:t>RTL IP </a:t>
            </a:r>
            <a:r>
              <a:rPr lang="ko-KR" altLang="en-US" sz="2400" dirty="0"/>
              <a:t>연결</a:t>
            </a:r>
            <a:endParaRPr lang="en-US" altLang="ko-KR" sz="2400" dirty="0"/>
          </a:p>
          <a:p>
            <a:pPr lvl="1"/>
            <a:r>
              <a:rPr lang="en-US" altLang="ko-KR" sz="2400" dirty="0" err="1"/>
              <a:t>ModelSim</a:t>
            </a:r>
            <a:r>
              <a:rPr lang="en-US" altLang="ko-KR" sz="2400" dirty="0"/>
              <a:t> Waveform</a:t>
            </a:r>
          </a:p>
          <a:p>
            <a:r>
              <a:rPr lang="en-US" altLang="ko-KR" sz="2800" dirty="0"/>
              <a:t>Integrated eMamba IP</a:t>
            </a:r>
          </a:p>
          <a:p>
            <a:pPr lvl="1"/>
            <a:r>
              <a:rPr lang="en-US" altLang="ko-KR" sz="2400" dirty="0"/>
              <a:t>eMamba IP </a:t>
            </a:r>
            <a:r>
              <a:rPr lang="ko-KR" altLang="en-US" sz="2400" dirty="0"/>
              <a:t>연결 결과</a:t>
            </a:r>
            <a:endParaRPr lang="en-US" altLang="ko-KR" sz="2400" dirty="0"/>
          </a:p>
          <a:p>
            <a:pPr lvl="1"/>
            <a:r>
              <a:rPr lang="en-US" altLang="ko-KR" sz="2400" dirty="0"/>
              <a:t>Memory Map &amp; IP map Endian</a:t>
            </a:r>
          </a:p>
          <a:p>
            <a:pPr lvl="1"/>
            <a:r>
              <a:rPr lang="en-US" altLang="ko-KR" sz="2400" dirty="0"/>
              <a:t>Synthesis Report</a:t>
            </a:r>
            <a:endParaRPr lang="ko-KR" altLang="ko-KR" sz="2400" dirty="0"/>
          </a:p>
          <a:p>
            <a:pPr lvl="1"/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0841253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E29E0-F2D6-FBE3-28F7-3107C1C6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8F18C011-E4C6-A283-5635-E33B7B9FA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198" y="5491462"/>
            <a:ext cx="3686689" cy="20005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AA1CCBD-CA09-5D84-E3DC-50126D22B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198" y="5744916"/>
            <a:ext cx="4182059" cy="20957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D076460-B2C6-E1CA-CEAA-DACBF4D8A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198" y="6007896"/>
            <a:ext cx="5944430" cy="238158"/>
          </a:xfrm>
          <a:prstGeom prst="rect">
            <a:avLst/>
          </a:prstGeom>
        </p:spPr>
      </p:pic>
      <p:sp>
        <p:nvSpPr>
          <p:cNvPr id="34" name="텍스트 개체 틀 2">
            <a:extLst>
              <a:ext uri="{FF2B5EF4-FFF2-40B4-BE49-F238E27FC236}">
                <a16:creationId xmlns:a16="http://schemas.microsoft.com/office/drawing/2014/main" id="{9ECF9C63-0AE1-FA68-BF40-B5BD4F69D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5667"/>
            <a:ext cx="12192001" cy="8012142"/>
          </a:xfrm>
        </p:spPr>
        <p:txBody>
          <a:bodyPr>
            <a:normAutofit/>
          </a:bodyPr>
          <a:lstStyle/>
          <a:p>
            <a:r>
              <a:rPr lang="en-US" altLang="ko-KR" dirty="0"/>
              <a:t>Platform</a:t>
            </a:r>
            <a:r>
              <a:rPr lang="ko-KR" altLang="en-US" dirty="0"/>
              <a:t> </a:t>
            </a:r>
            <a:r>
              <a:rPr lang="en-US" altLang="ko-KR" dirty="0"/>
              <a:t>&amp; App </a:t>
            </a:r>
            <a:r>
              <a:rPr lang="ko-KR" altLang="en-US" dirty="0"/>
              <a:t>구성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컴파일 </a:t>
            </a:r>
            <a:r>
              <a:rPr lang="en-US" altLang="ko-KR" dirty="0"/>
              <a:t>&amp; </a:t>
            </a:r>
            <a:r>
              <a:rPr lang="ko-KR" altLang="en-US" dirty="0"/>
              <a:t>실행</a:t>
            </a:r>
            <a:endParaRPr lang="ko-KR" altLang="ko-KR" dirty="0"/>
          </a:p>
          <a:p>
            <a:endParaRPr lang="ko-KR" altLang="ko-KR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9E9AEF74-B54A-FED6-E7E4-890D4550BBF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7965" y="9340948"/>
            <a:ext cx="384722" cy="379591"/>
          </a:xfrm>
        </p:spPr>
        <p:txBody>
          <a:bodyPr/>
          <a:lstStyle/>
          <a:p>
            <a:pPr lvl="0"/>
            <a:fld id="{86CB4B4D-7CA3-9044-876B-883B54F8677D}" type="slidenum">
              <a:rPr lang="en-US" altLang="ko-KR" noProof="0" smtClean="0">
                <a:sym typeface="DIN Alternate Bold"/>
              </a:rPr>
              <a:pPr lvl="0"/>
              <a:t>3</a:t>
            </a:fld>
            <a:endParaRPr lang="ko-KR" altLang="en-US" noProof="0">
              <a:sym typeface="DIN Alternate Bold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94D887-1FF5-597E-3CED-D693A020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/>
              <a:t>Platform &amp; App </a:t>
            </a:r>
            <a:r>
              <a:rPr lang="ko-KR" altLang="en-US"/>
              <a:t>만들기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84D6062-82F6-32A4-86E9-0B75883DAA47}"/>
              </a:ext>
            </a:extLst>
          </p:cNvPr>
          <p:cNvGrpSpPr/>
          <p:nvPr/>
        </p:nvGrpSpPr>
        <p:grpSpPr>
          <a:xfrm>
            <a:off x="8668010" y="1333368"/>
            <a:ext cx="4240747" cy="4031759"/>
            <a:chOff x="7711767" y="1574074"/>
            <a:chExt cx="3532207" cy="330272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4AE1B9C-4225-AC9D-27EF-D0E9871F4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11767" y="1574074"/>
              <a:ext cx="3532207" cy="3302726"/>
            </a:xfrm>
            <a:prstGeom prst="rect">
              <a:avLst/>
            </a:prstGeom>
          </p:spPr>
        </p:pic>
        <p:sp>
          <p:nvSpPr>
            <p:cNvPr id="7" name="액자 6">
              <a:extLst>
                <a:ext uri="{FF2B5EF4-FFF2-40B4-BE49-F238E27FC236}">
                  <a16:creationId xmlns:a16="http://schemas.microsoft.com/office/drawing/2014/main" id="{3D363E99-A304-2F33-71F7-612EA339232C}"/>
                </a:ext>
              </a:extLst>
            </p:cNvPr>
            <p:cNvSpPr/>
            <p:nvPr/>
          </p:nvSpPr>
          <p:spPr>
            <a:xfrm>
              <a:off x="7711767" y="4163785"/>
              <a:ext cx="1053193" cy="216829"/>
            </a:xfrm>
            <a:prstGeom prst="frame">
              <a:avLst>
                <a:gd name="adj1" fmla="val 0"/>
              </a:avLst>
            </a:prstGeom>
            <a:solidFill>
              <a:srgbClr val="00B05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  <p:sp>
          <p:nvSpPr>
            <p:cNvPr id="11" name="액자 10">
              <a:extLst>
                <a:ext uri="{FF2B5EF4-FFF2-40B4-BE49-F238E27FC236}">
                  <a16:creationId xmlns:a16="http://schemas.microsoft.com/office/drawing/2014/main" id="{0FDCDA46-8E88-DFAE-1EBE-442A812F1F0C}"/>
                </a:ext>
              </a:extLst>
            </p:cNvPr>
            <p:cNvSpPr/>
            <p:nvPr/>
          </p:nvSpPr>
          <p:spPr>
            <a:xfrm>
              <a:off x="8764960" y="1582447"/>
              <a:ext cx="2479014" cy="3213866"/>
            </a:xfrm>
            <a:prstGeom prst="frame">
              <a:avLst>
                <a:gd name="adj1" fmla="val 0"/>
              </a:avLst>
            </a:prstGeom>
            <a:solidFill>
              <a:srgbClr val="00B050"/>
            </a:solidFill>
            <a:ln w="25400" cap="flat">
              <a:solidFill>
                <a:srgbClr val="FF000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F3EF978-A328-E109-D9FC-05F420457921}"/>
              </a:ext>
            </a:extLst>
          </p:cNvPr>
          <p:cNvCxnSpPr>
            <a:cxnSpLocks/>
            <a:stCxn id="14" idx="1"/>
            <a:endCxn id="18" idx="3"/>
          </p:cNvCxnSpPr>
          <p:nvPr/>
        </p:nvCxnSpPr>
        <p:spPr>
          <a:xfrm flipH="1" flipV="1">
            <a:off x="2971800" y="3250802"/>
            <a:ext cx="5696210" cy="98446"/>
          </a:xfrm>
          <a:prstGeom prst="straightConnector1">
            <a:avLst/>
          </a:prstGeom>
          <a:noFill/>
          <a:ln w="28575" cap="flat">
            <a:solidFill>
              <a:srgbClr val="00B05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2012C94-10DA-10CB-9083-94D181B313C2}"/>
              </a:ext>
            </a:extLst>
          </p:cNvPr>
          <p:cNvSpPr txBox="1"/>
          <p:nvPr/>
        </p:nvSpPr>
        <p:spPr>
          <a:xfrm>
            <a:off x="1784918" y="3623803"/>
            <a:ext cx="6881836" cy="646331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사용할 시스템의 메모리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tree 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구성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.</a:t>
            </a:r>
            <a:b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이 프로젝트의 경우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, 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기존에 있던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hello file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에서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copy.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9AA7C-9EF6-C31F-B7B7-2DD879DA3386}"/>
              </a:ext>
            </a:extLst>
          </p:cNvPr>
          <p:cNvSpPr txBox="1"/>
          <p:nvPr/>
        </p:nvSpPr>
        <p:spPr>
          <a:xfrm>
            <a:off x="704172" y="1958140"/>
            <a:ext cx="4079889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new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PLATFORM_NAME=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1B894-9FA8-FFA4-321E-E78AE6BFD768}"/>
              </a:ext>
            </a:extLst>
          </p:cNvPr>
          <p:cNvSpPr txBox="1"/>
          <p:nvPr/>
        </p:nvSpPr>
        <p:spPr>
          <a:xfrm>
            <a:off x="704172" y="2327472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/app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5D9BDA-06B0-1845-DCE6-B98DB3A6E8CA}"/>
              </a:ext>
            </a:extLst>
          </p:cNvPr>
          <p:cNvSpPr txBox="1"/>
          <p:nvPr/>
        </p:nvSpPr>
        <p:spPr>
          <a:xfrm>
            <a:off x="704172" y="2696804"/>
            <a:ext cx="312487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new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APP_NAME=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9A4257-55B9-25C2-83E9-AAC2AFE6DB17}"/>
              </a:ext>
            </a:extLst>
          </p:cNvPr>
          <p:cNvSpPr txBox="1"/>
          <p:nvPr/>
        </p:nvSpPr>
        <p:spPr>
          <a:xfrm>
            <a:off x="704172" y="3066136"/>
            <a:ext cx="226762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vi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tip_v04.xml</a:t>
            </a:r>
            <a:endParaRPr lang="en-US" altLang="ko-KR" sz="1800" b="1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8D3D7A-2E18-81B5-E241-E5E1A307DB88}"/>
              </a:ext>
            </a:extLst>
          </p:cNvPr>
          <p:cNvSpPr txBox="1"/>
          <p:nvPr/>
        </p:nvSpPr>
        <p:spPr>
          <a:xfrm>
            <a:off x="704172" y="6079170"/>
            <a:ext cx="1550013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87CA9E-256F-6B21-6A72-9D32E46D2EAA}"/>
              </a:ext>
            </a:extLst>
          </p:cNvPr>
          <p:cNvSpPr txBox="1"/>
          <p:nvPr/>
        </p:nvSpPr>
        <p:spPr>
          <a:xfrm>
            <a:off x="704172" y="6434415"/>
            <a:ext cx="1550013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 syn</a:t>
            </a:r>
            <a:endParaRPr lang="en-US" altLang="ko-KR" sz="1800" b="1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AC4634-8730-0154-9853-E5CFB27C616C}"/>
              </a:ext>
            </a:extLst>
          </p:cNvPr>
          <p:cNvSpPr txBox="1"/>
          <p:nvPr/>
        </p:nvSpPr>
        <p:spPr>
          <a:xfrm>
            <a:off x="704172" y="6789660"/>
            <a:ext cx="254215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genesys2-eb</a:t>
            </a:r>
            <a:endParaRPr lang="en-US" altLang="ko-KR" sz="1800" b="1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C0E80A-A499-71C4-961C-9035B26C4ECD}"/>
              </a:ext>
            </a:extLst>
          </p:cNvPr>
          <p:cNvSpPr txBox="1"/>
          <p:nvPr/>
        </p:nvSpPr>
        <p:spPr>
          <a:xfrm>
            <a:off x="704172" y="7144906"/>
            <a:ext cx="423215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imp_genesys2-eb_</a:t>
            </a:r>
            <a:r>
              <a:rPr lang="en-US" altLang="ko-KR" sz="180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2026-06-XX</a:t>
            </a:r>
            <a:endParaRPr lang="en-US" altLang="ko-KR" sz="1800" b="1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E8D04A-0C5C-FCE2-1B63-14DA8E1F80DD}"/>
              </a:ext>
            </a:extLst>
          </p:cNvPr>
          <p:cNvSpPr txBox="1"/>
          <p:nvPr/>
        </p:nvSpPr>
        <p:spPr>
          <a:xfrm>
            <a:off x="704172" y="7500152"/>
            <a:ext cx="423215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 </a:t>
            </a:r>
            <a:r>
              <a:rPr lang="en-US" altLang="ko-KR" sz="1800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v04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.all</a:t>
            </a:r>
            <a:endParaRPr lang="en-US" altLang="ko-KR" sz="1800" b="1">
              <a:solidFill>
                <a:srgbClr val="494949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F7E8BA-2D0E-E536-D832-6D6219690803}"/>
              </a:ext>
            </a:extLst>
          </p:cNvPr>
          <p:cNvSpPr txBox="1"/>
          <p:nvPr/>
        </p:nvSpPr>
        <p:spPr>
          <a:xfrm>
            <a:off x="6973500" y="6349752"/>
            <a:ext cx="3445501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실제 명령어가 사용되는 경로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6053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E3160-3133-F04E-47FC-20709F4B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E4DFDEB-8D5D-3DD8-5A68-ED9CB9CE0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Fakefile </a:t>
            </a:r>
            <a:r>
              <a:rPr lang="ko-KR" altLang="en-US" dirty="0"/>
              <a:t>준비</a:t>
            </a:r>
            <a:endParaRPr lang="ko-KR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Fakefile </a:t>
            </a:r>
            <a:r>
              <a:rPr lang="ko-KR" altLang="en-US" dirty="0"/>
              <a:t>변환</a:t>
            </a:r>
            <a:endParaRPr lang="ko-KR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Fakefile </a:t>
            </a:r>
            <a:r>
              <a:rPr lang="ko-KR" altLang="en-US" dirty="0"/>
              <a:t>적용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3086A0E-A51E-45E5-EBB8-E997026EDB2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7965" y="9340948"/>
            <a:ext cx="384722" cy="379591"/>
          </a:xfrm>
        </p:spPr>
        <p:txBody>
          <a:bodyPr/>
          <a:lstStyle/>
          <a:p>
            <a:pPr lvl="0"/>
            <a:fld id="{86CB4B4D-7CA3-9044-876B-883B54F8677D}" type="slidenum">
              <a:rPr lang="en-US" altLang="ko-KR" noProof="0" smtClean="0">
                <a:sym typeface="DIN Alternate Bold"/>
              </a:rPr>
              <a:pPr lvl="0"/>
              <a:t>4</a:t>
            </a:fld>
            <a:endParaRPr lang="ko-KR" altLang="en-US" noProof="0">
              <a:sym typeface="DIN Alternate Bold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3793C8-26E1-FDD3-2FE9-9AD653627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/>
              <a:t>Fakefile </a:t>
            </a:r>
            <a:r>
              <a:rPr lang="ko-KR" altLang="en-US"/>
              <a:t>만들기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B021132-8B3E-F7C2-6C78-C27C3F773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94" y="5737746"/>
            <a:ext cx="4613513" cy="5287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BFBEC8C-CF86-8795-4842-E40D13E08D62}"/>
              </a:ext>
            </a:extLst>
          </p:cNvPr>
          <p:cNvSpPr txBox="1"/>
          <p:nvPr/>
        </p:nvSpPr>
        <p:spPr>
          <a:xfrm>
            <a:off x="3614408" y="3637531"/>
            <a:ext cx="3589095" cy="36933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ko-KR" altLang="en-US" sz="18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이 경로에 </a:t>
            </a:r>
            <a:r>
              <a:rPr kumimoji="0" lang="en-US" altLang="ko-KR" sz="1800" b="0" i="0" u="none" strike="noStrike" cap="none" spc="0" normalizeH="0" baseline="0" err="1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fileIO</a:t>
            </a:r>
            <a:r>
              <a:rPr kumimoji="0" lang="en-US" altLang="ko-KR" sz="18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source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저장</a:t>
            </a:r>
            <a:endParaRPr kumimoji="0" lang="ko-KR" altLang="en-US" sz="1800" b="0" i="0" u="none" strike="noStrike" cap="none" spc="0" normalizeH="0" baseline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4C267E9-9D11-A49B-C852-3C91BA9D0733}"/>
              </a:ext>
            </a:extLst>
          </p:cNvPr>
          <p:cNvCxnSpPr>
            <a:cxnSpLocks/>
          </p:cNvCxnSpPr>
          <p:nvPr/>
        </p:nvCxnSpPr>
        <p:spPr>
          <a:xfrm flipH="1">
            <a:off x="919689" y="3659520"/>
            <a:ext cx="324507" cy="8015"/>
          </a:xfrm>
          <a:prstGeom prst="straightConnector1">
            <a:avLst/>
          </a:prstGeom>
          <a:noFill/>
          <a:ln w="38100" cap="flat">
            <a:solidFill>
              <a:srgbClr val="00B05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7CF99EE-1763-684C-BBF7-6FEE61736E71}"/>
              </a:ext>
            </a:extLst>
          </p:cNvPr>
          <p:cNvGrpSpPr/>
          <p:nvPr/>
        </p:nvGrpSpPr>
        <p:grpSpPr>
          <a:xfrm>
            <a:off x="7417433" y="6871219"/>
            <a:ext cx="3334315" cy="2521545"/>
            <a:chOff x="7753349" y="4302687"/>
            <a:chExt cx="4996950" cy="353889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AEC9D39-0D5C-46AD-00FA-C7E477019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53349" y="4302687"/>
              <a:ext cx="4375703" cy="3538890"/>
            </a:xfrm>
            <a:prstGeom prst="rect">
              <a:avLst/>
            </a:prstGeom>
          </p:spPr>
        </p:pic>
        <p:sp>
          <p:nvSpPr>
            <p:cNvPr id="32" name="액자 31">
              <a:extLst>
                <a:ext uri="{FF2B5EF4-FFF2-40B4-BE49-F238E27FC236}">
                  <a16:creationId xmlns:a16="http://schemas.microsoft.com/office/drawing/2014/main" id="{EEA87B6E-794A-73A5-70C4-4431295D2F1C}"/>
                </a:ext>
              </a:extLst>
            </p:cNvPr>
            <p:cNvSpPr/>
            <p:nvPr/>
          </p:nvSpPr>
          <p:spPr>
            <a:xfrm>
              <a:off x="9357130" y="4947557"/>
              <a:ext cx="1231949" cy="216829"/>
            </a:xfrm>
            <a:prstGeom prst="frame">
              <a:avLst>
                <a:gd name="adj1" fmla="val 0"/>
              </a:avLst>
            </a:prstGeom>
            <a:solidFill>
              <a:srgbClr val="00B050"/>
            </a:solidFill>
            <a:ln w="25400" cap="flat">
              <a:solidFill>
                <a:srgbClr val="00B05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B4E17E98-EF64-DFE7-581B-DF8A9830632C}"/>
                </a:ext>
              </a:extLst>
            </p:cNvPr>
            <p:cNvSpPr/>
            <p:nvPr/>
          </p:nvSpPr>
          <p:spPr>
            <a:xfrm>
              <a:off x="10592644" y="4985666"/>
              <a:ext cx="293914" cy="143350"/>
            </a:xfrm>
            <a:prstGeom prst="rightArrow">
              <a:avLst/>
            </a:prstGeom>
            <a:solidFill>
              <a:srgbClr val="00B050"/>
            </a:solidFill>
            <a:ln w="25400" cap="flat">
              <a:solidFill>
                <a:srgbClr val="00B05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</a:pPr>
              <a:endParaRPr kumimoji="0" lang="ko-KR" altLang="en-US" sz="2800" b="0" i="0" u="none" strike="noStrike" cap="all" spc="0" normalizeH="0" baseline="0">
                <a:solidFill>
                  <a:srgbClr val="838787"/>
                </a:solidFill>
                <a:effectLst/>
                <a:uFillTx/>
                <a:latin typeface="DIN Condensed Bold"/>
                <a:ea typeface="DIN Condensed Bold"/>
                <a:cs typeface="DIN Condensed Bold"/>
                <a:sym typeface="DIN Condensed Bold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314DAE7-4670-77CA-B653-572A09756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9823" y="4917839"/>
              <a:ext cx="1800476" cy="276264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B63C03F-39FB-A115-485C-2B22467E4A68}"/>
              </a:ext>
            </a:extLst>
          </p:cNvPr>
          <p:cNvSpPr txBox="1"/>
          <p:nvPr/>
        </p:nvSpPr>
        <p:spPr>
          <a:xfrm>
            <a:off x="7397967" y="9291506"/>
            <a:ext cx="2939241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kumimoji="0" lang="en-US" altLang="ko-KR" sz="18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Uncomment (</a:t>
            </a:r>
            <a:r>
              <a:rPr kumimoji="0" lang="ko-KR" altLang="en-US" sz="18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주석 제거</a:t>
            </a:r>
            <a:r>
              <a:rPr kumimoji="0" lang="en-US" altLang="ko-KR" sz="1800" b="0" i="0" u="none" strike="noStrike" cap="none" spc="0" normalizeH="0" baseline="0">
                <a:solidFill>
                  <a:srgbClr val="494949"/>
                </a:solidFill>
                <a:effectLst/>
                <a:uFillTx/>
                <a:latin typeface="Consolas" panose="020B0609020204030204" pitchFamily="49" charset="0"/>
                <a:sym typeface="Arial"/>
              </a:rPr>
              <a:t>)</a:t>
            </a:r>
            <a:endParaRPr kumimoji="0" lang="ko-KR" altLang="en-US" sz="1800" b="0" i="0" u="none" strike="noStrike" cap="none" spc="0" normalizeH="0" baseline="0">
              <a:solidFill>
                <a:srgbClr val="494949"/>
              </a:solidFill>
              <a:effectLst/>
              <a:uFillTx/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07313-EEEB-24BE-9B57-479DB5555814}"/>
              </a:ext>
            </a:extLst>
          </p:cNvPr>
          <p:cNvSpPr txBox="1"/>
          <p:nvPr/>
        </p:nvSpPr>
        <p:spPr>
          <a:xfrm>
            <a:off x="919689" y="1835745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55D4C-D346-27C4-B54A-492CF985C0F8}"/>
              </a:ext>
            </a:extLst>
          </p:cNvPr>
          <p:cNvSpPr txBox="1"/>
          <p:nvPr/>
        </p:nvSpPr>
        <p:spPr>
          <a:xfrm>
            <a:off x="919689" y="2200500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user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070AC1-8E90-B342-C452-DD5940E05A66}"/>
              </a:ext>
            </a:extLst>
          </p:cNvPr>
          <p:cNvSpPr txBox="1"/>
          <p:nvPr/>
        </p:nvSpPr>
        <p:spPr>
          <a:xfrm>
            <a:off x="919689" y="2565255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util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14080C-9E20-FFE8-05EF-C47037B77FAF}"/>
              </a:ext>
            </a:extLst>
          </p:cNvPr>
          <p:cNvSpPr txBox="1"/>
          <p:nvPr/>
        </p:nvSpPr>
        <p:spPr>
          <a:xfrm>
            <a:off x="919689" y="2930010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util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7EF893-7939-A828-C350-39B87B3B4982}"/>
              </a:ext>
            </a:extLst>
          </p:cNvPr>
          <p:cNvSpPr txBox="1"/>
          <p:nvPr/>
        </p:nvSpPr>
        <p:spPr>
          <a:xfrm>
            <a:off x="919689" y="3294765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fakefile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B355E2-DA20-C985-A7AB-E896AC1EFE04}"/>
              </a:ext>
            </a:extLst>
          </p:cNvPr>
          <p:cNvSpPr txBox="1"/>
          <p:nvPr/>
        </p:nvSpPr>
        <p:spPr>
          <a:xfrm>
            <a:off x="919689" y="3662961"/>
            <a:ext cx="2694719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fakefile/target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38" name="텍스트 개체 틀 2">
            <a:extLst>
              <a:ext uri="{FF2B5EF4-FFF2-40B4-BE49-F238E27FC236}">
                <a16:creationId xmlns:a16="http://schemas.microsoft.com/office/drawing/2014/main" id="{A8ACD4FF-651D-0902-3017-BDA65B4AA9FF}"/>
              </a:ext>
            </a:extLst>
          </p:cNvPr>
          <p:cNvSpPr txBox="1">
            <a:spLocks/>
          </p:cNvSpPr>
          <p:nvPr/>
        </p:nvSpPr>
        <p:spPr>
          <a:xfrm>
            <a:off x="-1304343" y="3287826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endParaRPr lang="ko-KR" altLang="ko-KR" sz="2800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D3A7DAAF-7314-EDE7-8544-A811E753B8FD}"/>
              </a:ext>
            </a:extLst>
          </p:cNvPr>
          <p:cNvSpPr txBox="1">
            <a:spLocks/>
          </p:cNvSpPr>
          <p:nvPr/>
        </p:nvSpPr>
        <p:spPr>
          <a:xfrm>
            <a:off x="636124" y="4067658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endParaRPr lang="ko-KR" altLang="ko-KR" sz="28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F50B8C-47EC-FC34-BD4E-9CC01B396B3F}"/>
              </a:ext>
            </a:extLst>
          </p:cNvPr>
          <p:cNvSpPr txBox="1"/>
          <p:nvPr/>
        </p:nvSpPr>
        <p:spPr>
          <a:xfrm>
            <a:off x="923147" y="4811936"/>
            <a:ext cx="2512431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util/fakefile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E88E0D-0377-6F9D-7EA9-F9C412F348A7}"/>
              </a:ext>
            </a:extLst>
          </p:cNvPr>
          <p:cNvSpPr txBox="1"/>
          <p:nvPr/>
        </p:nvSpPr>
        <p:spPr>
          <a:xfrm>
            <a:off x="923147" y="5183039"/>
            <a:ext cx="2061420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 convert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9E4543-64BA-9D5C-BE92-EF174B2D9B8B}"/>
              </a:ext>
            </a:extLst>
          </p:cNvPr>
          <p:cNvSpPr txBox="1"/>
          <p:nvPr/>
        </p:nvSpPr>
        <p:spPr>
          <a:xfrm>
            <a:off x="4084667" y="5191431"/>
            <a:ext cx="2988129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 </a:t>
            </a:r>
            <a:r>
              <a:rPr lang="en-US" altLang="ko-KR" sz="1800" err="1">
                <a:solidFill>
                  <a:srgbClr val="494949"/>
                </a:solidFill>
                <a:latin typeface="Consolas" panose="020B0609020204030204" pitchFamily="49" charset="0"/>
              </a:rPr>
              <a:t>clean_generated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699410C-806C-CA85-EDEE-5F8A5E052DF7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2984567" y="5367705"/>
            <a:ext cx="1100100" cy="8392"/>
          </a:xfrm>
          <a:prstGeom prst="straightConnector1">
            <a:avLst/>
          </a:prstGeom>
          <a:ln w="28575" cap="flat" cmpd="sng" algn="ctr">
            <a:solidFill>
              <a:srgbClr val="00B05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AFA56D6-D0EE-5B2A-F82D-64AEDD29F3F1}"/>
              </a:ext>
            </a:extLst>
          </p:cNvPr>
          <p:cNvSpPr txBox="1"/>
          <p:nvPr/>
        </p:nvSpPr>
        <p:spPr>
          <a:xfrm>
            <a:off x="1600899" y="6278465"/>
            <a:ext cx="3445501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실제 명령어가 사용되는 경로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2C7000-6F85-82DE-76C1-574A6005DF87}"/>
              </a:ext>
            </a:extLst>
          </p:cNvPr>
          <p:cNvSpPr txBox="1"/>
          <p:nvPr/>
        </p:nvSpPr>
        <p:spPr>
          <a:xfrm>
            <a:off x="7609508" y="6278465"/>
            <a:ext cx="1336486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생성 결과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481B974-091C-A195-094F-E9D222E9A7E4}"/>
              </a:ext>
            </a:extLst>
          </p:cNvPr>
          <p:cNvGrpSpPr/>
          <p:nvPr/>
        </p:nvGrpSpPr>
        <p:grpSpPr>
          <a:xfrm>
            <a:off x="7397967" y="4121907"/>
            <a:ext cx="1759568" cy="2147078"/>
            <a:chOff x="6858612" y="6394897"/>
            <a:chExt cx="2232003" cy="2716151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03C3121-547A-EA6B-D2F2-6E39476EAE07}"/>
                </a:ext>
              </a:extLst>
            </p:cNvPr>
            <p:cNvGrpSpPr/>
            <p:nvPr/>
          </p:nvGrpSpPr>
          <p:grpSpPr>
            <a:xfrm>
              <a:off x="6858612" y="6394897"/>
              <a:ext cx="2232003" cy="2716151"/>
              <a:chOff x="748428" y="7037449"/>
              <a:chExt cx="2232003" cy="271615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892ACD41-E131-A12A-70A7-B957C7D59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8428" y="7037449"/>
                <a:ext cx="2232003" cy="2716151"/>
              </a:xfrm>
              <a:prstGeom prst="rect">
                <a:avLst/>
              </a:prstGeom>
            </p:spPr>
          </p:pic>
          <p:sp>
            <p:nvSpPr>
              <p:cNvPr id="25" name="왼쪽 중괄호 24">
                <a:extLst>
                  <a:ext uri="{FF2B5EF4-FFF2-40B4-BE49-F238E27FC236}">
                    <a16:creationId xmlns:a16="http://schemas.microsoft.com/office/drawing/2014/main" id="{9BA77601-5F45-A7A9-2182-8860EC1D64B2}"/>
                  </a:ext>
                </a:extLst>
              </p:cNvPr>
              <p:cNvSpPr/>
              <p:nvPr/>
            </p:nvSpPr>
            <p:spPr>
              <a:xfrm>
                <a:off x="748428" y="8695113"/>
                <a:ext cx="282350" cy="718357"/>
              </a:xfrm>
              <a:prstGeom prst="leftBrace">
                <a:avLst>
                  <a:gd name="adj1" fmla="val 63605"/>
                  <a:gd name="adj2" fmla="val 50000"/>
                </a:avLst>
              </a:prstGeom>
              <a:noFill/>
              <a:ln w="57150" cap="flat">
                <a:solidFill>
                  <a:srgbClr val="00B050"/>
                </a:solidFill>
                <a:prstDash val="solid"/>
                <a:miter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>
                <a:scrgbClr r="0" g="0" b="0"/>
              </a:fontRef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FontTx/>
                  <a:buNone/>
                </a:pPr>
                <a:endParaRPr kumimoji="0" lang="ko-KR" altLang="en-US" sz="1800" b="0" i="0" u="none" strike="noStrike" cap="none" spc="0" normalizeH="0" baseline="0">
                  <a:solidFill>
                    <a:srgbClr val="000000"/>
                  </a:solidFill>
                  <a:effectLst/>
                  <a:uFillTx/>
                </a:endParaRPr>
              </a:p>
            </p:txBody>
          </p:sp>
        </p:grp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D09CAD1C-2890-F519-6C0D-1D8208A809E3}"/>
                </a:ext>
              </a:extLst>
            </p:cNvPr>
            <p:cNvCxnSpPr/>
            <p:nvPr/>
          </p:nvCxnSpPr>
          <p:spPr>
            <a:xfrm>
              <a:off x="7091978" y="6951408"/>
              <a:ext cx="0" cy="339299"/>
            </a:xfrm>
            <a:prstGeom prst="line">
              <a:avLst/>
            </a:prstGeom>
            <a:noFill/>
            <a:ln w="57150" cap="flat">
              <a:solidFill>
                <a:srgbClr val="00B050"/>
              </a:solidFill>
              <a:prstDash val="solid"/>
              <a:miter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crgbClr r="0" g="0" b="0"/>
            </a:fontRef>
          </p:style>
        </p:cxnSp>
      </p:grpSp>
      <p:sp>
        <p:nvSpPr>
          <p:cNvPr id="52" name="텍스트 개체 틀 2">
            <a:extLst>
              <a:ext uri="{FF2B5EF4-FFF2-40B4-BE49-F238E27FC236}">
                <a16:creationId xmlns:a16="http://schemas.microsoft.com/office/drawing/2014/main" id="{E2B950FD-D181-A6F8-656F-B35C7C6031F9}"/>
              </a:ext>
            </a:extLst>
          </p:cNvPr>
          <p:cNvSpPr txBox="1">
            <a:spLocks/>
          </p:cNvSpPr>
          <p:nvPr/>
        </p:nvSpPr>
        <p:spPr>
          <a:xfrm>
            <a:off x="636124" y="7525413"/>
            <a:ext cx="4838960" cy="605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hangingPunct="1">
              <a:buFont typeface="Arial" panose="020B0604020202020204" pitchFamily="34" charset="0"/>
              <a:buNone/>
            </a:pPr>
            <a:endParaRPr lang="ko-KR" altLang="ko-KR" sz="2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6B32E2-F03D-C006-A00B-15C5A597DCCE}"/>
              </a:ext>
            </a:extLst>
          </p:cNvPr>
          <p:cNvSpPr txBox="1"/>
          <p:nvPr/>
        </p:nvSpPr>
        <p:spPr>
          <a:xfrm>
            <a:off x="919689" y="8503780"/>
            <a:ext cx="2161492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make </a:t>
            </a:r>
            <a:r>
              <a:rPr lang="en-US" altLang="ko-KR" sz="1800" err="1">
                <a:solidFill>
                  <a:srgbClr val="494949"/>
                </a:solidFill>
                <a:latin typeface="Consolas" panose="020B0609020204030204" pitchFamily="49" charset="0"/>
              </a:rPr>
              <a:t>rvx_each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39438-7BFE-1C4C-E34A-2E47007B9844}"/>
              </a:ext>
            </a:extLst>
          </p:cNvPr>
          <p:cNvSpPr txBox="1"/>
          <p:nvPr/>
        </p:nvSpPr>
        <p:spPr>
          <a:xfrm>
            <a:off x="919689" y="8139493"/>
            <a:ext cx="278154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tip_v04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/app/</a:t>
            </a:r>
            <a:r>
              <a:rPr lang="en-US" altLang="ko-KR" sz="1800" b="1">
                <a:solidFill>
                  <a:srgbClr val="494949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v04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4A70ED-51D8-4D00-BE5C-ACB991C88680}"/>
              </a:ext>
            </a:extLst>
          </p:cNvPr>
          <p:cNvSpPr txBox="1"/>
          <p:nvPr/>
        </p:nvSpPr>
        <p:spPr>
          <a:xfrm>
            <a:off x="923147" y="8873112"/>
            <a:ext cx="5949239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rvx_each.mh 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에서 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</a:rPr>
              <a:t>#USE_FAKEFILE=true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</a:rPr>
              <a:t>의 주석 제거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E62483-58AB-904A-248E-9FA092D749BA}"/>
              </a:ext>
            </a:extLst>
          </p:cNvPr>
          <p:cNvSpPr txBox="1"/>
          <p:nvPr/>
        </p:nvSpPr>
        <p:spPr>
          <a:xfrm>
            <a:off x="3129799" y="5437196"/>
            <a:ext cx="858142" cy="215444"/>
          </a:xfrm>
          <a:prstGeom prst="rect">
            <a:avLst/>
          </a:prstGeom>
          <a:solidFill>
            <a:srgbClr val="FFFFFF"/>
          </a:solidFill>
          <a:ln w="3175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ko-KR" altLang="en-US" sz="800">
                <a:solidFill>
                  <a:srgbClr val="494949"/>
                </a:solidFill>
                <a:latin typeface="Consolas" panose="020B0609020204030204" pitchFamily="49" charset="0"/>
              </a:rPr>
              <a:t>생성과 초기화</a:t>
            </a:r>
            <a:endParaRPr lang="en-US" altLang="ko-KR" sz="80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67380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C22DF9-2440-3CA0-C83A-7B8B0C221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5667"/>
            <a:ext cx="12192001" cy="8012142"/>
          </a:xfrm>
        </p:spPr>
        <p:txBody>
          <a:bodyPr>
            <a:normAutofit/>
          </a:bodyPr>
          <a:lstStyle/>
          <a:p>
            <a:r>
              <a:rPr lang="ko-KR" altLang="en-US" dirty="0"/>
              <a:t>동일한 디렉토리에 있는 것처럼 파일이름으로 바로 호출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5AB1994-2612-C787-8E35-9253C62FEDB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7965" y="9340948"/>
            <a:ext cx="384722" cy="379591"/>
          </a:xfrm>
        </p:spPr>
        <p:txBody>
          <a:bodyPr/>
          <a:lstStyle/>
          <a:p>
            <a:pPr lvl="0"/>
            <a:fld id="{86CB4B4D-7CA3-9044-876B-883B54F8677D}" type="slidenum">
              <a:rPr lang="en-US" altLang="ko-KR" noProof="0" smtClean="0">
                <a:sym typeface="DIN Alternate Bold"/>
              </a:rPr>
              <a:pPr lvl="0"/>
              <a:t>5</a:t>
            </a:fld>
            <a:endParaRPr lang="ko-KR" altLang="en-US" noProof="0">
              <a:sym typeface="DIN Alternate Bold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0891518-2F50-C5C4-8B66-D28D5E665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67781"/>
            <a:ext cx="12192000" cy="911026"/>
          </a:xfrm>
        </p:spPr>
        <p:txBody>
          <a:bodyPr/>
          <a:lstStyle/>
          <a:p>
            <a:r>
              <a:rPr lang="en-US" altLang="ko-KR" dirty="0"/>
              <a:t>Fakefile </a:t>
            </a:r>
            <a:r>
              <a:rPr lang="ko-KR" altLang="en-US" dirty="0"/>
              <a:t>읽기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CEDD08-EC2C-1EEF-F162-5D9959BE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930" y="4334061"/>
            <a:ext cx="4650940" cy="37600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DF5B36-DDC2-03DE-B196-F3B9D17D5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37" y="2082439"/>
            <a:ext cx="5001323" cy="2095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FEE698D-5134-4E26-F096-87AF6FCD0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358" y="2775784"/>
            <a:ext cx="3116083" cy="1074511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5C902DD8-3F84-259C-A95E-7C32FF8496CC}"/>
              </a:ext>
            </a:extLst>
          </p:cNvPr>
          <p:cNvSpPr/>
          <p:nvPr/>
        </p:nvSpPr>
        <p:spPr>
          <a:xfrm>
            <a:off x="6286500" y="2082439"/>
            <a:ext cx="1567543" cy="209579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9" name="액자 8">
            <a:extLst>
              <a:ext uri="{FF2B5EF4-FFF2-40B4-BE49-F238E27FC236}">
                <a16:creationId xmlns:a16="http://schemas.microsoft.com/office/drawing/2014/main" id="{F98DCA00-7434-BE9E-BE54-64D9CF6FD8A1}"/>
              </a:ext>
            </a:extLst>
          </p:cNvPr>
          <p:cNvSpPr/>
          <p:nvPr/>
        </p:nvSpPr>
        <p:spPr>
          <a:xfrm>
            <a:off x="5978534" y="3503998"/>
            <a:ext cx="1475459" cy="159794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sp>
        <p:nvSpPr>
          <p:cNvPr id="10" name="액자 9">
            <a:extLst>
              <a:ext uri="{FF2B5EF4-FFF2-40B4-BE49-F238E27FC236}">
                <a16:creationId xmlns:a16="http://schemas.microsoft.com/office/drawing/2014/main" id="{0A9F581F-4CA3-9748-213C-1734A85ED85B}"/>
              </a:ext>
            </a:extLst>
          </p:cNvPr>
          <p:cNvSpPr/>
          <p:nvPr/>
        </p:nvSpPr>
        <p:spPr>
          <a:xfrm>
            <a:off x="5456020" y="4578509"/>
            <a:ext cx="1206037" cy="154804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E2A90B5-8B5F-97B3-868B-AC6A2E8E1096}"/>
              </a:ext>
            </a:extLst>
          </p:cNvPr>
          <p:cNvCxnSpPr>
            <a:stCxn id="6" idx="2"/>
            <a:endCxn id="9" idx="0"/>
          </p:cNvCxnSpPr>
          <p:nvPr/>
        </p:nvCxnSpPr>
        <p:spPr>
          <a:xfrm flipH="1">
            <a:off x="6716264" y="2292018"/>
            <a:ext cx="354008" cy="1211980"/>
          </a:xfrm>
          <a:prstGeom prst="straightConnector1">
            <a:avLst/>
          </a:prstGeom>
          <a:noFill/>
          <a:ln w="25400" cap="flat">
            <a:solidFill>
              <a:srgbClr val="00B05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F59E57A-20B5-EC51-A8A4-0211A0BBABA7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6059039" y="3663792"/>
            <a:ext cx="657225" cy="914717"/>
          </a:xfrm>
          <a:prstGeom prst="straightConnector1">
            <a:avLst/>
          </a:prstGeom>
          <a:noFill/>
          <a:ln w="25400" cap="flat">
            <a:solidFill>
              <a:srgbClr val="00B050"/>
            </a:solidFill>
            <a:prstDash val="solid"/>
            <a:miter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C2FF66A-60F5-BE80-BFDF-9DA25432A96C}"/>
              </a:ext>
            </a:extLst>
          </p:cNvPr>
          <p:cNvSpPr txBox="1"/>
          <p:nvPr/>
        </p:nvSpPr>
        <p:spPr>
          <a:xfrm>
            <a:off x="2490108" y="8119030"/>
            <a:ext cx="7795086" cy="369332"/>
          </a:xfrm>
          <a:prstGeom prst="rect">
            <a:avLst/>
          </a:prstGeom>
          <a:solidFill>
            <a:srgbClr val="FFFFFF"/>
          </a:solidFill>
          <a:ln w="19050" cap="flat">
            <a:solidFill>
              <a:srgbClr val="00B050"/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ko-KR" sz="1800" err="1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ffopen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으로 호출하여 </a:t>
            </a:r>
            <a:r>
              <a:rPr lang="en-US" altLang="ko-KR" sz="1800" err="1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fileIO</a:t>
            </a:r>
            <a:r>
              <a:rPr lang="en-US" altLang="ko-KR" sz="180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 </a:t>
            </a:r>
            <a:r>
              <a:rPr lang="ko-KR" altLang="en-US" sz="1800">
                <a:solidFill>
                  <a:srgbClr val="494949"/>
                </a:solidFill>
                <a:latin typeface="Consolas" panose="020B0609020204030204" pitchFamily="49" charset="0"/>
                <a:cs typeface="times" panose="02020603050405020304" pitchFamily="18" charset="0"/>
              </a:rPr>
              <a:t>처리 가능</a:t>
            </a:r>
            <a:endParaRPr lang="en-US" altLang="ko-KR" sz="1800">
              <a:solidFill>
                <a:srgbClr val="494949"/>
              </a:solidFill>
              <a:latin typeface="Consolas" panose="020B0609020204030204" pitchFamily="49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95963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39DFA-4E5F-5150-5C0C-79EE4D3B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6">
            <a:extLst>
              <a:ext uri="{FF2B5EF4-FFF2-40B4-BE49-F238E27FC236}">
                <a16:creationId xmlns:a16="http://schemas.microsoft.com/office/drawing/2014/main" id="{64128800-1522-50BA-685F-A69AC30A00E8}"/>
              </a:ext>
            </a:extLst>
          </p:cNvPr>
          <p:cNvSpPr txBox="1">
            <a:spLocks/>
          </p:cNvSpPr>
          <p:nvPr/>
        </p:nvSpPr>
        <p:spPr>
          <a:xfrm>
            <a:off x="406400" y="1265667"/>
            <a:ext cx="12192001" cy="8012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US" altLang="ko-KR" dirty="0"/>
              <a:t>platform-xml</a:t>
            </a:r>
            <a:r>
              <a:rPr lang="ko-KR" altLang="en-US" dirty="0"/>
              <a:t>에 추가할 </a:t>
            </a:r>
            <a:r>
              <a:rPr lang="en-US" altLang="ko-KR" dirty="0"/>
              <a:t>IP </a:t>
            </a:r>
            <a:r>
              <a:rPr lang="ko-KR" altLang="en-US" dirty="0"/>
              <a:t>설정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/>
              <a:t> </a:t>
            </a:r>
            <a:r>
              <a:rPr lang="en-US" altLang="ko-KR" dirty="0" err="1"/>
              <a:t>platform_user_region.vh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ko-KR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r>
              <a:rPr lang="en-US" altLang="ko-KR" dirty="0"/>
              <a:t>RTL </a:t>
            </a:r>
            <a:r>
              <a:rPr lang="ko-KR" altLang="en-US" dirty="0"/>
              <a:t>컴파일 </a:t>
            </a:r>
            <a:r>
              <a:rPr lang="en-US" altLang="ko-KR" dirty="0"/>
              <a:t>&amp; RISC-V</a:t>
            </a:r>
            <a:r>
              <a:rPr lang="ko-KR" altLang="en-US" dirty="0"/>
              <a:t>와 통합하여 실행</a:t>
            </a:r>
            <a:endParaRPr lang="ko-KR" altLang="ko-KR" dirty="0"/>
          </a:p>
          <a:p>
            <a:pPr hangingPunct="1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F69BAF-EDAC-E1F7-31C6-40E4A3C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lt"/>
                <a:ea typeface="나눔고딕" pitchFamily="2" charset="-127"/>
              </a:rPr>
              <a:t>RISC-V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와 </a:t>
            </a:r>
            <a:r>
              <a:rPr lang="en-US" altLang="ko-KR" dirty="0">
                <a:latin typeface="+mn-lt"/>
                <a:ea typeface="나눔고딕" pitchFamily="2" charset="-127"/>
              </a:rPr>
              <a:t>RTL IP</a:t>
            </a:r>
            <a:r>
              <a:rPr lang="en-US" altLang="ko-KR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dirty="0">
                <a:latin typeface="나눔고딕" pitchFamily="2" charset="-127"/>
                <a:ea typeface="나눔고딕" pitchFamily="2" charset="-127"/>
              </a:rPr>
              <a:t>연결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913B1FD-0D38-E3C7-19F7-2959B815D6D6}"/>
              </a:ext>
            </a:extLst>
          </p:cNvPr>
          <p:cNvSpPr/>
          <p:nvPr/>
        </p:nvSpPr>
        <p:spPr>
          <a:xfrm>
            <a:off x="4369184" y="4716157"/>
            <a:ext cx="1238911" cy="624656"/>
          </a:xfrm>
          <a:prstGeom prst="rightArrow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Consolas" panose="020B0609020204030204" pitchFamily="49" charset="0"/>
              </a:rPr>
              <a:t>make syn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19AE19-80D6-AFC4-F8AF-C8CEF1EC8B9B}"/>
              </a:ext>
            </a:extLst>
          </p:cNvPr>
          <p:cNvSpPr txBox="1"/>
          <p:nvPr/>
        </p:nvSpPr>
        <p:spPr>
          <a:xfrm>
            <a:off x="8772547" y="7047639"/>
            <a:ext cx="4197396" cy="461665"/>
          </a:xfrm>
          <a:prstGeom prst="rect">
            <a:avLst/>
          </a:prstGeom>
          <a:solidFill>
            <a:srgbClr val="FFFFFF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ko-KR" altLang="en-US" sz="2400" dirty="0">
                <a:solidFill>
                  <a:srgbClr val="494949"/>
                </a:solidFill>
              </a:rPr>
              <a:t>필요한 </a:t>
            </a:r>
            <a:r>
              <a:rPr lang="en-US" altLang="ko-KR" sz="2400" dirty="0">
                <a:solidFill>
                  <a:srgbClr val="494949"/>
                </a:solidFill>
              </a:rPr>
              <a:t>parameter </a:t>
            </a:r>
            <a:r>
              <a:rPr lang="ko-KR" altLang="en-US" sz="2400" dirty="0">
                <a:solidFill>
                  <a:srgbClr val="494949"/>
                </a:solidFill>
              </a:rPr>
              <a:t>연결</a:t>
            </a:r>
            <a:r>
              <a:rPr lang="en-US" altLang="ko-KR" sz="2400" dirty="0">
                <a:solidFill>
                  <a:srgbClr val="494949"/>
                </a:solidFill>
              </a:rPr>
              <a:t>, </a:t>
            </a:r>
            <a:r>
              <a:rPr lang="ko-KR" altLang="en-US" sz="2400" dirty="0">
                <a:solidFill>
                  <a:srgbClr val="494949"/>
                </a:solidFill>
              </a:rPr>
              <a:t>추가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8615A7-3C2C-1935-A44B-CCF5B0C371BE}"/>
              </a:ext>
            </a:extLst>
          </p:cNvPr>
          <p:cNvSpPr txBox="1"/>
          <p:nvPr/>
        </p:nvSpPr>
        <p:spPr>
          <a:xfrm>
            <a:off x="976292" y="8181741"/>
            <a:ext cx="4138656" cy="120032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 imp_genesys2-be_2026-06-22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make imp 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또는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make </a:t>
            </a:r>
            <a:r>
              <a:rPr lang="en-US" altLang="ko-KR" sz="1800" dirty="0" err="1">
                <a:solidFill>
                  <a:srgbClr val="494949"/>
                </a:solidFill>
                <a:latin typeface="Consolas" panose="020B0609020204030204" pitchFamily="49" charset="0"/>
              </a:rPr>
              <a:t>reimp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program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drv00.all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9CC8C8-6B76-DF35-227A-EBB32E0D8F80}"/>
              </a:ext>
            </a:extLst>
          </p:cNvPr>
          <p:cNvSpPr txBox="1"/>
          <p:nvPr/>
        </p:nvSpPr>
        <p:spPr>
          <a:xfrm>
            <a:off x="976292" y="1890741"/>
            <a:ext cx="1506228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syn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2D82480-F1ED-D851-6546-9C3AC5A6C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118" y="2541079"/>
            <a:ext cx="2872747" cy="4350159"/>
          </a:xfrm>
          <a:prstGeom prst="rect">
            <a:avLst/>
          </a:prstGeom>
        </p:spPr>
      </p:pic>
      <p:sp>
        <p:nvSpPr>
          <p:cNvPr id="26" name="액자 25">
            <a:extLst>
              <a:ext uri="{FF2B5EF4-FFF2-40B4-BE49-F238E27FC236}">
                <a16:creationId xmlns:a16="http://schemas.microsoft.com/office/drawing/2014/main" id="{919CAB7E-3522-F725-F53A-5540F9F0407A}"/>
              </a:ext>
            </a:extLst>
          </p:cNvPr>
          <p:cNvSpPr/>
          <p:nvPr/>
        </p:nvSpPr>
        <p:spPr>
          <a:xfrm>
            <a:off x="1962010" y="4716157"/>
            <a:ext cx="2297855" cy="1966559"/>
          </a:xfrm>
          <a:prstGeom prst="frame">
            <a:avLst>
              <a:gd name="adj1" fmla="val 0"/>
            </a:avLst>
          </a:prstGeom>
          <a:noFill/>
          <a:ln w="25400" cap="flat">
            <a:solidFill>
              <a:srgbClr val="00B05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B314B52-9062-6F7B-7AD8-6D4C32DCF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346" y="3307196"/>
            <a:ext cx="2623049" cy="337552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B5247C4-856F-9F3A-78E4-91692C53F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4937" y="1890741"/>
            <a:ext cx="4252617" cy="523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6080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C4A76-A6D9-2125-2414-819571D2A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6">
            <a:extLst>
              <a:ext uri="{FF2B5EF4-FFF2-40B4-BE49-F238E27FC236}">
                <a16:creationId xmlns:a16="http://schemas.microsoft.com/office/drawing/2014/main" id="{392D5CE5-3FD2-F33A-1EA4-68C0E06D9568}"/>
              </a:ext>
            </a:extLst>
          </p:cNvPr>
          <p:cNvSpPr txBox="1">
            <a:spLocks/>
          </p:cNvSpPr>
          <p:nvPr/>
        </p:nvSpPr>
        <p:spPr>
          <a:xfrm>
            <a:off x="406400" y="1265667"/>
            <a:ext cx="12192001" cy="8012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381000" marR="0" indent="-381000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1pPr>
            <a:lvl2pPr marL="762000" marR="0" indent="-381000" algn="l" defTabSz="584200" latinLnBrk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8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2pPr>
            <a:lvl3pPr marL="1143000" marR="0" indent="-381000" algn="l" defTabSz="58420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24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3pPr>
            <a:lvl4pPr marL="1524000" marR="0" indent="-381000" algn="l" defTabSz="584200" latinLnBrk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‣"/>
              <a:tabLst/>
              <a:defRPr sz="20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4pPr>
            <a:lvl5pPr marL="1905000" marR="0" indent="-381000" algn="l" defTabSz="584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64"/>
              </a:buClr>
              <a:buSzPct val="100000"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rgbClr val="494949"/>
                </a:solidFill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  <a:sym typeface="Arial"/>
              </a:defRPr>
            </a:lvl5pPr>
            <a:lvl6pPr marL="2965726" marR="0" indent="-362226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34864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0071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4527825" marR="0" indent="-362225" algn="l" defTabSz="584200" latinLnBrk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B0000"/>
              </a:buClr>
              <a:buSzPct val="82000"/>
              <a:buFontTx/>
              <a:buChar char="•"/>
              <a:tabLst/>
              <a:defRPr sz="3200" b="0" i="0" u="none" strike="noStrike" cap="none" spc="0" baseline="0">
                <a:solidFill>
                  <a:srgbClr val="4949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US" altLang="ko-KR" dirty="0"/>
              <a:t>Waveform </a:t>
            </a:r>
            <a:r>
              <a:rPr lang="ko-KR" altLang="en-US" dirty="0"/>
              <a:t>확인</a:t>
            </a:r>
            <a:endParaRPr lang="ko-KR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  <a:p>
            <a:pPr hangingPunct="1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5324194-CA45-A4A3-06F3-EB2FFB6D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+mn-lt"/>
                <a:ea typeface="나눔고딕" pitchFamily="2" charset="-127"/>
              </a:rPr>
              <a:t>ModelSim</a:t>
            </a:r>
            <a:r>
              <a:rPr lang="en-US" altLang="ko-KR" dirty="0">
                <a:latin typeface="+mn-lt"/>
                <a:ea typeface="나눔고딕" pitchFamily="2" charset="-127"/>
              </a:rPr>
              <a:t> Waveform</a:t>
            </a:r>
            <a:endParaRPr lang="ko-KR" altLang="en-US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53F0DA-E14E-76D8-8930-2E6DC26255A4}"/>
              </a:ext>
            </a:extLst>
          </p:cNvPr>
          <p:cNvSpPr txBox="1"/>
          <p:nvPr/>
        </p:nvSpPr>
        <p:spPr>
          <a:xfrm>
            <a:off x="7326518" y="7263817"/>
            <a:ext cx="4197396" cy="461665"/>
          </a:xfrm>
          <a:prstGeom prst="rect">
            <a:avLst/>
          </a:prstGeom>
          <a:solidFill>
            <a:srgbClr val="FFFFFF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 err="1">
                <a:solidFill>
                  <a:srgbClr val="494949"/>
                </a:solidFill>
              </a:rPr>
              <a:t>ModelSim</a:t>
            </a:r>
            <a:r>
              <a:rPr lang="en-US" altLang="ko-KR" sz="2400" dirty="0">
                <a:solidFill>
                  <a:srgbClr val="494949"/>
                </a:solidFill>
              </a:rPr>
              <a:t> </a:t>
            </a:r>
            <a:r>
              <a:rPr lang="en-US" altLang="ko-KR" sz="2400" dirty="0" err="1">
                <a:solidFill>
                  <a:srgbClr val="494949"/>
                </a:solidFill>
              </a:rPr>
              <a:t>wlf</a:t>
            </a:r>
            <a:r>
              <a:rPr lang="en-US" altLang="ko-KR" sz="2400" dirty="0">
                <a:solidFill>
                  <a:srgbClr val="494949"/>
                </a:solidFill>
              </a:rPr>
              <a:t> waveform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707BC4-C16D-DFA2-A1BD-D3ADE281E2DF}"/>
              </a:ext>
            </a:extLst>
          </p:cNvPr>
          <p:cNvSpPr txBox="1"/>
          <p:nvPr/>
        </p:nvSpPr>
        <p:spPr>
          <a:xfrm>
            <a:off x="1139575" y="2105083"/>
            <a:ext cx="4771365" cy="147732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 tip_emamba_v1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</a:t>
            </a:r>
            <a:r>
              <a:rPr lang="en-US" altLang="ko-KR" sz="1800" dirty="0" err="1">
                <a:solidFill>
                  <a:srgbClr val="494949"/>
                </a:solidFill>
                <a:latin typeface="Consolas" panose="020B0609020204030204" pitchFamily="49" charset="0"/>
              </a:rPr>
              <a:t>sim_rtl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cd </a:t>
            </a:r>
            <a:r>
              <a:rPr lang="en-US" altLang="ko-KR" sz="1800" dirty="0" err="1">
                <a:solidFill>
                  <a:srgbClr val="494949"/>
                </a:solidFill>
                <a:latin typeface="Consolas" panose="020B0609020204030204" pitchFamily="49" charset="0"/>
              </a:rPr>
              <a:t>sim_rtl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 make ev01.debug</a:t>
            </a:r>
            <a:b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</a:b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$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make view 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또는 </a:t>
            </a:r>
            <a:r>
              <a:rPr lang="en-US" altLang="ko-KR" sz="1800" dirty="0" err="1">
                <a:solidFill>
                  <a:srgbClr val="494949"/>
                </a:solidFill>
                <a:latin typeface="Consolas" panose="020B0609020204030204" pitchFamily="49" charset="0"/>
              </a:rPr>
              <a:t>vsim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494949"/>
                </a:solidFill>
                <a:latin typeface="Consolas" panose="020B0609020204030204" pitchFamily="49" charset="0"/>
              </a:rPr>
              <a:t>–view</a:t>
            </a:r>
            <a:r>
              <a:rPr lang="ko-KR" altLang="en-US" sz="1800" dirty="0">
                <a:solidFill>
                  <a:srgbClr val="494949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 err="1">
                <a:solidFill>
                  <a:srgbClr val="494949"/>
                </a:solidFill>
                <a:latin typeface="Consolas" panose="020B0609020204030204" pitchFamily="49" charset="0"/>
              </a:rPr>
              <a:t>vsim.wlf</a:t>
            </a:r>
            <a:endParaRPr lang="en-US" altLang="ko-KR" sz="1800" dirty="0">
              <a:solidFill>
                <a:srgbClr val="494949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BFD360-DBAD-3E67-A2C5-54A930168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225" y="2105083"/>
            <a:ext cx="6017982" cy="508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06205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B08B-5D0A-FE6F-9A2D-A13E81DA2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A7D75-156C-1F7C-2268-36634330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eMamba IP </a:t>
            </a:r>
            <a:r>
              <a:rPr lang="ko-KR" altLang="en-US" sz="4000" dirty="0"/>
              <a:t>연결 결과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C7DC50-A1CC-A9A1-4355-FCD3F0CE8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ZCU102(ground) </a:t>
            </a:r>
            <a:r>
              <a:rPr lang="ko-KR" altLang="en-US" sz="2800" dirty="0"/>
              <a:t>결과와 일치하도록 </a:t>
            </a:r>
            <a:r>
              <a:rPr lang="en-US" altLang="ko-KR" sz="2800" dirty="0"/>
              <a:t>eMamba IP</a:t>
            </a:r>
            <a:r>
              <a:rPr lang="ko-KR" altLang="en-US" sz="2800" dirty="0"/>
              <a:t> 연결 완료</a:t>
            </a:r>
            <a:endParaRPr lang="en-US" altLang="ko-KR" sz="2800" dirty="0"/>
          </a:p>
          <a:p>
            <a:pPr lvl="1"/>
            <a:r>
              <a:rPr lang="en-US" altLang="ko-KR" sz="2400" dirty="0"/>
              <a:t>Integrated eMamba IP</a:t>
            </a:r>
          </a:p>
          <a:p>
            <a:pPr lvl="1"/>
            <a:r>
              <a:rPr lang="en-US" altLang="ko-KR" sz="2400" dirty="0"/>
              <a:t>100% </a:t>
            </a:r>
            <a:r>
              <a:rPr lang="ko-KR" altLang="en-US" sz="2400" dirty="0"/>
              <a:t>일치 확인</a:t>
            </a:r>
            <a:endParaRPr lang="en-US" altLang="ko-KR" sz="2400" dirty="0"/>
          </a:p>
          <a:p>
            <a:pPr lvl="1"/>
            <a:r>
              <a:rPr lang="ko-KR" altLang="en-US" sz="2400" dirty="0"/>
              <a:t>이전 결과 </a:t>
            </a:r>
            <a:r>
              <a:rPr lang="en-US" altLang="ko-KR" sz="2400" dirty="0"/>
              <a:t>(PureC–Mamba)</a:t>
            </a:r>
            <a:r>
              <a:rPr lang="ko-KR" altLang="en-US" sz="2400" dirty="0"/>
              <a:t>는 이번 프로젝트에서 제외</a:t>
            </a:r>
            <a:endParaRPr lang="en-US" altLang="ko-KR" sz="2400" dirty="0"/>
          </a:p>
          <a:p>
            <a:r>
              <a:rPr lang="en-US" altLang="ko-KR" sz="2800" dirty="0"/>
              <a:t>AXI 4 Full </a:t>
            </a:r>
            <a:r>
              <a:rPr lang="ko-KR" altLang="en-US" sz="2800" dirty="0"/>
              <a:t>로 연결하여 데이터 통신 최적화 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296D1-C183-5316-783D-198271508CC5}"/>
              </a:ext>
            </a:extLst>
          </p:cNvPr>
          <p:cNvSpPr txBox="1"/>
          <p:nvPr/>
        </p:nvSpPr>
        <p:spPr>
          <a:xfrm>
            <a:off x="786464" y="8213237"/>
            <a:ext cx="2927503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Flow Diagram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0F489D-D9F9-F7A2-8AFB-FE751C63CAB0}"/>
              </a:ext>
            </a:extLst>
          </p:cNvPr>
          <p:cNvSpPr txBox="1"/>
          <p:nvPr/>
        </p:nvSpPr>
        <p:spPr>
          <a:xfrm>
            <a:off x="4825572" y="8213237"/>
            <a:ext cx="3353656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Integrated eMamba IP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6351CCC-BF7E-E755-28E3-066D65EE4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87" y="4564336"/>
            <a:ext cx="4128406" cy="328725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B2DD200-6C4E-7A17-65D4-B6B0806B8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369" y="4788090"/>
            <a:ext cx="4465261" cy="329129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A555AC5-DA03-8F81-AE4C-9C088B8FB1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646"/>
          <a:stretch>
            <a:fillRect/>
          </a:stretch>
        </p:blipFill>
        <p:spPr>
          <a:xfrm>
            <a:off x="8989306" y="5677669"/>
            <a:ext cx="3818569" cy="191672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EB2B0E5-F69F-2643-6B98-709782F82AC4}"/>
              </a:ext>
            </a:extLst>
          </p:cNvPr>
          <p:cNvSpPr txBox="1"/>
          <p:nvPr/>
        </p:nvSpPr>
        <p:spPr>
          <a:xfrm>
            <a:off x="9221762" y="8213237"/>
            <a:ext cx="3353656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ko-KR" altLang="en-US" sz="2400" dirty="0">
                <a:solidFill>
                  <a:srgbClr val="494949"/>
                </a:solidFill>
              </a:rPr>
              <a:t>연산 결과 </a:t>
            </a:r>
            <a:r>
              <a:rPr lang="en-US" altLang="ko-KR" sz="2400" dirty="0">
                <a:solidFill>
                  <a:srgbClr val="494949"/>
                </a:solidFill>
              </a:rPr>
              <a:t>100% </a:t>
            </a:r>
            <a:r>
              <a:rPr lang="ko-KR" altLang="en-US" sz="2400" dirty="0">
                <a:solidFill>
                  <a:srgbClr val="494949"/>
                </a:solidFill>
              </a:rPr>
              <a:t>일치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953358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70B96-732C-9DEC-AB3F-60B9728A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Memory</a:t>
            </a:r>
            <a:r>
              <a:rPr lang="ko-KR" altLang="en-US" sz="4000" dirty="0"/>
              <a:t> </a:t>
            </a:r>
            <a:r>
              <a:rPr lang="en-US" altLang="ko-KR" sz="4000" dirty="0"/>
              <a:t>Map &amp; IP map Endian</a:t>
            </a:r>
            <a:endParaRPr lang="ko-KR" altLang="en-US" sz="4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C813E8-DC0D-6E78-6EA0-85D12F38A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6741"/>
            <a:ext cx="12192001" cy="294119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AXI 4 Full, size 0x800</a:t>
            </a:r>
            <a:r>
              <a:rPr lang="ko-KR" altLang="en-US" sz="2800" dirty="0"/>
              <a:t>으로 배정 후 </a:t>
            </a:r>
            <a:r>
              <a:rPr lang="en-US" altLang="ko-KR" sz="2800" dirty="0">
                <a:latin typeface="Consolas" panose="020B0609020204030204" pitchFamily="49" charset="0"/>
              </a:rPr>
              <a:t>$ make syn</a:t>
            </a:r>
          </a:p>
          <a:p>
            <a:pPr lvl="1"/>
            <a:r>
              <a:rPr lang="en-US" altLang="ko-KR" sz="2400" dirty="0">
                <a:cs typeface="Tahoma" panose="020B0604030504040204" pitchFamily="34" charset="0"/>
              </a:rPr>
              <a:t>0x C000_1000 ~ 0x</a:t>
            </a:r>
            <a:r>
              <a:rPr lang="ko-KR" altLang="en-US" sz="2400" dirty="0">
                <a:cs typeface="Tahoma" panose="020B0604030504040204" pitchFamily="34" charset="0"/>
              </a:rPr>
              <a:t> </a:t>
            </a:r>
            <a:r>
              <a:rPr lang="en-US" altLang="ko-KR" sz="2400" dirty="0">
                <a:cs typeface="Tahoma" panose="020B0604030504040204" pitchFamily="34" charset="0"/>
              </a:rPr>
              <a:t>C000_17FF</a:t>
            </a:r>
          </a:p>
          <a:p>
            <a:r>
              <a:rPr lang="en-US" altLang="ko-KR" sz="2800" dirty="0">
                <a:cs typeface="Tahoma" panose="020B0604030504040204" pitchFamily="34" charset="0"/>
              </a:rPr>
              <a:t>eMamba</a:t>
            </a:r>
            <a:r>
              <a:rPr lang="ko-KR" altLang="en-US" sz="2800" dirty="0">
                <a:cs typeface="Tahoma" panose="020B0604030504040204" pitchFamily="34" charset="0"/>
              </a:rPr>
              <a:t> </a:t>
            </a:r>
            <a:r>
              <a:rPr lang="en-US" altLang="ko-KR" sz="2800" dirty="0">
                <a:cs typeface="Tahoma" panose="020B0604030504040204" pitchFamily="34" charset="0"/>
              </a:rPr>
              <a:t>IP</a:t>
            </a:r>
            <a:r>
              <a:rPr lang="ko-KR" altLang="en-US" sz="2800" dirty="0">
                <a:cs typeface="Tahoma" panose="020B0604030504040204" pitchFamily="34" charset="0"/>
              </a:rPr>
              <a:t>의 </a:t>
            </a:r>
            <a:r>
              <a:rPr lang="en-US" altLang="ko-KR" sz="2800" dirty="0">
                <a:cs typeface="Tahoma" panose="020B0604030504040204" pitchFamily="34" charset="0"/>
              </a:rPr>
              <a:t>in/out data</a:t>
            </a:r>
            <a:r>
              <a:rPr lang="ko-KR" altLang="en-US" sz="2800" dirty="0">
                <a:cs typeface="Tahoma" panose="020B0604030504040204" pitchFamily="34" charset="0"/>
              </a:rPr>
              <a:t>는 </a:t>
            </a:r>
            <a:r>
              <a:rPr lang="en-US" altLang="ko-KR" sz="2800" dirty="0">
                <a:cs typeface="Tahoma" panose="020B0604030504040204" pitchFamily="34" charset="0"/>
              </a:rPr>
              <a:t>int8 </a:t>
            </a:r>
            <a:r>
              <a:rPr lang="ko-KR" altLang="en-US" sz="2800" dirty="0">
                <a:cs typeface="Tahoma" panose="020B0604030504040204" pitchFamily="34" charset="0"/>
              </a:rPr>
              <a:t>이므로</a:t>
            </a:r>
            <a:r>
              <a:rPr lang="en-US" altLang="ko-KR" sz="2800" dirty="0">
                <a:cs typeface="Tahoma" panose="020B0604030504040204" pitchFamily="34" charset="0"/>
              </a:rPr>
              <a:t>, 1</a:t>
            </a:r>
            <a:r>
              <a:rPr lang="ko-KR" altLang="en-US" sz="2800" dirty="0">
                <a:cs typeface="Tahoma" panose="020B0604030504040204" pitchFamily="34" charset="0"/>
              </a:rPr>
              <a:t> </a:t>
            </a:r>
            <a:r>
              <a:rPr lang="en-US" altLang="ko-KR" sz="2800" dirty="0">
                <a:cs typeface="Tahoma" panose="020B0604030504040204" pitchFamily="34" charset="0"/>
              </a:rPr>
              <a:t>word</a:t>
            </a:r>
            <a:r>
              <a:rPr lang="ko-KR" altLang="en-US" sz="2800" dirty="0">
                <a:cs typeface="Tahoma" panose="020B0604030504040204" pitchFamily="34" charset="0"/>
              </a:rPr>
              <a:t>에 맞게 </a:t>
            </a:r>
            <a:r>
              <a:rPr lang="en-US" altLang="ko-KR" sz="2800" dirty="0">
                <a:cs typeface="Tahoma" panose="020B0604030504040204" pitchFamily="34" charset="0"/>
              </a:rPr>
              <a:t>pack</a:t>
            </a:r>
            <a:r>
              <a:rPr lang="ko-KR" altLang="en-US" sz="2800" dirty="0">
                <a:cs typeface="Tahoma" panose="020B0604030504040204" pitchFamily="34" charset="0"/>
              </a:rPr>
              <a:t>하여 통신</a:t>
            </a:r>
            <a:endParaRPr lang="en-US" altLang="ko-KR" sz="2800" dirty="0">
              <a:cs typeface="Tahoma" panose="020B0604030504040204" pitchFamily="34" charset="0"/>
            </a:endParaRPr>
          </a:p>
          <a:p>
            <a:pPr lvl="1"/>
            <a:r>
              <a:rPr lang="en-US" altLang="ko-KR" sz="2400" dirty="0">
                <a:cs typeface="Tahoma" panose="020B0604030504040204" pitchFamily="34" charset="0"/>
              </a:rPr>
              <a:t>Endian</a:t>
            </a:r>
            <a:r>
              <a:rPr lang="ko-KR" altLang="en-US" sz="2400" dirty="0">
                <a:cs typeface="Tahoma" panose="020B0604030504040204" pitchFamily="34" charset="0"/>
              </a:rPr>
              <a:t>에 맞춰 </a:t>
            </a:r>
            <a:r>
              <a:rPr lang="en-US" altLang="ko-KR" sz="2400" dirty="0">
                <a:cs typeface="Tahoma" panose="020B0604030504040204" pitchFamily="34" charset="0"/>
              </a:rPr>
              <a:t>Data packing</a:t>
            </a:r>
            <a:endParaRPr lang="ko-KR" altLang="en-US" sz="2400" dirty="0">
              <a:cs typeface="Tahoma" panose="020B060403050404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BD9262-0547-B833-EC0A-979E92F87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4" y="3859434"/>
            <a:ext cx="3574507" cy="4404033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11B02C17-B7A2-5159-D107-73112D30B2A5}"/>
              </a:ext>
            </a:extLst>
          </p:cNvPr>
          <p:cNvSpPr/>
          <p:nvPr/>
        </p:nvSpPr>
        <p:spPr>
          <a:xfrm>
            <a:off x="564287" y="5029196"/>
            <a:ext cx="2937934" cy="448734"/>
          </a:xfrm>
          <a:prstGeom prst="frame">
            <a:avLst>
              <a:gd name="adj1" fmla="val 0"/>
            </a:avLst>
          </a:prstGeom>
          <a:solidFill>
            <a:srgbClr val="FF0000"/>
          </a:solidFill>
          <a:ln w="25400" cap="flat">
            <a:solidFill>
              <a:srgbClr val="FF0000"/>
            </a:solidFill>
            <a:prstDash val="solid"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endParaRPr kumimoji="0" lang="ko-KR" altLang="en-US" sz="2800" b="0" i="0" u="none" strike="noStrike" cap="all" spc="0" normalizeH="0" baseline="0">
              <a:solidFill>
                <a:srgbClr val="838787"/>
              </a:solidFill>
              <a:effectLst/>
              <a:uFillTx/>
              <a:latin typeface="DIN Condensed Bold"/>
              <a:ea typeface="DIN Condensed Bold"/>
              <a:cs typeface="DIN Condensed Bold"/>
              <a:sym typeface="DIN Condensed 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EE43E0-180D-DE30-AEB7-8E6680173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358" y="3849052"/>
            <a:ext cx="3764168" cy="45512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B956BD2-313D-FC3F-574F-0D8D53984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978" y="5545664"/>
            <a:ext cx="5837888" cy="20691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56F0D5-F773-07C0-F64F-7E36AF291F9B}"/>
              </a:ext>
            </a:extLst>
          </p:cNvPr>
          <p:cNvSpPr txBox="1"/>
          <p:nvPr/>
        </p:nvSpPr>
        <p:spPr>
          <a:xfrm>
            <a:off x="239105" y="8623065"/>
            <a:ext cx="3384164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kumimoji="0" lang="ko-KR" altLang="en-US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배정받은 </a:t>
            </a:r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address map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1BC6B5-6364-B323-2D83-9C6557801C1A}"/>
              </a:ext>
            </a:extLst>
          </p:cNvPr>
          <p:cNvSpPr txBox="1"/>
          <p:nvPr/>
        </p:nvSpPr>
        <p:spPr>
          <a:xfrm>
            <a:off x="4046895" y="8634063"/>
            <a:ext cx="3384164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address map Diagram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CAC566-9E74-D2DB-3C67-1340387EC127}"/>
              </a:ext>
            </a:extLst>
          </p:cNvPr>
          <p:cNvSpPr txBox="1"/>
          <p:nvPr/>
        </p:nvSpPr>
        <p:spPr>
          <a:xfrm>
            <a:off x="8321100" y="8634063"/>
            <a:ext cx="3384164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Data pack Endian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899689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A0B8D-F3BD-CBC9-44D3-238DFFB3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3CF16-A716-84BF-808F-AA8AEDDF0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Synthesis Report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12AFCA-8241-8BC8-350B-076CC3DA9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400" y="1266741"/>
            <a:ext cx="12192001" cy="2221526"/>
          </a:xfrm>
        </p:spPr>
        <p:txBody>
          <a:bodyPr/>
          <a:lstStyle/>
          <a:p>
            <a:r>
              <a:rPr lang="en-US" altLang="ko-KR" dirty="0"/>
              <a:t>Slice Utilization 89.2%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ED8F032-A7D6-5097-BEFF-11CAEE477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49"/>
          <a:stretch>
            <a:fillRect/>
          </a:stretch>
        </p:blipFill>
        <p:spPr>
          <a:xfrm>
            <a:off x="5882935" y="5709793"/>
            <a:ext cx="6692814" cy="35093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6775029-EF62-1345-7FCC-C2720055B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75" y="3290859"/>
            <a:ext cx="11450648" cy="16766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4DC2E6C-E28E-3B92-1431-A5226CF4F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82004" y="4726220"/>
            <a:ext cx="3125322" cy="54765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29CDD33-560B-270B-EA5B-F764ED76625D}"/>
              </a:ext>
            </a:extLst>
          </p:cNvPr>
          <p:cNvSpPr txBox="1"/>
          <p:nvPr/>
        </p:nvSpPr>
        <p:spPr>
          <a:xfrm>
            <a:off x="7765589" y="9082282"/>
            <a:ext cx="2927503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Utilization </a:t>
            </a:r>
            <a:r>
              <a:rPr lang="en-US" altLang="ko-KR" sz="2400" dirty="0" err="1">
                <a:solidFill>
                  <a:srgbClr val="494949"/>
                </a:solidFill>
              </a:rPr>
              <a:t>Histo</a:t>
            </a:r>
            <a:r>
              <a:rPr lang="en-US" altLang="ko-KR" sz="2400" dirty="0">
                <a:solidFill>
                  <a:srgbClr val="494949"/>
                </a:solidFill>
              </a:rPr>
              <a:t>.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3257E2-F45B-D61F-4E5C-A2BCC34F618C}"/>
              </a:ext>
            </a:extLst>
          </p:cNvPr>
          <p:cNvSpPr txBox="1"/>
          <p:nvPr/>
        </p:nvSpPr>
        <p:spPr>
          <a:xfrm>
            <a:off x="1680914" y="9082283"/>
            <a:ext cx="2927503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494949"/>
                </a:solidFill>
              </a:rPr>
              <a:t>Floorplan after P&amp;R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9293E1-B7D9-94DB-9A11-42F6AF97C9DB}"/>
              </a:ext>
            </a:extLst>
          </p:cNvPr>
          <p:cNvSpPr txBox="1"/>
          <p:nvPr/>
        </p:nvSpPr>
        <p:spPr>
          <a:xfrm>
            <a:off x="5038648" y="5107810"/>
            <a:ext cx="2927503" cy="461665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wrap="square">
            <a:spAutoFit/>
          </a:bodyPr>
          <a:lstStyle/>
          <a:p>
            <a:r>
              <a:rPr kumimoji="0" lang="en-US" altLang="ko-KR" sz="2400" b="0" i="0" u="none" strike="noStrike" cap="none" spc="0" normalizeH="0" baseline="0" dirty="0">
                <a:solidFill>
                  <a:srgbClr val="494949"/>
                </a:solidFill>
                <a:effectLst/>
                <a:uFillTx/>
                <a:latin typeface="+mn-lt"/>
                <a:ea typeface="+mn-ea"/>
                <a:cs typeface="+mn-cs"/>
                <a:sym typeface="Arial"/>
              </a:rPr>
              <a:t>Resource Utilization</a:t>
            </a:r>
            <a:endParaRPr kumimoji="0" lang="ko-KR" altLang="en-US" sz="2400" b="0" i="0" u="none" strike="noStrike" cap="none" spc="0" normalizeH="0" baseline="0" dirty="0">
              <a:solidFill>
                <a:srgbClr val="494949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684348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New_Template7">
  <a:themeElements>
    <a:clrScheme name="New_Template7">
      <a:dk1>
        <a:srgbClr val="494949"/>
      </a:dk1>
      <a:lt1>
        <a:srgbClr val="222222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Avenir Next Regular"/>
        <a:ea typeface="Avenir Next Regular"/>
        <a:cs typeface="Avenir Next Regular"/>
      </a:majorFont>
      <a:minorFont>
        <a:latin typeface="Arial"/>
        <a:ea typeface="Arial"/>
        <a:cs typeface="Arial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5B5854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800" b="0" i="0" u="none" strike="noStrike" cap="all" spc="0" normalizeH="0" baseline="0">
            <a:solidFill>
              <a:srgbClr val="838787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chemeClr val="accent1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FontTx/>
          <a:buNone/>
          <a:defRPr kumimoji="0" sz="2800" b="0" i="0" u="none" strike="noStrike" cap="none" spc="0" normalizeH="0" baseline="0">
            <a:solidFill>
              <a:srgbClr val="49494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Avenir Next Regular"/>
        <a:ea typeface="Avenir Next Regular"/>
        <a:cs typeface="Avenir Next Regular"/>
      </a:majorFont>
      <a:minorFont>
        <a:latin typeface="Arial"/>
        <a:ea typeface="Arial"/>
        <a:cs typeface="Arial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5B5854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800" b="0" i="0" u="none" strike="noStrike" cap="all" spc="0" normalizeH="0" baseline="0">
            <a:solidFill>
              <a:srgbClr val="838787"/>
            </a:solidFill>
            <a:effectLst/>
            <a:uFillTx/>
            <a:latin typeface="DIN Condensed Bold"/>
            <a:ea typeface="DIN Condensed Bold"/>
            <a:cs typeface="DIN Condensed Bold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chemeClr val="accent1"/>
          </a:solidFill>
          <a:prstDash val="solid"/>
          <a:miter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FontTx/>
          <a:buNone/>
          <a:defRPr kumimoji="0" sz="2800" b="0" i="0" u="none" strike="noStrike" cap="none" spc="0" normalizeH="0" baseline="0">
            <a:solidFill>
              <a:srgbClr val="49494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137543</TotalTime>
  <Words>484</Words>
  <Application>Microsoft Office PowerPoint</Application>
  <PresentationFormat>사용자 지정</PresentationFormat>
  <Paragraphs>116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DIN Alternate Bold</vt:lpstr>
      <vt:lpstr>DIN Condensed Bold</vt:lpstr>
      <vt:lpstr>나눔고딕</vt:lpstr>
      <vt:lpstr>맑은 고딕</vt:lpstr>
      <vt:lpstr>Arial</vt:lpstr>
      <vt:lpstr>Consolas</vt:lpstr>
      <vt:lpstr>Tahoma</vt:lpstr>
      <vt:lpstr>times</vt:lpstr>
      <vt:lpstr>Times New Roman</vt:lpstr>
      <vt:lpstr>Wingdings</vt:lpstr>
      <vt:lpstr>New_Template7</vt:lpstr>
      <vt:lpstr>딥러닝 기반 Mamba 가속 하드웨어 IP 회로 개발</vt:lpstr>
      <vt:lpstr>Overview</vt:lpstr>
      <vt:lpstr>Platform &amp; App 만들기</vt:lpstr>
      <vt:lpstr>Fakefile 만들기</vt:lpstr>
      <vt:lpstr>Fakefile 읽기</vt:lpstr>
      <vt:lpstr>RISC-V 와 RTL IP 연결</vt:lpstr>
      <vt:lpstr>ModelSim Waveform</vt:lpstr>
      <vt:lpstr>eMamba IP 연결 결과</vt:lpstr>
      <vt:lpstr>Memory Map &amp; IP map Endian</vt:lpstr>
      <vt:lpstr>Synthesis Report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Processor System with Zynq</dc:title>
  <dc:creator>Jaehyun</dc:creator>
  <cp:lastModifiedBy>조재혁</cp:lastModifiedBy>
  <cp:revision>3222</cp:revision>
  <dcterms:modified xsi:type="dcterms:W3CDTF">2026-07-06T04:13:10Z</dcterms:modified>
  <cp:version>1000.0000.01</cp:version>
</cp:coreProperties>
</file>
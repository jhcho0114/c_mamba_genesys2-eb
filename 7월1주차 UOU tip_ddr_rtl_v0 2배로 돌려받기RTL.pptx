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58" r:id="rId1"/>
  </p:sldMasterIdLst>
  <p:notesMasterIdLst>
    <p:notesMasterId r:id="rId16"/>
  </p:notesMasterIdLst>
  <p:handoutMasterIdLst>
    <p:handoutMasterId r:id="rId17"/>
  </p:handoutMasterIdLst>
  <p:sldIdLst>
    <p:sldId id="1047" r:id="rId2"/>
    <p:sldId id="1082" r:id="rId3"/>
    <p:sldId id="1093" r:id="rId4"/>
    <p:sldId id="1103" r:id="rId5"/>
    <p:sldId id="1099" r:id="rId6"/>
    <p:sldId id="1094" r:id="rId7"/>
    <p:sldId id="1095" r:id="rId8"/>
    <p:sldId id="1096" r:id="rId9"/>
    <p:sldId id="1104" r:id="rId10"/>
    <p:sldId id="1097" r:id="rId11"/>
    <p:sldId id="1098" r:id="rId12"/>
    <p:sldId id="1090" r:id="rId13"/>
    <p:sldId id="1091" r:id="rId14"/>
    <p:sldId id="1092" r:id="rId15"/>
  </p:sldIdLst>
  <p:sldSz cx="13004800" cy="9753600"/>
  <p:notesSz cx="7099300" cy="102346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FontTx/>
      <a:buNone/>
      <a:defRPr kumimoji="0" sz="1800" b="0" i="0" u="none" strike="noStrike" cap="none" spc="0" normalizeH="0" baseline="0"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71">
          <p15:clr>
            <a:srgbClr val="A4A3A4"/>
          </p15:clr>
        </p15:guide>
        <p15:guide id="2" pos="40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DD09403-A110-087A-D73C-0A2C9D25C75A}" name="이상완" initials="전이" userId="S::lso500@mail.ulsan.ac.kr::96b8e34a-8cbc-4d1c-bc14-d555da540fa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6EFCE"/>
    <a:srgbClr val="7F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4C3C2611-4C71-4FC5-86AE-919BDF0F9419}" styleName="">
    <a:wholeTbl>
      <a:tcTxStyle b="off" i="off">
        <a:font>
          <a:latin typeface="Avenir Next Medium"/>
          <a:ea typeface="Avenir Next Medium"/>
          <a:cs typeface="Avenir Next Medium"/>
        </a:font>
        <a:schemeClr val="accent1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1">
              <a:hueOff val="178262"/>
              <a:satOff val="-8650"/>
              <a:lumOff val="-7250"/>
              <a:alpha val="29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63500" cap="flat">
              <a:solidFill>
                <a:srgbClr val="5F6568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635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firstRow>
  </a:tblStyle>
  <a:tblStyle styleId="{EEE7283C-3CF3-47DC-8721-378D4A62B228}" styleName=""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chemeClr val="accent5">
              <a:hueOff val="-239254"/>
              <a:lumOff val="-1400"/>
            </a:schemeClr>
          </a:solidFill>
        </a:fill>
      </a:tcStyle>
    </a:firstRow>
  </a:tblStyle>
  <a:tblStyle styleId="{2708684C-4D16-4618-839F-0558EEFCDFE6}" styleName=""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/>
            </a:ln>
          </a:left>
          <a:right>
            <a:ln w="25400" cap="flat">
              <a:solidFill>
                <a:srgbClr val="5F6568"/>
              </a:solidFill>
              <a:prstDash val="solid"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25400" cap="flat">
              <a:solidFill>
                <a:srgbClr val="5F6568"/>
              </a:solidFill>
              <a:prstDash val="solid"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63500" cap="flat">
              <a:solidFill>
                <a:srgbClr val="5F6568"/>
              </a:solidFill>
              <a:prstDash val="solid"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25400" cap="flat">
              <a:solidFill>
                <a:srgbClr val="5F6568"/>
              </a:solidFill>
              <a:prstDash val="solid"/>
              <a:miter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63500" cap="flat">
              <a:solidFill>
                <a:srgbClr val="5F6568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/>
            </a:ln>
          </a:left>
          <a:right>
            <a:ln w="25400" cap="flat">
              <a:solidFill>
                <a:srgbClr val="5F6568"/>
              </a:solidFill>
              <a:prstDash val="solid"/>
              <a:miter/>
            </a:ln>
          </a:right>
          <a:top>
            <a:ln w="12700" cap="flat">
              <a:noFill/>
              <a:miter/>
            </a:ln>
          </a:top>
          <a:bottom>
            <a:ln w="635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25400" cap="flat">
              <a:solidFill>
                <a:srgbClr val="5F6568"/>
              </a:solidFill>
              <a:prstDash val="solid"/>
              <a:miter/>
            </a:ln>
          </a:insideV>
        </a:tcBdr>
        <a:fill>
          <a:noFill/>
        </a:fill>
      </a:tcStyle>
    </a:firstRow>
  </a:tblStyle>
  <a:tblStyle styleId="{33BA23B1-9221-436E-865A-0063620EA4FD}" styleName="">
    <a:wholeTbl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222222"/>
              </a:solidFill>
              <a:prstDash val="solid"/>
              <a:miter/>
            </a:ln>
          </a:top>
          <a:bottom>
            <a:ln w="25400" cap="flat">
              <a:solidFill>
                <a:srgbClr val="222222"/>
              </a:solidFill>
              <a:prstDash val="solid"/>
              <a:miter/>
            </a:ln>
          </a:bottom>
          <a:insideH>
            <a:ln w="25400" cap="flat">
              <a:solidFill>
                <a:srgbClr val="222222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838787">
              <a:alpha val="75000"/>
            </a:srgbClr>
          </a:solidFill>
        </a:fill>
      </a:tcStyle>
    </a:wholeTbl>
    <a:band2H>
      <a:tcTxStyle/>
      <a:tcStyle>
        <a:tcBdr/>
        <a:fill>
          <a:solidFill>
            <a:srgbClr val="686A6A">
              <a:alpha val="85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222222"/>
      </a:tcTxStyle>
      <a:tcStyle>
        <a:tcBdr>
          <a:left>
            <a:ln w="12700" cap="flat">
              <a:noFill/>
              <a:miter/>
            </a:ln>
          </a:left>
          <a:right>
            <a:ln w="63500" cap="flat">
              <a:solidFill>
                <a:srgbClr val="222222"/>
              </a:solidFill>
              <a:prstDash val="solid"/>
              <a:miter/>
            </a:ln>
          </a:right>
          <a:top>
            <a:ln w="25400" cap="flat">
              <a:solidFill>
                <a:srgbClr val="222222"/>
              </a:solidFill>
              <a:prstDash val="solid"/>
              <a:miter/>
            </a:ln>
          </a:top>
          <a:bottom>
            <a:ln w="25400" cap="flat">
              <a:solidFill>
                <a:srgbClr val="222222"/>
              </a:solidFill>
              <a:prstDash val="solid"/>
              <a:miter/>
            </a:ln>
          </a:bottom>
          <a:insideH>
            <a:ln w="25400" cap="flat">
              <a:solidFill>
                <a:srgbClr val="222222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686A6A">
              <a:alpha val="85000"/>
            </a:srgb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63500" cap="flat">
              <a:solidFill>
                <a:srgbClr val="222222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222222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63500" cap="flat">
              <a:solidFill>
                <a:srgbClr val="222222"/>
              </a:solidFill>
              <a:prstDash val="solid"/>
              <a:miter/>
            </a:ln>
          </a:bottom>
          <a:insideH>
            <a:ln w="25400" cap="flat">
              <a:solidFill>
                <a:srgbClr val="222222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838787"/>
          </a:solidFill>
        </a:fill>
      </a:tcStyle>
    </a:firstRow>
  </a:tblStyle>
  <a:tblStyle styleId="{CF821DB8-F4EB-4A41-A1BA-3FCAFE7338EE}" styleName=""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EB9B">
              <a:alpha val="26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88900" cap="flat">
              <a:solidFill>
                <a:srgbClr val="5F6568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635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147882"/>
          </a:solidFill>
        </a:fill>
      </a:tcStyle>
    </a:firstRow>
  </a:tblStyle>
  <a:tblStyle styleId="{C7B018BB-80A7-4F77-B60F-C8B233D01FF8}" styleName=""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6">
              <a:alpha val="25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A01D73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781873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781873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5" autoAdjust="0"/>
    <p:restoredTop sz="86667" autoAdjust="0"/>
  </p:normalViewPr>
  <p:slideViewPr>
    <p:cSldViewPr snapToGrid="0">
      <p:cViewPr varScale="1">
        <p:scale>
          <a:sx n="113" d="100"/>
          <a:sy n="113" d="100"/>
        </p:scale>
        <p:origin x="1908" y="84"/>
      </p:cViewPr>
      <p:guideLst>
        <p:guide orient="horz" pos="3071"/>
        <p:guide pos="40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9" d="100"/>
          <a:sy n="109" d="100"/>
        </p:scale>
        <p:origin x="520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4B13CF4-DE26-4643-AC33-BF963B79312C}" type="datetime1">
              <a:rPr lang="ko-KR" altLang="en-US"/>
              <a:pPr lvl="0">
                <a:defRPr/>
              </a:pPr>
              <a:t>2026-07-01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D23B328-7739-49F3-9BFC-8E2CCC17EB8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9938"/>
            <a:ext cx="5114925" cy="3835400"/>
          </a:xfrm>
          <a:prstGeom prst="rect">
            <a:avLst/>
          </a:prstGeom>
        </p:spPr>
        <p:txBody>
          <a:bodyPr lIns="99040" tIns="49521" rIns="99040" bIns="49521"/>
          <a:lstStyle/>
          <a:p>
            <a:pPr lvl="0">
              <a:defRPr/>
            </a:pPr>
            <a:endParaRPr/>
          </a:p>
        </p:txBody>
      </p:sp>
      <p:sp>
        <p:nvSpPr>
          <p:cNvPr id="80" name="Shape 80"/>
          <p:cNvSpPr>
            <a:spLocks noGrp="1"/>
          </p:cNvSpPr>
          <p:nvPr>
            <p:ph type="body" sz="quarter" idx="1"/>
          </p:nvPr>
        </p:nvSpPr>
        <p:spPr>
          <a:xfrm>
            <a:off x="946575" y="4861442"/>
            <a:ext cx="5206153" cy="4605576"/>
          </a:xfrm>
          <a:prstGeom prst="rect">
            <a:avLst/>
          </a:prstGeom>
        </p:spPr>
        <p:txBody>
          <a:bodyPr lIns="99040" tIns="49521" rIns="99040" bIns="49521"/>
          <a:lstStyle/>
          <a:p>
            <a:pPr lvl="0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1pPr>
    <a:lvl2pPr indent="2286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2pPr>
    <a:lvl3pPr indent="4572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3pPr>
    <a:lvl4pPr indent="6858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4pPr>
    <a:lvl5pPr indent="9144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5pPr>
    <a:lvl6pPr indent="11430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6pPr>
    <a:lvl7pPr indent="13716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7pPr>
    <a:lvl8pPr indent="16002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8pPr>
    <a:lvl9pPr indent="18288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sz="17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02F91-1DA4-0EC0-0EF7-9C1388E03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63EB8B-DB86-0AE0-F3FD-C050CB84EF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AE443F-669E-A24A-AB09-73E95D241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sz="1700" dirty="0"/>
          </a:p>
        </p:txBody>
      </p:sp>
    </p:spTree>
    <p:extLst>
      <p:ext uri="{BB962C8B-B14F-4D97-AF65-F5344CB8AC3E}">
        <p14:creationId xmlns:p14="http://schemas.microsoft.com/office/powerpoint/2010/main" val="1563236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"/>
          <p:cNvSpPr/>
          <p:nvPr/>
        </p:nvSpPr>
        <p:spPr>
          <a:xfrm>
            <a:off x="-1" y="3053125"/>
            <a:ext cx="13004801" cy="2540001"/>
          </a:xfrm>
          <a:prstGeom prst="rect">
            <a:avLst/>
          </a:prstGeom>
          <a:solidFill>
            <a:srgbClr val="00A664"/>
          </a:solidFill>
          <a:ln w="12700">
            <a:miter lim="400000"/>
          </a:ln>
        </p:spPr>
        <p:txBody>
          <a:bodyPr lIns="254000" tIns="254000" rIns="254000" bIns="254000" anchor="ctr"/>
          <a:lstStyle/>
          <a:p>
            <a:pPr algn="l">
              <a:lnSpc>
                <a:spcPct val="80000"/>
              </a:lnSpc>
              <a:spcBef>
                <a:spcPts val="1800"/>
              </a:spcBef>
              <a:defRPr sz="3600">
                <a:solidFill>
                  <a:srgbClr val="FFFFFF"/>
                </a:solidFill>
                <a:latin typeface="+mj-lt"/>
                <a:ea typeface="+mj-ea"/>
                <a:cs typeface="+mj-cs"/>
                <a:sym typeface="Avenir Next Regular"/>
              </a:defRPr>
            </a:pPr>
            <a:endParaRPr/>
          </a:p>
        </p:txBody>
      </p:sp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xfrm>
            <a:off x="406400" y="3053125"/>
            <a:ext cx="12192000" cy="2540001"/>
          </a:xfrm>
          <a:prstGeom prst="rect">
            <a:avLst/>
          </a:prstGeom>
        </p:spPr>
        <p:txBody>
          <a:bodyPr anchor="t"/>
          <a:lstStyle>
            <a:lvl1pPr>
              <a:spcBef>
                <a:spcPts val="0"/>
              </a:spcBef>
              <a:defRPr sz="8000" cap="none" baseline="0">
                <a:solidFill>
                  <a:srgbClr val="F7F7F7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06400" y="5810962"/>
            <a:ext cx="12192000" cy="266630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2700"/>
              </a:spcBef>
              <a:buClrTx/>
              <a:buSzTx/>
              <a:buNone/>
              <a:defRPr sz="4500" cap="smal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1400"/>
              </a:spcBef>
              <a:buClrTx/>
              <a:buSzTx/>
              <a:buNone/>
              <a:defRPr sz="2700" cap="smal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1400"/>
              </a:spcBef>
              <a:buClrTx/>
              <a:buSzTx/>
              <a:buNone/>
              <a:defRPr sz="2700" cap="smal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1400"/>
              </a:spcBef>
              <a:buClrTx/>
              <a:buSzTx/>
              <a:buNone/>
              <a:defRPr sz="2700" cap="smal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1400"/>
              </a:spcBef>
              <a:buClrTx/>
              <a:buSzTx/>
              <a:buNone/>
              <a:defRPr sz="2700" cap="smal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26" name="Location, Year"/>
          <p:cNvSpPr txBox="1">
            <a:spLocks noGrp="1"/>
          </p:cNvSpPr>
          <p:nvPr>
            <p:ph type="body" sz="quarter" idx="13"/>
          </p:nvPr>
        </p:nvSpPr>
        <p:spPr>
          <a:xfrm>
            <a:off x="406400" y="8980785"/>
            <a:ext cx="12192000" cy="453430"/>
          </a:xfrm>
          <a:prstGeom prst="rect">
            <a:avLst/>
          </a:prstGeom>
        </p:spPr>
        <p:txBody>
          <a:bodyPr anchor="b"/>
          <a:lstStyle>
            <a:lvl1pPr marL="0" indent="0" defTabSz="525779">
              <a:lnSpc>
                <a:spcPct val="80000"/>
              </a:lnSpc>
              <a:spcBef>
                <a:spcPts val="2000"/>
              </a:spcBef>
              <a:buClrTx/>
              <a:buSzTx/>
              <a:buNone/>
              <a:defRPr sz="2430" cap="small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Location, Year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94440" y="431800"/>
            <a:ext cx="406898" cy="457200"/>
          </a:xfrm>
          <a:prstGeom prst="rect">
            <a:avLst/>
          </a:prstGeom>
        </p:spPr>
        <p:txBody>
          <a:bodyPr/>
          <a:lstStyle>
            <a:lvl1pPr algn="r">
              <a:lnSpc>
                <a:spcPct val="80000"/>
              </a:lnSpc>
              <a:defRPr sz="2400">
                <a:solidFill>
                  <a:srgbClr val="838787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&amp;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Text"/>
          <p:cNvSpPr txBox="1">
            <a:spLocks noGrp="1"/>
          </p:cNvSpPr>
          <p:nvPr>
            <p:ph type="title"/>
          </p:nvPr>
        </p:nvSpPr>
        <p:spPr>
          <a:xfrm>
            <a:off x="406400" y="167781"/>
            <a:ext cx="12192000" cy="91102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400" b="1" cap="none" baseline="0">
                <a:latin typeface="Tahoma" panose="020B0604030504040204" pitchFamily="34" charset="0"/>
                <a:ea typeface="맑은 고딕" panose="020B0503020000020004" pitchFamily="50" charset="-12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45" name="Body Level One…"/>
          <p:cNvSpPr txBox="1">
            <a:spLocks noGrp="1"/>
          </p:cNvSpPr>
          <p:nvPr>
            <p:ph type="body" idx="1"/>
          </p:nvPr>
        </p:nvSpPr>
        <p:spPr>
          <a:xfrm>
            <a:off x="406400" y="1266741"/>
            <a:ext cx="12192001" cy="7986316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ahoma" panose="020B0604030504040204" pitchFamily="34" charset="0"/>
                <a:ea typeface="맑은 고딕" panose="020B0503020000020004" pitchFamily="50" charset="-127"/>
              </a:defRPr>
            </a:lvl1pPr>
            <a:lvl2pPr>
              <a:defRPr baseline="0">
                <a:latin typeface="Tahoma" panose="020B0604030504040204" pitchFamily="34" charset="0"/>
                <a:ea typeface="맑은 고딕" panose="020B0503020000020004" pitchFamily="50" charset="-127"/>
              </a:defRPr>
            </a:lvl2pPr>
            <a:lvl3pPr>
              <a:defRPr baseline="0">
                <a:latin typeface="Tahoma" panose="020B0604030504040204" pitchFamily="34" charset="0"/>
                <a:ea typeface="맑은 고딕" panose="020B0503020000020004" pitchFamily="50" charset="-127"/>
              </a:defRPr>
            </a:lvl3pPr>
            <a:lvl4pPr>
              <a:defRPr baseline="0">
                <a:latin typeface="Tahoma" panose="020B0604030504040204" pitchFamily="34" charset="0"/>
                <a:ea typeface="맑은 고딕" panose="020B0503020000020004" pitchFamily="50" charset="-127"/>
              </a:defRPr>
            </a:lvl4pPr>
            <a:lvl5pPr>
              <a:defRPr baseline="0">
                <a:latin typeface="Tahoma" panose="020B0604030504040204" pitchFamily="34" charset="0"/>
                <a:ea typeface="맑은 고딕" panose="020B0503020000020004" pitchFamily="50" charset="-127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360B8AA7-294D-4AB9-A31A-ACF342B117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090"/>
          <a:stretch/>
        </p:blipFill>
        <p:spPr>
          <a:xfrm>
            <a:off x="10544960" y="9329692"/>
            <a:ext cx="2053439" cy="420987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898BBA0-DE45-43B3-A69A-3A258E53729D}"/>
              </a:ext>
            </a:extLst>
          </p:cNvPr>
          <p:cNvCxnSpPr>
            <a:cxnSpLocks/>
          </p:cNvCxnSpPr>
          <p:nvPr userDrawn="1"/>
        </p:nvCxnSpPr>
        <p:spPr>
          <a:xfrm>
            <a:off x="0" y="1090569"/>
            <a:ext cx="13004800" cy="0"/>
          </a:xfrm>
          <a:prstGeom prst="line">
            <a:avLst/>
          </a:prstGeom>
          <a:noFill/>
          <a:ln w="25400" cap="flat">
            <a:solidFill>
              <a:srgbClr val="00A664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2168179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06400" y="316805"/>
            <a:ext cx="121920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/>
          <a:p>
            <a:r>
              <a:rPr dirty="0"/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06400" y="1390054"/>
            <a:ext cx="12192001" cy="7639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2pPr marL="762000" indent="-381000">
              <a:spcBef>
                <a:spcPts val="1200"/>
              </a:spcBef>
              <a:buSzPct val="100000"/>
              <a:buChar char="‣"/>
              <a:defRPr sz="2800"/>
            </a:lvl2pPr>
            <a:lvl3pPr marL="1143000" indent="-381000">
              <a:spcBef>
                <a:spcPts val="800"/>
              </a:spcBef>
              <a:buSzPct val="100000"/>
              <a:defRPr sz="2400"/>
            </a:lvl3pPr>
            <a:lvl4pPr marL="1524000" indent="-381000">
              <a:spcBef>
                <a:spcPts val="400"/>
              </a:spcBef>
              <a:buSzPct val="100000"/>
              <a:buChar char="‣"/>
              <a:defRPr sz="2000"/>
            </a:lvl4pPr>
            <a:lvl5pPr marL="1905000" indent="-381000">
              <a:spcBef>
                <a:spcPts val="0"/>
              </a:spcBef>
              <a:buSzPct val="100000"/>
              <a:defRPr sz="1600"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28376" y="9334500"/>
            <a:ext cx="333748" cy="3683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1800">
                <a:solidFill>
                  <a:srgbClr val="ADADAD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5400" b="0" i="0" u="none" strike="noStrike" cap="small" spc="0" baseline="0">
          <a:solidFill>
            <a:srgbClr val="00A664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1pPr>
      <a:lvl2pPr marL="0" marR="0" indent="2286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2pPr>
      <a:lvl3pPr marL="0" marR="0" indent="4572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3pPr>
      <a:lvl4pPr marL="0" marR="0" indent="6858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4pPr>
      <a:lvl5pPr marL="0" marR="0" indent="9144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5pPr>
      <a:lvl6pPr marL="0" marR="0" indent="11430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6pPr>
      <a:lvl7pPr marL="0" marR="0" indent="13716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7pPr>
      <a:lvl8pPr marL="0" marR="0" indent="16002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8pPr>
      <a:lvl9pPr marL="0" marR="0" indent="18288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9pPr>
    </p:titleStyle>
    <p:bodyStyle>
      <a:lvl1pPr marL="381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100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1pPr>
      <a:lvl2pPr marL="762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82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2pPr>
      <a:lvl3pPr marL="1143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82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3pPr>
      <a:lvl4pPr marL="1524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82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4pPr>
      <a:lvl5pPr marL="1905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82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5pPr>
      <a:lvl6pPr marL="2965726" marR="0" indent="-362226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9B0000"/>
        </a:buClr>
        <a:buSzPct val="82000"/>
        <a:buFontTx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6pPr>
      <a:lvl7pPr marL="3486425" marR="0" indent="-362225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9B0000"/>
        </a:buClr>
        <a:buSzPct val="82000"/>
        <a:buFontTx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7pPr>
      <a:lvl8pPr marL="4007125" marR="0" indent="-362225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9B0000"/>
        </a:buClr>
        <a:buSzPct val="82000"/>
        <a:buFontTx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8pPr>
      <a:lvl9pPr marL="4527825" marR="0" indent="-362225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9B0000"/>
        </a:buClr>
        <a:buSzPct val="82000"/>
        <a:buFontTx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AxFTL: Exploiting Error Tolerance for Extending Lifetime of NAND Flash Storag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/>
          </a:bodyPr>
          <a:lstStyle>
            <a:lvl1pPr defTabSz="566674">
              <a:defRPr sz="6305"/>
            </a:lvl1pPr>
          </a:lstStyle>
          <a:p>
            <a:pPr lvl="0" algn="ctr">
              <a:lnSpc>
                <a:spcPct val="100000"/>
              </a:lnSpc>
              <a:defRPr/>
            </a:pPr>
            <a:r>
              <a:rPr lang="en-US" altLang="ko-KR" sz="4000" dirty="0"/>
              <a:t>tip </a:t>
            </a:r>
            <a:r>
              <a:rPr lang="en-US" altLang="ko-KR" sz="4000" dirty="0" err="1"/>
              <a:t>ddr</a:t>
            </a:r>
            <a:r>
              <a:rPr lang="en-US" altLang="ko-KR" sz="4000" dirty="0"/>
              <a:t> </a:t>
            </a:r>
            <a:r>
              <a:rPr lang="en-US" altLang="ko-KR" sz="4000" dirty="0" err="1"/>
              <a:t>rtl</a:t>
            </a:r>
            <a:r>
              <a:rPr lang="en-US" altLang="ko-KR" sz="4000" dirty="0"/>
              <a:t> v0 - data doubler RTL test connection</a:t>
            </a:r>
            <a:endParaRPr lang="ko-KR" altLang="en-US" sz="4000" dirty="0"/>
          </a:p>
        </p:txBody>
      </p:sp>
      <p:sp>
        <p:nvSpPr>
          <p:cNvPr id="83" name="Younghyun Kim…"/>
          <p:cNvSpPr txBox="1">
            <a:spLocks noGrp="1"/>
          </p:cNvSpPr>
          <p:nvPr>
            <p:ph type="body" sz="half" idx="1"/>
          </p:nvPr>
        </p:nvSpPr>
        <p:spPr>
          <a:xfrm>
            <a:off x="254000" y="6481522"/>
            <a:ext cx="12192000" cy="266630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3500" dirty="0"/>
              <a:t>University of </a:t>
            </a:r>
            <a:r>
              <a:rPr lang="en-US" altLang="ko-KR" sz="3500" dirty="0" err="1"/>
              <a:t>ulsan</a:t>
            </a:r>
            <a:endParaRPr lang="en-US" altLang="ko-KR" sz="3500" dirty="0"/>
          </a:p>
          <a:p>
            <a:pPr lvl="0">
              <a:defRPr/>
            </a:pPr>
            <a:r>
              <a:rPr lang="en-US" altLang="ko-KR" sz="3500" dirty="0"/>
              <a:t>Electronical, Electronic and Computer Engineering</a:t>
            </a:r>
            <a:r>
              <a:rPr lang="ko-KR" altLang="en-US" sz="3500" dirty="0"/>
              <a:t> </a:t>
            </a:r>
            <a:endParaRPr lang="en-US" altLang="ko-KR" sz="3500" dirty="0"/>
          </a:p>
          <a:p>
            <a:pPr lvl="0">
              <a:defRPr/>
            </a:pPr>
            <a:r>
              <a:rPr lang="en-US" altLang="ko-KR" sz="3500" dirty="0" err="1"/>
              <a:t>Jaehyeok</a:t>
            </a:r>
            <a:r>
              <a:rPr lang="en-US" altLang="ko-KR" sz="3500" dirty="0"/>
              <a:t> Cho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72765-D191-04B7-1266-2008D5BFA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444C36-B7C9-CA8F-8935-11BE5BC1B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 err="1"/>
              <a:t>ModelSim</a:t>
            </a:r>
            <a:r>
              <a:rPr lang="en-US" altLang="ko-KR" sz="4400" dirty="0"/>
              <a:t> simulation</a:t>
            </a:r>
            <a:endParaRPr lang="ko-KR" altLang="en-US" sz="44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4A046-54C5-9D3B-F190-C9B0DB973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By following the tutorial and make file description, the below command can make waveform file named, </a:t>
            </a:r>
            <a:r>
              <a:rPr lang="en-US" altLang="ko-KR" sz="2800" dirty="0" err="1"/>
              <a:t>vsim.wlf</a:t>
            </a:r>
            <a:endParaRPr lang="en-US" altLang="ko-KR" sz="2800" dirty="0"/>
          </a:p>
          <a:p>
            <a:pPr lvl="1"/>
            <a:r>
              <a:rPr lang="en-US" altLang="ko-KR" sz="2400" dirty="0"/>
              <a:t>$ make {</a:t>
            </a:r>
            <a:r>
              <a:rPr lang="en-US" altLang="ko-KR" sz="2400" dirty="0" err="1"/>
              <a:t>target_app</a:t>
            </a:r>
            <a:r>
              <a:rPr lang="en-US" altLang="ko-KR" sz="2400" dirty="0"/>
              <a:t>}.debug </a:t>
            </a:r>
          </a:p>
          <a:p>
            <a:r>
              <a:rPr lang="en-US" altLang="ko-KR" sz="2800" dirty="0"/>
              <a:t>It takes long time to generate </a:t>
            </a:r>
            <a:r>
              <a:rPr lang="en-US" altLang="ko-KR" sz="2800" dirty="0" err="1"/>
              <a:t>vsim.wlf</a:t>
            </a:r>
            <a:endParaRPr lang="en-US" altLang="ko-KR" sz="2800" dirty="0"/>
          </a:p>
          <a:p>
            <a:pPr lvl="1"/>
            <a:r>
              <a:rPr lang="en-US" altLang="ko-KR" sz="2400" dirty="0"/>
              <a:t>It takes almost 7 hours to generate it.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A51BD6D-810E-944D-F7D7-2C68EDE15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132" y="4062319"/>
            <a:ext cx="4730088" cy="51907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181C32-024D-C031-38D5-5C162589EC4F}"/>
              </a:ext>
            </a:extLst>
          </p:cNvPr>
          <p:cNvSpPr txBox="1"/>
          <p:nvPr/>
        </p:nvSpPr>
        <p:spPr>
          <a:xfrm>
            <a:off x="3572352" y="9230380"/>
            <a:ext cx="51416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$ </a:t>
            </a:r>
            <a:r>
              <a:rPr lang="ko-KR" altLang="en-US" dirty="0" err="1"/>
              <a:t>time</a:t>
            </a:r>
            <a:r>
              <a:rPr lang="ko-KR" altLang="en-US" dirty="0"/>
              <a:t> </a:t>
            </a:r>
            <a:r>
              <a:rPr lang="ko-KR" altLang="en-US" dirty="0" err="1"/>
              <a:t>make</a:t>
            </a:r>
            <a:r>
              <a:rPr lang="ko-KR" altLang="en-US" dirty="0"/>
              <a:t> drv00.debug</a:t>
            </a:r>
          </a:p>
        </p:txBody>
      </p:sp>
      <p:sp>
        <p:nvSpPr>
          <p:cNvPr id="11" name="액자 10">
            <a:extLst>
              <a:ext uri="{FF2B5EF4-FFF2-40B4-BE49-F238E27FC236}">
                <a16:creationId xmlns:a16="http://schemas.microsoft.com/office/drawing/2014/main" id="{767FFA73-7BCA-B90A-E38B-7282FC8EAB7A}"/>
              </a:ext>
            </a:extLst>
          </p:cNvPr>
          <p:cNvSpPr/>
          <p:nvPr/>
        </p:nvSpPr>
        <p:spPr>
          <a:xfrm>
            <a:off x="3778132" y="8949696"/>
            <a:ext cx="1098668" cy="298775"/>
          </a:xfrm>
          <a:prstGeom prst="frame">
            <a:avLst>
              <a:gd name="adj1" fmla="val 0"/>
            </a:avLst>
          </a:prstGeom>
          <a:solidFill>
            <a:srgbClr val="FF0000"/>
          </a:solidFill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41129411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7D4E7-98C4-53C9-23CC-70DA057C7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34A7B8-0211-7F49-148C-AF0088C8E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 err="1"/>
              <a:t>ModelSim</a:t>
            </a:r>
            <a:r>
              <a:rPr lang="en-US" altLang="ko-KR" sz="4400" dirty="0"/>
              <a:t> launch</a:t>
            </a:r>
            <a:endParaRPr lang="ko-KR" altLang="en-US" sz="4400" b="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F044B9-D9C4-E2D4-2878-0E1384933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684" y="3350719"/>
            <a:ext cx="8407430" cy="59275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016E5C-F8EC-3F86-3272-4FA8680970C2}"/>
              </a:ext>
            </a:extLst>
          </p:cNvPr>
          <p:cNvSpPr txBox="1"/>
          <p:nvPr/>
        </p:nvSpPr>
        <p:spPr>
          <a:xfrm>
            <a:off x="4107016" y="1815131"/>
            <a:ext cx="4072318" cy="114903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b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4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$ cd </a:t>
            </a:r>
            <a:r>
              <a:rPr kumimoji="0" lang="en-US" altLang="ko-KR" sz="2400" b="0" i="0" u="none" strike="noStrike" cap="none" spc="0" normalizeH="0" baseline="0" dirty="0" err="1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sim_rtl</a:t>
            </a:r>
            <a:br>
              <a:rPr lang="en-US" altLang="ko-KR" sz="2400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sz="2400" dirty="0">
                <a:solidFill>
                  <a:srgbClr val="494949"/>
                </a:solidFill>
                <a:latin typeface="Consolas" panose="020B0609020204030204" pitchFamily="49" charset="0"/>
              </a:rPr>
              <a:t>$</a:t>
            </a:r>
            <a:r>
              <a:rPr lang="ko-KR" altLang="en-US" sz="24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 err="1">
                <a:solidFill>
                  <a:srgbClr val="494949"/>
                </a:solidFill>
                <a:latin typeface="Consolas" panose="020B0609020204030204" pitchFamily="49" charset="0"/>
              </a:rPr>
              <a:t>vsim</a:t>
            </a:r>
            <a:r>
              <a:rPr lang="ko-KR" altLang="en-US" sz="24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494949"/>
                </a:solidFill>
                <a:latin typeface="Consolas" panose="020B0609020204030204" pitchFamily="49" charset="0"/>
              </a:rPr>
              <a:t>–view</a:t>
            </a:r>
            <a:r>
              <a:rPr lang="ko-KR" altLang="en-US" sz="24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 err="1">
                <a:solidFill>
                  <a:srgbClr val="494949"/>
                </a:solidFill>
                <a:latin typeface="Consolas" panose="020B0609020204030204" pitchFamily="49" charset="0"/>
              </a:rPr>
              <a:t>vsim.wlf</a:t>
            </a:r>
            <a:endParaRPr kumimoji="0" lang="en-US" altLang="ko-KR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Consolas" panose="020B0609020204030204" pitchFamily="49" charset="0"/>
              <a:sym typeface="Arial"/>
            </a:endParaRP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614BDDF3-9C7C-0110-FB82-D504139EA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266741"/>
            <a:ext cx="12192001" cy="7986316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I can launch </a:t>
            </a:r>
            <a:r>
              <a:rPr lang="en-US" altLang="ko-KR" sz="2800" dirty="0" err="1"/>
              <a:t>ModelSim</a:t>
            </a:r>
            <a:r>
              <a:rPr lang="en-US" altLang="ko-KR" sz="2800" dirty="0"/>
              <a:t> waveform with the command below</a:t>
            </a:r>
          </a:p>
          <a:p>
            <a:endParaRPr lang="en-US" altLang="ko-KR" sz="2800" dirty="0"/>
          </a:p>
          <a:p>
            <a:endParaRPr lang="en-US" altLang="ko-KR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CCBD5A-0A28-0EE6-91F1-04B756680122}"/>
              </a:ext>
            </a:extLst>
          </p:cNvPr>
          <p:cNvSpPr txBox="1"/>
          <p:nvPr/>
        </p:nvSpPr>
        <p:spPr>
          <a:xfrm>
            <a:off x="3931576" y="9278227"/>
            <a:ext cx="51416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ModelSim</a:t>
            </a:r>
            <a:r>
              <a:rPr lang="en-US" altLang="ko-KR" dirty="0"/>
              <a:t> result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884309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62059-3664-1779-7561-4AF4CD8A6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0ED39-72E2-2614-0DBF-667AF71DD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/>
              <a:t>Vivado report</a:t>
            </a:r>
            <a:endParaRPr lang="ko-KR" altLang="en-US" sz="4400" b="0" dirty="0"/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3501129E-DC8D-3AEE-6E52-ED3A77EB9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266741"/>
            <a:ext cx="12192001" cy="7986316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I can check report by opening </a:t>
            </a:r>
            <a:r>
              <a:rPr lang="en-US" altLang="ko-KR" sz="2800" dirty="0" err="1">
                <a:latin typeface="Consolas" panose="020B0609020204030204" pitchFamily="49" charset="0"/>
              </a:rPr>
              <a:t>route_util.rpt</a:t>
            </a:r>
            <a:endParaRPr lang="en-US" altLang="ko-KR" sz="2800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D71ECD-837C-8B11-B4EC-466E334CD223}"/>
              </a:ext>
            </a:extLst>
          </p:cNvPr>
          <p:cNvSpPr txBox="1"/>
          <p:nvPr/>
        </p:nvSpPr>
        <p:spPr>
          <a:xfrm>
            <a:off x="3931576" y="9230380"/>
            <a:ext cx="51416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Vivado report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9BA642-8CC1-4455-7BBB-2F8E632C7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90" y="2545737"/>
            <a:ext cx="2706362" cy="3872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C65C092-0CB6-79C6-A77C-9E1E94690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751" y="4134825"/>
            <a:ext cx="4388446" cy="228331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DB54D30-92DA-212E-A7B0-3409333E8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496" y="2866888"/>
            <a:ext cx="5013904" cy="355124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50C5472-9DDD-3AE7-9D13-198BB40BCB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271" y="6787734"/>
            <a:ext cx="4851127" cy="169912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B96A864-B9FE-FD72-5668-F0BED521B0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5335" y="7180863"/>
            <a:ext cx="4285770" cy="130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65734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EF952-8100-53A7-F99E-3932A9ED5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E3514-4544-B5E2-84C6-417EE673C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/>
              <a:t>Test doubler module</a:t>
            </a:r>
            <a:endParaRPr lang="ko-KR" altLang="en-US" sz="4400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7023CE-CE4C-8FC7-7D3C-DAC8FD974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I planned to make a communication test module between RISC-V and RTL.</a:t>
            </a:r>
          </a:p>
          <a:p>
            <a:pPr lvl="1"/>
            <a:r>
              <a:rPr lang="en-US" altLang="ko-KR" sz="2400" dirty="0"/>
              <a:t>RISC-V gives RTL a bunch of data</a:t>
            </a:r>
          </a:p>
          <a:p>
            <a:pPr lvl="1"/>
            <a:r>
              <a:rPr lang="en-US" altLang="ko-KR" sz="2400" dirty="0"/>
              <a:t>RTL doubles each data per clock and return it when RISC-V request &amp; Data Ready</a:t>
            </a:r>
          </a:p>
          <a:p>
            <a:r>
              <a:rPr lang="en-US" altLang="ko-KR" sz="2800" dirty="0"/>
              <a:t>The implementation successfully works.</a:t>
            </a:r>
            <a:endParaRPr lang="ko-KR" alt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C0E1E8-0D3E-0D58-D863-9BFB1970E368}"/>
              </a:ext>
            </a:extLst>
          </p:cNvPr>
          <p:cNvSpPr txBox="1"/>
          <p:nvPr/>
        </p:nvSpPr>
        <p:spPr>
          <a:xfrm>
            <a:off x="1975027" y="9116280"/>
            <a:ext cx="2869492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Planned Diagram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2BCF089-6926-3736-032D-BD597F7051BB}"/>
              </a:ext>
            </a:extLst>
          </p:cNvPr>
          <p:cNvGrpSpPr/>
          <p:nvPr/>
        </p:nvGrpSpPr>
        <p:grpSpPr>
          <a:xfrm>
            <a:off x="7701412" y="3417779"/>
            <a:ext cx="4482122" cy="5707961"/>
            <a:chOff x="7498211" y="3262834"/>
            <a:chExt cx="5100189" cy="632298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D51B30C-B775-CC8A-6D95-3BCB584CB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1628"/>
            <a:stretch>
              <a:fillRect/>
            </a:stretch>
          </p:blipFill>
          <p:spPr>
            <a:xfrm>
              <a:off x="7498211" y="3262834"/>
              <a:ext cx="2633133" cy="6322985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2DD14ACF-D856-854A-7827-CE1E11E85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8372"/>
            <a:stretch>
              <a:fillRect/>
            </a:stretch>
          </p:blipFill>
          <p:spPr>
            <a:xfrm>
              <a:off x="10131343" y="3262834"/>
              <a:ext cx="2467057" cy="6322985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308599F-2899-9B9D-3578-5E28011496E1}"/>
              </a:ext>
            </a:extLst>
          </p:cNvPr>
          <p:cNvSpPr txBox="1"/>
          <p:nvPr/>
        </p:nvSpPr>
        <p:spPr>
          <a:xfrm>
            <a:off x="8580702" y="9116281"/>
            <a:ext cx="2869492" cy="461665"/>
          </a:xfrm>
          <a:prstGeom prst="rect">
            <a:avLst/>
          </a:prstGeom>
          <a:solidFill>
            <a:srgbClr val="FFFFFF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Result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751FBE4-AB7F-8986-01F9-70757CA6F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96" y="4973847"/>
            <a:ext cx="5760504" cy="4048466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18A8A5B7-82D7-C166-7802-CEDB862C3E81}"/>
              </a:ext>
            </a:extLst>
          </p:cNvPr>
          <p:cNvSpPr/>
          <p:nvPr/>
        </p:nvSpPr>
        <p:spPr>
          <a:xfrm>
            <a:off x="9219890" y="6042770"/>
            <a:ext cx="761381" cy="888548"/>
          </a:xfrm>
          <a:prstGeom prst="rightArrow">
            <a:avLst/>
          </a:prstGeom>
          <a:solidFill>
            <a:srgbClr val="FFFF00"/>
          </a:solidFill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800" b="0" i="0" u="none" strike="noStrike" cap="all" spc="0" normalizeH="0" baseline="0" dirty="0">
                <a:solidFill>
                  <a:srgbClr val="FF0000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rPr>
              <a:t>x2</a:t>
            </a:r>
            <a:endParaRPr kumimoji="0" lang="ko-KR" altLang="en-US" sz="2800" b="0" i="0" u="none" strike="noStrike" cap="all" spc="0" normalizeH="0" baseline="0" dirty="0">
              <a:solidFill>
                <a:srgbClr val="FF0000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31666725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39DFA-4E5F-5150-5C0C-79EE4D3BB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69BAF-EDAC-E1F7-31C6-40E4A3C55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/>
              <a:t>Connection between platform and RTL</a:t>
            </a:r>
            <a:endParaRPr lang="ko-KR" altLang="en-US" sz="44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1CC2C4-E2FB-93CE-D47B-61573D38C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When I setup platform-xml file and </a:t>
            </a:r>
            <a:r>
              <a:rPr lang="en-US" altLang="ko-KR" sz="2800" b="1" i="1" dirty="0">
                <a:latin typeface="Consolas" panose="020B0609020204030204" pitchFamily="49" charset="0"/>
              </a:rPr>
              <a:t>$make syn, </a:t>
            </a:r>
            <a:r>
              <a:rPr lang="en-US" altLang="ko-KR" sz="2800" dirty="0">
                <a:ea typeface="Tahoma" panose="020B0604030504040204" pitchFamily="34" charset="0"/>
                <a:cs typeface="Tahoma" panose="020B0604030504040204" pitchFamily="34" charset="0"/>
              </a:rPr>
              <a:t>it generates {platform}.v.</a:t>
            </a:r>
          </a:p>
          <a:p>
            <a:r>
              <a:rPr lang="en-US" altLang="ko-KR" sz="2800" dirty="0">
                <a:ea typeface="Tahoma" panose="020B0604030504040204" pitchFamily="34" charset="0"/>
                <a:cs typeface="Tahoma" panose="020B0604030504040204" pitchFamily="34" charset="0"/>
              </a:rPr>
              <a:t>I can look up and fill out appropriate parameters to RTL header file named {platform}_</a:t>
            </a:r>
            <a:r>
              <a:rPr lang="en-US" altLang="ko-KR" sz="2800" dirty="0" err="1">
                <a:ea typeface="Tahoma" panose="020B0604030504040204" pitchFamily="34" charset="0"/>
                <a:cs typeface="Tahoma" panose="020B0604030504040204" pitchFamily="34" charset="0"/>
              </a:rPr>
              <a:t>user_region.vh</a:t>
            </a:r>
            <a:r>
              <a:rPr lang="en-US" altLang="ko-KR" sz="2800" dirty="0">
                <a:ea typeface="Tahoma" panose="020B0604030504040204" pitchFamily="34" charset="0"/>
                <a:cs typeface="Tahoma" panose="020B0604030504040204" pitchFamily="34" charset="0"/>
              </a:rPr>
              <a:t> with following the examples.</a:t>
            </a:r>
          </a:p>
          <a:p>
            <a:endParaRPr lang="en-US" altLang="ko-KR" sz="28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ko-KR" altLang="en-US" sz="2800" dirty="0">
              <a:cs typeface="Tahoma" panose="020B060403050404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449F32-4688-F948-3C6F-B8BDCAE993AE}"/>
              </a:ext>
            </a:extLst>
          </p:cNvPr>
          <p:cNvSpPr txBox="1"/>
          <p:nvPr/>
        </p:nvSpPr>
        <p:spPr>
          <a:xfrm>
            <a:off x="2063535" y="9068578"/>
            <a:ext cx="3693798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kumimoji="0" lang="en-US" altLang="ko-KR" sz="24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How I get the parameters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EADA44-6E18-C032-89B4-AF4C8E65C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350" y="6353662"/>
            <a:ext cx="3086100" cy="19665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ECBD9CE-1B17-D429-B194-4A11976D4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37" y="4992643"/>
            <a:ext cx="3153358" cy="3798749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6913B1FD-0D38-E3C7-19F7-2959B815D6D6}"/>
              </a:ext>
            </a:extLst>
          </p:cNvPr>
          <p:cNvSpPr/>
          <p:nvPr/>
        </p:nvSpPr>
        <p:spPr>
          <a:xfrm>
            <a:off x="3790076" y="7336942"/>
            <a:ext cx="1129192" cy="4234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Consolas" panose="020B0609020204030204" pitchFamily="49" charset="0"/>
              </a:rPr>
              <a:t>make syn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A2F70A8-32C1-D03B-B6F5-D1220D7A2DC4}"/>
              </a:ext>
            </a:extLst>
          </p:cNvPr>
          <p:cNvGrpSpPr/>
          <p:nvPr/>
        </p:nvGrpSpPr>
        <p:grpSpPr>
          <a:xfrm>
            <a:off x="8914466" y="3311327"/>
            <a:ext cx="3153359" cy="5710897"/>
            <a:chOff x="8438255" y="0"/>
            <a:chExt cx="3753744" cy="685800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D631E59-1B70-8FBA-CD04-C7B2015D6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17185" y="0"/>
              <a:ext cx="3474814" cy="6858000"/>
            </a:xfrm>
            <a:prstGeom prst="rect">
              <a:avLst/>
            </a:prstGeom>
          </p:spPr>
        </p:pic>
        <p:sp>
          <p:nvSpPr>
            <p:cNvPr id="13" name="왼쪽 중괄호 12">
              <a:extLst>
                <a:ext uri="{FF2B5EF4-FFF2-40B4-BE49-F238E27FC236}">
                  <a16:creationId xmlns:a16="http://schemas.microsoft.com/office/drawing/2014/main" id="{E387A732-6E04-39CF-38F0-36AE9A9FD4FE}"/>
                </a:ext>
              </a:extLst>
            </p:cNvPr>
            <p:cNvSpPr/>
            <p:nvPr/>
          </p:nvSpPr>
          <p:spPr>
            <a:xfrm>
              <a:off x="8831017" y="355941"/>
              <a:ext cx="294572" cy="2497723"/>
            </a:xfrm>
            <a:prstGeom prst="leftBrace">
              <a:avLst>
                <a:gd name="adj1" fmla="val 148958"/>
                <a:gd name="adj2" fmla="val 50000"/>
              </a:avLst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" name="연결선: 꺾임 13">
              <a:extLst>
                <a:ext uri="{FF2B5EF4-FFF2-40B4-BE49-F238E27FC236}">
                  <a16:creationId xmlns:a16="http://schemas.microsoft.com/office/drawing/2014/main" id="{D76D143C-A61F-E3C1-6C64-FA47C0E7F5AA}"/>
                </a:ext>
              </a:extLst>
            </p:cNvPr>
            <p:cNvCxnSpPr/>
            <p:nvPr/>
          </p:nvCxnSpPr>
          <p:spPr>
            <a:xfrm rot="16200000" flipH="1">
              <a:off x="6563428" y="3488835"/>
              <a:ext cx="4436988" cy="687334"/>
            </a:xfrm>
            <a:prstGeom prst="bentConnector3">
              <a:avLst>
                <a:gd name="adj1" fmla="val 100069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1609B278-1EFE-B769-F0E1-98FC64F267FB}"/>
                </a:ext>
              </a:extLst>
            </p:cNvPr>
            <p:cNvCxnSpPr>
              <a:stCxn id="13" idx="1"/>
            </p:cNvCxnSpPr>
            <p:nvPr/>
          </p:nvCxnSpPr>
          <p:spPr>
            <a:xfrm flipH="1">
              <a:off x="8438255" y="1604803"/>
              <a:ext cx="392762" cy="92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819AE19-80D6-AFC4-F8AF-C8CEF1EC8B9B}"/>
              </a:ext>
            </a:extLst>
          </p:cNvPr>
          <p:cNvSpPr txBox="1"/>
          <p:nvPr/>
        </p:nvSpPr>
        <p:spPr>
          <a:xfrm>
            <a:off x="8564189" y="9022224"/>
            <a:ext cx="3693798" cy="461665"/>
          </a:xfrm>
          <a:prstGeom prst="rect">
            <a:avLst/>
          </a:prstGeom>
          <a:solidFill>
            <a:srgbClr val="FFFFFF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Parameters setup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384673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09CD6-CD1F-8F76-DA19-FBCF66B40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1FB352-9DB4-3ACA-4D61-F697ABF2F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/>
              <a:t>Address Map check</a:t>
            </a:r>
            <a:endParaRPr lang="ko-KR" altLang="en-US" sz="4400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156D1B-7A4C-D0B4-1B4E-B07A27278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The system provides address map for me to adjust which </a:t>
            </a:r>
            <a:r>
              <a:rPr lang="en-US" altLang="ko-KR" sz="2800" dirty="0" err="1"/>
              <a:t>addr</a:t>
            </a:r>
            <a:r>
              <a:rPr lang="en-US" altLang="ko-KR" sz="2800" dirty="0"/>
              <a:t> is allocated</a:t>
            </a:r>
          </a:p>
          <a:p>
            <a:r>
              <a:rPr lang="en-US" altLang="ko-KR" sz="2800" dirty="0"/>
              <a:t>Default IP address starts from 0x E202 0000 to 0x E202 0FFF.</a:t>
            </a:r>
          </a:p>
          <a:p>
            <a:r>
              <a:rPr lang="en-US" altLang="ko-KR" sz="2800" dirty="0"/>
              <a:t>It means, I can utilize 1024 words as a default.</a:t>
            </a:r>
            <a:endParaRPr lang="ko-KR" alt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0E8310-67D3-F19C-8629-BAB1B6EEB3A2}"/>
              </a:ext>
            </a:extLst>
          </p:cNvPr>
          <p:cNvSpPr txBox="1"/>
          <p:nvPr/>
        </p:nvSpPr>
        <p:spPr>
          <a:xfrm>
            <a:off x="232214" y="8791392"/>
            <a:ext cx="3458988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kumimoji="0" lang="en-US" altLang="ko-KR" sz="24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Provided Memory Map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A23D78-7D0F-1EF7-6E05-E3E0DBCE8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99" y="3766002"/>
            <a:ext cx="3579690" cy="4772921"/>
          </a:xfrm>
          <a:prstGeom prst="rect">
            <a:avLst/>
          </a:prstGeom>
        </p:spPr>
      </p:pic>
      <p:sp>
        <p:nvSpPr>
          <p:cNvPr id="7" name="액자 6">
            <a:extLst>
              <a:ext uri="{FF2B5EF4-FFF2-40B4-BE49-F238E27FC236}">
                <a16:creationId xmlns:a16="http://schemas.microsoft.com/office/drawing/2014/main" id="{5EA68D01-94DA-6CBC-6E58-9FE7E08717AE}"/>
              </a:ext>
            </a:extLst>
          </p:cNvPr>
          <p:cNvSpPr/>
          <p:nvPr/>
        </p:nvSpPr>
        <p:spPr>
          <a:xfrm>
            <a:off x="232215" y="6956314"/>
            <a:ext cx="3458987" cy="509364"/>
          </a:xfrm>
          <a:prstGeom prst="frame">
            <a:avLst>
              <a:gd name="adj1" fmla="val 286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405B04C-6C1C-46A9-F5DE-4DF5AF3D7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775" y="5314247"/>
            <a:ext cx="4698361" cy="3224676"/>
          </a:xfrm>
          <a:prstGeom prst="rect">
            <a:avLst/>
          </a:prstGeom>
        </p:spPr>
      </p:pic>
      <p:sp>
        <p:nvSpPr>
          <p:cNvPr id="15" name="액자 14">
            <a:extLst>
              <a:ext uri="{FF2B5EF4-FFF2-40B4-BE49-F238E27FC236}">
                <a16:creationId xmlns:a16="http://schemas.microsoft.com/office/drawing/2014/main" id="{DE10AEC6-104D-B229-2C39-B25683CE31E6}"/>
              </a:ext>
            </a:extLst>
          </p:cNvPr>
          <p:cNvSpPr/>
          <p:nvPr/>
        </p:nvSpPr>
        <p:spPr>
          <a:xfrm>
            <a:off x="4713531" y="7428835"/>
            <a:ext cx="3281913" cy="356719"/>
          </a:xfrm>
          <a:prstGeom prst="frame">
            <a:avLst>
              <a:gd name="adj1" fmla="val 527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D39F6F6-1888-2B1E-FA64-415196B63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8572" y="4437431"/>
            <a:ext cx="4376630" cy="437663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6C02410-B7E4-4349-16C2-297F63215CC8}"/>
              </a:ext>
            </a:extLst>
          </p:cNvPr>
          <p:cNvSpPr txBox="1"/>
          <p:nvPr/>
        </p:nvSpPr>
        <p:spPr>
          <a:xfrm>
            <a:off x="3755220" y="8791391"/>
            <a:ext cx="5198534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 err="1">
                <a:solidFill>
                  <a:srgbClr val="494949"/>
                </a:solidFill>
              </a:rPr>
              <a:t>Makefile</a:t>
            </a:r>
            <a:r>
              <a:rPr lang="en-US" altLang="ko-KR" sz="2400" dirty="0">
                <a:solidFill>
                  <a:srgbClr val="494949"/>
                </a:solidFill>
              </a:rPr>
              <a:t> generates the </a:t>
            </a:r>
            <a:r>
              <a:rPr lang="en-US" altLang="ko-KR" sz="2400" dirty="0" err="1">
                <a:solidFill>
                  <a:srgbClr val="494949"/>
                </a:solidFill>
              </a:rPr>
              <a:t>Addr</a:t>
            </a:r>
            <a:r>
              <a:rPr lang="en-US" altLang="ko-KR" sz="2400" dirty="0">
                <a:solidFill>
                  <a:srgbClr val="494949"/>
                </a:solidFill>
              </a:rPr>
              <a:t> parser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EFF3E7-B2C1-6DA3-A59B-C5FDC0FA7DD2}"/>
              </a:ext>
            </a:extLst>
          </p:cNvPr>
          <p:cNvSpPr txBox="1"/>
          <p:nvPr/>
        </p:nvSpPr>
        <p:spPr>
          <a:xfrm>
            <a:off x="9215881" y="8791390"/>
            <a:ext cx="3693798" cy="461665"/>
          </a:xfrm>
          <a:prstGeom prst="rect">
            <a:avLst/>
          </a:prstGeom>
          <a:solidFill>
            <a:srgbClr val="FFFFFF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 err="1">
                <a:solidFill>
                  <a:srgbClr val="494949"/>
                </a:solidFill>
              </a:rPr>
              <a:t>Addr</a:t>
            </a:r>
            <a:r>
              <a:rPr lang="en-US" altLang="ko-KR" sz="2400" dirty="0">
                <a:solidFill>
                  <a:srgbClr val="494949"/>
                </a:solidFill>
              </a:rPr>
              <a:t> Map that I draw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874734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69A4D-F4F6-079F-D212-3F1B5A24D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3272D7-CEFD-A6B7-C786-C28C432AA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/>
              <a:t>APB</a:t>
            </a:r>
            <a:r>
              <a:rPr lang="ko-KR" altLang="en-US" sz="4400" dirty="0"/>
              <a:t> </a:t>
            </a:r>
            <a:r>
              <a:rPr lang="en-US" altLang="ko-KR" sz="4400" dirty="0"/>
              <a:t>protocol connection</a:t>
            </a:r>
            <a:endParaRPr lang="ko-KR" altLang="en-US" sz="44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AFE7E6-D528-A2C8-6CDE-DD88D3927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266741"/>
            <a:ext cx="7467599" cy="7986316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The default</a:t>
            </a:r>
            <a:r>
              <a:rPr lang="ko-KR" altLang="en-US" sz="2800" dirty="0"/>
              <a:t> </a:t>
            </a:r>
            <a:r>
              <a:rPr lang="en-US" altLang="ko-KR" sz="2800" dirty="0"/>
              <a:t>system</a:t>
            </a:r>
            <a:r>
              <a:rPr lang="ko-KR" altLang="en-US" sz="2800" dirty="0"/>
              <a:t> </a:t>
            </a:r>
            <a:r>
              <a:rPr lang="en-US" altLang="ko-KR" sz="2800" dirty="0"/>
              <a:t>support</a:t>
            </a:r>
            <a:r>
              <a:rPr lang="ko-KR" altLang="en-US" sz="2800" dirty="0"/>
              <a:t> </a:t>
            </a:r>
            <a:r>
              <a:rPr lang="en-US" altLang="ko-KR" sz="2800" dirty="0"/>
              <a:t>APB</a:t>
            </a:r>
            <a:r>
              <a:rPr lang="ko-KR" altLang="en-US" sz="2800" dirty="0"/>
              <a:t> </a:t>
            </a:r>
            <a:r>
              <a:rPr lang="en-US" altLang="ko-KR" sz="2800" dirty="0"/>
              <a:t>connection.</a:t>
            </a:r>
          </a:p>
          <a:p>
            <a:pPr lvl="1"/>
            <a:r>
              <a:rPr lang="en-US" altLang="ko-KR" sz="2400" dirty="0" err="1"/>
              <a:t>sel</a:t>
            </a:r>
            <a:r>
              <a:rPr lang="en-US" altLang="ko-KR" sz="2400" dirty="0"/>
              <a:t>, enable, write, </a:t>
            </a:r>
            <a:r>
              <a:rPr lang="en-US" altLang="ko-KR" sz="2400" dirty="0" err="1"/>
              <a:t>addr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wdata</a:t>
            </a:r>
            <a:endParaRPr lang="en-US" altLang="ko-KR" sz="2400" dirty="0"/>
          </a:p>
          <a:p>
            <a:pPr lvl="1"/>
            <a:r>
              <a:rPr lang="en-US" altLang="ko-KR" sz="2400" dirty="0"/>
              <a:t>ready, </a:t>
            </a:r>
            <a:r>
              <a:rPr lang="en-US" altLang="ko-KR" sz="2400" dirty="0" err="1"/>
              <a:t>rdata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slverr</a:t>
            </a:r>
            <a:endParaRPr lang="en-US" altLang="ko-KR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4F3338-285E-F600-447D-0CB195CF3CB4}"/>
              </a:ext>
            </a:extLst>
          </p:cNvPr>
          <p:cNvSpPr txBox="1"/>
          <p:nvPr/>
        </p:nvSpPr>
        <p:spPr>
          <a:xfrm>
            <a:off x="7318488" y="9022224"/>
            <a:ext cx="2869492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Port names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3D921E-23C6-0FCB-7E84-366B0A046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680" y="2078220"/>
            <a:ext cx="2201109" cy="6858000"/>
          </a:xfrm>
          <a:prstGeom prst="rect">
            <a:avLst/>
          </a:prstGeom>
        </p:spPr>
      </p:pic>
      <p:sp>
        <p:nvSpPr>
          <p:cNvPr id="7" name="액자 6">
            <a:extLst>
              <a:ext uri="{FF2B5EF4-FFF2-40B4-BE49-F238E27FC236}">
                <a16:creationId xmlns:a16="http://schemas.microsoft.com/office/drawing/2014/main" id="{669C2F6F-F427-1FA7-1689-04B4A2389648}"/>
              </a:ext>
            </a:extLst>
          </p:cNvPr>
          <p:cNvSpPr/>
          <p:nvPr/>
        </p:nvSpPr>
        <p:spPr>
          <a:xfrm>
            <a:off x="8574071" y="4174487"/>
            <a:ext cx="909414" cy="354833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액자 8">
            <a:extLst>
              <a:ext uri="{FF2B5EF4-FFF2-40B4-BE49-F238E27FC236}">
                <a16:creationId xmlns:a16="http://schemas.microsoft.com/office/drawing/2014/main" id="{29EB63FC-3F84-75FB-7C01-27CE2F19CAB1}"/>
              </a:ext>
            </a:extLst>
          </p:cNvPr>
          <p:cNvSpPr/>
          <p:nvPr/>
        </p:nvSpPr>
        <p:spPr>
          <a:xfrm>
            <a:off x="8574071" y="4745987"/>
            <a:ext cx="909414" cy="354833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액자 10">
            <a:extLst>
              <a:ext uri="{FF2B5EF4-FFF2-40B4-BE49-F238E27FC236}">
                <a16:creationId xmlns:a16="http://schemas.microsoft.com/office/drawing/2014/main" id="{2085EE7A-973D-F3E0-3A80-8086DF817C03}"/>
              </a:ext>
            </a:extLst>
          </p:cNvPr>
          <p:cNvSpPr/>
          <p:nvPr/>
        </p:nvSpPr>
        <p:spPr>
          <a:xfrm>
            <a:off x="8574071" y="5330186"/>
            <a:ext cx="909414" cy="354833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액자 12">
            <a:extLst>
              <a:ext uri="{FF2B5EF4-FFF2-40B4-BE49-F238E27FC236}">
                <a16:creationId xmlns:a16="http://schemas.microsoft.com/office/drawing/2014/main" id="{B57FE382-BDCF-986A-530A-4D8D72BED3A1}"/>
              </a:ext>
            </a:extLst>
          </p:cNvPr>
          <p:cNvSpPr/>
          <p:nvPr/>
        </p:nvSpPr>
        <p:spPr>
          <a:xfrm>
            <a:off x="8574071" y="5907271"/>
            <a:ext cx="909414" cy="354833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액자 14">
            <a:extLst>
              <a:ext uri="{FF2B5EF4-FFF2-40B4-BE49-F238E27FC236}">
                <a16:creationId xmlns:a16="http://schemas.microsoft.com/office/drawing/2014/main" id="{146F97D6-011F-B153-57CC-4F3877AE3C7D}"/>
              </a:ext>
            </a:extLst>
          </p:cNvPr>
          <p:cNvSpPr/>
          <p:nvPr/>
        </p:nvSpPr>
        <p:spPr>
          <a:xfrm>
            <a:off x="8574071" y="6495410"/>
            <a:ext cx="909414" cy="354833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액자 16">
            <a:extLst>
              <a:ext uri="{FF2B5EF4-FFF2-40B4-BE49-F238E27FC236}">
                <a16:creationId xmlns:a16="http://schemas.microsoft.com/office/drawing/2014/main" id="{C6CE528D-3C60-26C0-3E62-1420148DDB41}"/>
              </a:ext>
            </a:extLst>
          </p:cNvPr>
          <p:cNvSpPr/>
          <p:nvPr/>
        </p:nvSpPr>
        <p:spPr>
          <a:xfrm>
            <a:off x="8574071" y="7083549"/>
            <a:ext cx="909414" cy="354833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액자 18">
            <a:extLst>
              <a:ext uri="{FF2B5EF4-FFF2-40B4-BE49-F238E27FC236}">
                <a16:creationId xmlns:a16="http://schemas.microsoft.com/office/drawing/2014/main" id="{16467FAE-C8C9-A337-50BD-6E4973D742BB}"/>
              </a:ext>
            </a:extLst>
          </p:cNvPr>
          <p:cNvSpPr/>
          <p:nvPr/>
        </p:nvSpPr>
        <p:spPr>
          <a:xfrm>
            <a:off x="8574071" y="7636762"/>
            <a:ext cx="909414" cy="354833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액자 20">
            <a:extLst>
              <a:ext uri="{FF2B5EF4-FFF2-40B4-BE49-F238E27FC236}">
                <a16:creationId xmlns:a16="http://schemas.microsoft.com/office/drawing/2014/main" id="{12EE6272-999F-9547-2FBB-A54C490789A5}"/>
              </a:ext>
            </a:extLst>
          </p:cNvPr>
          <p:cNvSpPr/>
          <p:nvPr/>
        </p:nvSpPr>
        <p:spPr>
          <a:xfrm>
            <a:off x="8574071" y="8191499"/>
            <a:ext cx="909414" cy="354833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3578148C-3376-28B3-0FFD-8BD6539F8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163" y="6262104"/>
            <a:ext cx="2268365" cy="2579592"/>
          </a:xfrm>
          <a:prstGeom prst="rect">
            <a:avLst/>
          </a:prstGeom>
        </p:spPr>
      </p:pic>
      <p:sp>
        <p:nvSpPr>
          <p:cNvPr id="26" name="액자 25">
            <a:extLst>
              <a:ext uri="{FF2B5EF4-FFF2-40B4-BE49-F238E27FC236}">
                <a16:creationId xmlns:a16="http://schemas.microsoft.com/office/drawing/2014/main" id="{EED6B9FD-035B-682F-EC67-F3F71E0CC7A5}"/>
              </a:ext>
            </a:extLst>
          </p:cNvPr>
          <p:cNvSpPr/>
          <p:nvPr/>
        </p:nvSpPr>
        <p:spPr>
          <a:xfrm>
            <a:off x="3194314" y="7924885"/>
            <a:ext cx="1722214" cy="554861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액자 27">
            <a:extLst>
              <a:ext uri="{FF2B5EF4-FFF2-40B4-BE49-F238E27FC236}">
                <a16:creationId xmlns:a16="http://schemas.microsoft.com/office/drawing/2014/main" id="{5D26FBA8-D7DC-C398-BB89-A87058B4B560}"/>
              </a:ext>
            </a:extLst>
          </p:cNvPr>
          <p:cNvSpPr/>
          <p:nvPr/>
        </p:nvSpPr>
        <p:spPr>
          <a:xfrm>
            <a:off x="3187964" y="8491679"/>
            <a:ext cx="1722214" cy="343667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471948-CF5C-A7AC-CA63-B848E4745E1F}"/>
              </a:ext>
            </a:extLst>
          </p:cNvPr>
          <p:cNvSpPr txBox="1"/>
          <p:nvPr/>
        </p:nvSpPr>
        <p:spPr>
          <a:xfrm>
            <a:off x="2682820" y="8927700"/>
            <a:ext cx="2393906" cy="461665"/>
          </a:xfrm>
          <a:prstGeom prst="rect">
            <a:avLst/>
          </a:prstGeom>
          <a:solidFill>
            <a:srgbClr val="FFFFFF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RTL Doubler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24A1D979-05F0-BA6E-675A-09F9A2E8AD7C}"/>
              </a:ext>
            </a:extLst>
          </p:cNvPr>
          <p:cNvCxnSpPr>
            <a:stCxn id="11" idx="1"/>
            <a:endCxn id="26" idx="3"/>
          </p:cNvCxnSpPr>
          <p:nvPr/>
        </p:nvCxnSpPr>
        <p:spPr>
          <a:xfrm flipH="1">
            <a:off x="4916528" y="5507603"/>
            <a:ext cx="3657543" cy="2694713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069C57E-07A2-57E0-3CA1-5C206FDACC73}"/>
              </a:ext>
            </a:extLst>
          </p:cNvPr>
          <p:cNvCxnSpPr>
            <a:stCxn id="19" idx="1"/>
            <a:endCxn id="28" idx="3"/>
          </p:cNvCxnSpPr>
          <p:nvPr/>
        </p:nvCxnSpPr>
        <p:spPr>
          <a:xfrm flipH="1">
            <a:off x="4910178" y="7814179"/>
            <a:ext cx="3663893" cy="849334"/>
          </a:xfrm>
          <a:prstGeom prst="straightConnector1">
            <a:avLst/>
          </a:prstGeom>
          <a:noFill/>
          <a:ln w="25400" cap="flat">
            <a:solidFill>
              <a:schemeClr val="accent4">
                <a:lumMod val="75000"/>
              </a:schemeClr>
            </a:solidFill>
            <a:prstDash val="solid"/>
            <a:miter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</p:cxnSp>
    </p:spTree>
    <p:extLst>
      <p:ext uri="{BB962C8B-B14F-4D97-AF65-F5344CB8AC3E}">
        <p14:creationId xmlns:p14="http://schemas.microsoft.com/office/powerpoint/2010/main" val="413667000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1FDAA-7FE8-AF15-19DB-10B0BC634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028AA5B-4E0A-2AEA-CA99-809E6AE78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97" y="1219200"/>
            <a:ext cx="12470676" cy="85344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6DD0412-5897-DEDC-D6CA-7C9531CBC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/>
              <a:t>Updated information</a:t>
            </a:r>
            <a:endParaRPr lang="ko-KR" altLang="en-US" sz="4400" b="0" dirty="0"/>
          </a:p>
        </p:txBody>
      </p:sp>
      <p:sp>
        <p:nvSpPr>
          <p:cNvPr id="7" name="액자 6">
            <a:extLst>
              <a:ext uri="{FF2B5EF4-FFF2-40B4-BE49-F238E27FC236}">
                <a16:creationId xmlns:a16="http://schemas.microsoft.com/office/drawing/2014/main" id="{A6BC1B42-126E-A592-719A-5AB4EB157B53}"/>
              </a:ext>
            </a:extLst>
          </p:cNvPr>
          <p:cNvSpPr/>
          <p:nvPr/>
        </p:nvSpPr>
        <p:spPr>
          <a:xfrm>
            <a:off x="444597" y="1300581"/>
            <a:ext cx="6430336" cy="968486"/>
          </a:xfrm>
          <a:prstGeom prst="frame">
            <a:avLst>
              <a:gd name="adj1" fmla="val 286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3351F1EF-ABDD-A621-8595-81C1F9DFEF1D}"/>
              </a:ext>
            </a:extLst>
          </p:cNvPr>
          <p:cNvSpPr/>
          <p:nvPr/>
        </p:nvSpPr>
        <p:spPr>
          <a:xfrm>
            <a:off x="469998" y="2243665"/>
            <a:ext cx="3246870" cy="7484533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26572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83B7B-3699-A714-9605-53695999F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451D78-DDD6-3C84-FA0C-ADB74C3BE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/>
              <a:t>RISC-V communication with RTL</a:t>
            </a:r>
            <a:endParaRPr lang="ko-KR" altLang="en-US" sz="44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FD2026-19B1-9A3F-B7CE-B763622D4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RISC-V can handle </a:t>
            </a:r>
            <a:r>
              <a:rPr lang="en-US" altLang="ko-KR" sz="2800" dirty="0" err="1"/>
              <a:t>mmio</a:t>
            </a:r>
            <a:r>
              <a:rPr lang="en-US" altLang="ko-KR" sz="2800" dirty="0"/>
              <a:t> with provided functions.</a:t>
            </a:r>
          </a:p>
          <a:p>
            <a:r>
              <a:rPr lang="en-US" altLang="ko-KR" sz="2800" dirty="0"/>
              <a:t>The system aligns </a:t>
            </a:r>
            <a:r>
              <a:rPr lang="en-US" altLang="ko-KR" sz="2800" dirty="0" err="1"/>
              <a:t>Addr</a:t>
            </a:r>
            <a:r>
              <a:rPr lang="en-US" altLang="ko-KR" sz="2800" dirty="0"/>
              <a:t> and Data in uint32_t format.</a:t>
            </a:r>
          </a:p>
          <a:p>
            <a:r>
              <a:rPr lang="en-US" altLang="ko-KR" sz="2800" dirty="0"/>
              <a:t>Even if each data is uint8_t type, I must be aligned to 32bit.</a:t>
            </a:r>
            <a:endParaRPr lang="ko-KR" alt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4D5CD3-0B4B-4B85-1BB4-DB6F783BA2C6}"/>
              </a:ext>
            </a:extLst>
          </p:cNvPr>
          <p:cNvSpPr txBox="1"/>
          <p:nvPr/>
        </p:nvSpPr>
        <p:spPr>
          <a:xfrm>
            <a:off x="1665087" y="9279336"/>
            <a:ext cx="2869492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MMIO usage in C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43FD38C-EE1D-7519-E2AC-DA852CF77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10" y="6071943"/>
            <a:ext cx="5619890" cy="3348937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6DC08558-52FB-0316-4E68-DBF44B3FB665}"/>
              </a:ext>
            </a:extLst>
          </p:cNvPr>
          <p:cNvGrpSpPr/>
          <p:nvPr/>
        </p:nvGrpSpPr>
        <p:grpSpPr>
          <a:xfrm>
            <a:off x="7950200" y="3051245"/>
            <a:ext cx="4503654" cy="6191116"/>
            <a:chOff x="7650849" y="2691320"/>
            <a:chExt cx="5040386" cy="685800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5F02D7F-A730-1B14-72F4-DCCA5FDF4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50849" y="2691320"/>
              <a:ext cx="5040386" cy="6858000"/>
            </a:xfrm>
            <a:prstGeom prst="rect">
              <a:avLst/>
            </a:prstGeom>
          </p:spPr>
        </p:pic>
        <p:sp>
          <p:nvSpPr>
            <p:cNvPr id="12" name="액자 11">
              <a:extLst>
                <a:ext uri="{FF2B5EF4-FFF2-40B4-BE49-F238E27FC236}">
                  <a16:creationId xmlns:a16="http://schemas.microsoft.com/office/drawing/2014/main" id="{42932A63-802D-3B52-E3E2-A783A1AD720B}"/>
                </a:ext>
              </a:extLst>
            </p:cNvPr>
            <p:cNvSpPr/>
            <p:nvPr/>
          </p:nvSpPr>
          <p:spPr>
            <a:xfrm>
              <a:off x="8055885" y="3949387"/>
              <a:ext cx="2344302" cy="282298"/>
            </a:xfrm>
            <a:prstGeom prst="frame">
              <a:avLst>
                <a:gd name="adj1" fmla="val 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액자 13">
              <a:extLst>
                <a:ext uri="{FF2B5EF4-FFF2-40B4-BE49-F238E27FC236}">
                  <a16:creationId xmlns:a16="http://schemas.microsoft.com/office/drawing/2014/main" id="{0DABC28F-6E26-F10C-9A46-CFEBEDE96A1A}"/>
                </a:ext>
              </a:extLst>
            </p:cNvPr>
            <p:cNvSpPr/>
            <p:nvPr/>
          </p:nvSpPr>
          <p:spPr>
            <a:xfrm>
              <a:off x="8086570" y="8291252"/>
              <a:ext cx="3817159" cy="1258067"/>
            </a:xfrm>
            <a:prstGeom prst="frame">
              <a:avLst>
                <a:gd name="adj1" fmla="val 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액자 15">
              <a:extLst>
                <a:ext uri="{FF2B5EF4-FFF2-40B4-BE49-F238E27FC236}">
                  <a16:creationId xmlns:a16="http://schemas.microsoft.com/office/drawing/2014/main" id="{D26EAA93-975F-AE64-BF10-C5DBC560CBA7}"/>
                </a:ext>
              </a:extLst>
            </p:cNvPr>
            <p:cNvSpPr/>
            <p:nvPr/>
          </p:nvSpPr>
          <p:spPr>
            <a:xfrm>
              <a:off x="8086571" y="5824213"/>
              <a:ext cx="3172784" cy="1316369"/>
            </a:xfrm>
            <a:prstGeom prst="frame">
              <a:avLst>
                <a:gd name="adj1" fmla="val 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E404180-EDEF-FCCD-A6AA-45CFD1B1030D}"/>
              </a:ext>
            </a:extLst>
          </p:cNvPr>
          <p:cNvGrpSpPr/>
          <p:nvPr/>
        </p:nvGrpSpPr>
        <p:grpSpPr>
          <a:xfrm>
            <a:off x="1408491" y="3610752"/>
            <a:ext cx="4567928" cy="2293368"/>
            <a:chOff x="1843481" y="3925073"/>
            <a:chExt cx="3852445" cy="166472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EC1B60C-F285-7E59-1F94-947EED2CD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43481" y="3925073"/>
              <a:ext cx="3852445" cy="1664727"/>
            </a:xfrm>
            <a:prstGeom prst="rect">
              <a:avLst/>
            </a:prstGeom>
          </p:spPr>
        </p:pic>
        <p:sp>
          <p:nvSpPr>
            <p:cNvPr id="18" name="액자 17">
              <a:extLst>
                <a:ext uri="{FF2B5EF4-FFF2-40B4-BE49-F238E27FC236}">
                  <a16:creationId xmlns:a16="http://schemas.microsoft.com/office/drawing/2014/main" id="{752F358B-96F6-FE24-663C-5548A1393292}"/>
                </a:ext>
              </a:extLst>
            </p:cNvPr>
            <p:cNvSpPr/>
            <p:nvPr/>
          </p:nvSpPr>
          <p:spPr>
            <a:xfrm>
              <a:off x="2231891" y="5103435"/>
              <a:ext cx="3455568" cy="135466"/>
            </a:xfrm>
            <a:prstGeom prst="frame">
              <a:avLst>
                <a:gd name="adj1" fmla="val 0"/>
              </a:avLst>
            </a:prstGeom>
            <a:solidFill>
              <a:srgbClr val="FF0000"/>
            </a:solidFill>
            <a:ln w="25400" cap="flat">
              <a:solidFill>
                <a:srgbClr val="FF000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2800" b="0" i="0" u="none" strike="noStrike" cap="all" spc="0" normalizeH="0" baseline="0">
                <a:solidFill>
                  <a:srgbClr val="838787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CD24863-149F-BB86-DFE7-3AFF3CACFE15}"/>
              </a:ext>
            </a:extLst>
          </p:cNvPr>
          <p:cNvSpPr txBox="1"/>
          <p:nvPr/>
        </p:nvSpPr>
        <p:spPr>
          <a:xfrm>
            <a:off x="8945807" y="9268424"/>
            <a:ext cx="2393906" cy="461665"/>
          </a:xfrm>
          <a:prstGeom prst="rect">
            <a:avLst/>
          </a:prstGeom>
          <a:solidFill>
            <a:srgbClr val="FFFFFF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MMIO functions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391E176-E979-FE3D-5AE6-A002170C8DED}"/>
              </a:ext>
            </a:extLst>
          </p:cNvPr>
          <p:cNvSpPr/>
          <p:nvPr/>
        </p:nvSpPr>
        <p:spPr>
          <a:xfrm>
            <a:off x="3395133" y="6604000"/>
            <a:ext cx="135467" cy="16933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6CEB9FF-9CF0-5DFF-829A-583A14E6A89E}"/>
              </a:ext>
            </a:extLst>
          </p:cNvPr>
          <p:cNvSpPr/>
          <p:nvPr/>
        </p:nvSpPr>
        <p:spPr>
          <a:xfrm>
            <a:off x="3692455" y="6603999"/>
            <a:ext cx="135467" cy="16933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9AC963A-E611-2B83-C241-0C61D32085DE}"/>
              </a:ext>
            </a:extLst>
          </p:cNvPr>
          <p:cNvSpPr/>
          <p:nvPr/>
        </p:nvSpPr>
        <p:spPr>
          <a:xfrm>
            <a:off x="3989777" y="6603999"/>
            <a:ext cx="135467" cy="169333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9EEB6072-B5C0-CC4D-E71E-BD167009EB9A}"/>
              </a:ext>
            </a:extLst>
          </p:cNvPr>
          <p:cNvSpPr/>
          <p:nvPr/>
        </p:nvSpPr>
        <p:spPr>
          <a:xfrm>
            <a:off x="4287099" y="6603998"/>
            <a:ext cx="135467" cy="169333"/>
          </a:xfrm>
          <a:prstGeom prst="ellipse">
            <a:avLst/>
          </a:prstGeom>
          <a:solidFill>
            <a:srgbClr val="FFFF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3BA2170-DA5B-CF9E-A0E5-F0A3FC28D1F2}"/>
              </a:ext>
            </a:extLst>
          </p:cNvPr>
          <p:cNvSpPr/>
          <p:nvPr/>
        </p:nvSpPr>
        <p:spPr>
          <a:xfrm>
            <a:off x="2827866" y="7661744"/>
            <a:ext cx="135467" cy="16933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BED8115-9633-1B7D-B35B-A567838F1D90}"/>
              </a:ext>
            </a:extLst>
          </p:cNvPr>
          <p:cNvSpPr/>
          <p:nvPr/>
        </p:nvSpPr>
        <p:spPr>
          <a:xfrm>
            <a:off x="2827866" y="8078798"/>
            <a:ext cx="135467" cy="16933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B6FE097-0515-E535-5637-A129091DBAF6}"/>
              </a:ext>
            </a:extLst>
          </p:cNvPr>
          <p:cNvSpPr/>
          <p:nvPr/>
        </p:nvSpPr>
        <p:spPr>
          <a:xfrm>
            <a:off x="2827865" y="8505162"/>
            <a:ext cx="135467" cy="169333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749FA023-478D-E63D-F13C-34AB0CF77006}"/>
              </a:ext>
            </a:extLst>
          </p:cNvPr>
          <p:cNvSpPr/>
          <p:nvPr/>
        </p:nvSpPr>
        <p:spPr>
          <a:xfrm>
            <a:off x="2827864" y="8959215"/>
            <a:ext cx="135467" cy="169333"/>
          </a:xfrm>
          <a:prstGeom prst="ellipse">
            <a:avLst/>
          </a:prstGeom>
          <a:solidFill>
            <a:srgbClr val="FFFF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97023622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E7094-13CB-1D88-F89F-3058593A8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B925ED-7A64-E666-9874-5C9744012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/>
              <a:t>Compile and Run CMDs</a:t>
            </a:r>
            <a:endParaRPr lang="ko-KR" altLang="en-US" sz="4400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FEAC02-DCEC-64AB-661D-ED2EF1BEE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I can verify the system if it works or not by compiling and running them with commands below.</a:t>
            </a:r>
          </a:p>
          <a:p>
            <a:r>
              <a:rPr lang="en-US" altLang="ko-KR" sz="2800" dirty="0"/>
              <a:t>The result turned out exactly as I expected.</a:t>
            </a:r>
            <a:endParaRPr lang="ko-KR" alt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4A878D-7472-5A21-7A4F-CBC1A62FD0F3}"/>
              </a:ext>
            </a:extLst>
          </p:cNvPr>
          <p:cNvSpPr txBox="1"/>
          <p:nvPr/>
        </p:nvSpPr>
        <p:spPr>
          <a:xfrm>
            <a:off x="796164" y="9022224"/>
            <a:ext cx="4995036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kumimoji="0" lang="en-US" altLang="ko-KR" sz="24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The sequence of the commands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CD92D38-F633-5687-F767-4DB9F65CC5D9}"/>
              </a:ext>
            </a:extLst>
          </p:cNvPr>
          <p:cNvGrpSpPr/>
          <p:nvPr/>
        </p:nvGrpSpPr>
        <p:grpSpPr>
          <a:xfrm>
            <a:off x="7129145" y="3056607"/>
            <a:ext cx="5097358" cy="5871650"/>
            <a:chOff x="7163223" y="2342664"/>
            <a:chExt cx="4981657" cy="6322985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488C20A-EC5A-14AB-7AF7-C73FAC718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1628"/>
            <a:stretch>
              <a:fillRect/>
            </a:stretch>
          </p:blipFill>
          <p:spPr>
            <a:xfrm>
              <a:off x="7163223" y="2342664"/>
              <a:ext cx="2633133" cy="6322985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862E948-D9DD-6B25-84ED-220345B43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8372"/>
            <a:stretch>
              <a:fillRect/>
            </a:stretch>
          </p:blipFill>
          <p:spPr>
            <a:xfrm>
              <a:off x="9677824" y="2342664"/>
              <a:ext cx="2467056" cy="6322985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82D457A-802D-E4FD-12E9-09B507508CB9}"/>
              </a:ext>
            </a:extLst>
          </p:cNvPr>
          <p:cNvSpPr txBox="1"/>
          <p:nvPr/>
        </p:nvSpPr>
        <p:spPr>
          <a:xfrm>
            <a:off x="84965" y="4683419"/>
            <a:ext cx="6417435" cy="188769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b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4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$ cd imp_genesys2-be_2026-06-22</a:t>
            </a:r>
            <a:br>
              <a:rPr lang="en-US" altLang="ko-KR" sz="2400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sz="2400" dirty="0">
                <a:solidFill>
                  <a:srgbClr val="494949"/>
                </a:solidFill>
                <a:latin typeface="Consolas" panose="020B0609020204030204" pitchFamily="49" charset="0"/>
              </a:rPr>
              <a:t>$</a:t>
            </a:r>
            <a:r>
              <a:rPr lang="ko-KR" altLang="en-US" sz="24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494949"/>
                </a:solidFill>
                <a:latin typeface="Consolas" panose="020B0609020204030204" pitchFamily="49" charset="0"/>
              </a:rPr>
              <a:t>make imp </a:t>
            </a:r>
            <a:r>
              <a:rPr lang="ko-KR" altLang="en-US" sz="2400" dirty="0">
                <a:solidFill>
                  <a:srgbClr val="494949"/>
                </a:solidFill>
                <a:latin typeface="Consolas" panose="020B0609020204030204" pitchFamily="49" charset="0"/>
              </a:rPr>
              <a:t>또는 </a:t>
            </a:r>
            <a:r>
              <a:rPr lang="en-US" altLang="ko-KR" sz="2400" dirty="0">
                <a:solidFill>
                  <a:srgbClr val="494949"/>
                </a:solidFill>
                <a:latin typeface="Consolas" panose="020B0609020204030204" pitchFamily="49" charset="0"/>
              </a:rPr>
              <a:t>make </a:t>
            </a:r>
            <a:r>
              <a:rPr lang="en-US" altLang="ko-KR" sz="2400" dirty="0" err="1">
                <a:solidFill>
                  <a:srgbClr val="494949"/>
                </a:solidFill>
                <a:latin typeface="Consolas" panose="020B0609020204030204" pitchFamily="49" charset="0"/>
              </a:rPr>
              <a:t>reimp</a:t>
            </a:r>
            <a:br>
              <a:rPr lang="en-US" altLang="ko-KR" sz="2400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sz="2400" dirty="0">
                <a:solidFill>
                  <a:srgbClr val="494949"/>
                </a:solidFill>
                <a:latin typeface="Consolas" panose="020B0609020204030204" pitchFamily="49" charset="0"/>
              </a:rPr>
              <a:t>$ make program</a:t>
            </a:r>
            <a:br>
              <a:rPr lang="en-US" altLang="ko-KR" sz="2400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sz="2400" dirty="0">
                <a:solidFill>
                  <a:srgbClr val="494949"/>
                </a:solidFill>
                <a:latin typeface="Consolas" panose="020B0609020204030204" pitchFamily="49" charset="0"/>
              </a:rPr>
              <a:t>$ make drv00.all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3AD039-8D3D-2753-1831-5CA8AA5AE8FB}"/>
              </a:ext>
            </a:extLst>
          </p:cNvPr>
          <p:cNvSpPr txBox="1"/>
          <p:nvPr/>
        </p:nvSpPr>
        <p:spPr>
          <a:xfrm>
            <a:off x="8243078" y="9022224"/>
            <a:ext cx="2869492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Result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498629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7548C-370F-6E60-02DC-A2FEC737B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AxFTL: Exploiting Error Tolerance for Extending Lifetime of NAND Flash Storage">
            <a:extLst>
              <a:ext uri="{FF2B5EF4-FFF2-40B4-BE49-F238E27FC236}">
                <a16:creationId xmlns:a16="http://schemas.microsoft.com/office/drawing/2014/main" id="{841EC9BC-E8ED-8352-0C61-CD62592B6C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/>
          </a:bodyPr>
          <a:lstStyle>
            <a:lvl1pPr defTabSz="566674">
              <a:defRPr sz="6305"/>
            </a:lvl1pPr>
          </a:lstStyle>
          <a:p>
            <a:pPr lvl="0" algn="ctr">
              <a:lnSpc>
                <a:spcPct val="100000"/>
              </a:lnSpc>
              <a:defRPr/>
            </a:pPr>
            <a:r>
              <a:rPr lang="en-US" altLang="ko-KR" sz="4000" dirty="0"/>
              <a:t>Whole codes</a:t>
            </a:r>
            <a:endParaRPr lang="ko-KR" altLang="en-US" sz="4000" dirty="0"/>
          </a:p>
        </p:txBody>
      </p:sp>
      <p:sp>
        <p:nvSpPr>
          <p:cNvPr id="83" name="Younghyun Kim…">
            <a:extLst>
              <a:ext uri="{FF2B5EF4-FFF2-40B4-BE49-F238E27FC236}">
                <a16:creationId xmlns:a16="http://schemas.microsoft.com/office/drawing/2014/main" id="{C27D3773-8351-EAD8-7660-BF05678219B1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254000" y="6481522"/>
            <a:ext cx="12192000" cy="266630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3500" dirty="0"/>
              <a:t>University of </a:t>
            </a:r>
            <a:r>
              <a:rPr lang="en-US" altLang="ko-KR" sz="3500" dirty="0" err="1"/>
              <a:t>ulsan</a:t>
            </a:r>
            <a:endParaRPr lang="en-US" altLang="ko-KR" sz="3500" dirty="0"/>
          </a:p>
          <a:p>
            <a:pPr lvl="0">
              <a:defRPr/>
            </a:pPr>
            <a:r>
              <a:rPr lang="en-US" altLang="ko-KR" sz="3500" dirty="0"/>
              <a:t>Electronical, Electronic and Computer Engineering</a:t>
            </a:r>
            <a:r>
              <a:rPr lang="ko-KR" altLang="en-US" sz="3500" dirty="0"/>
              <a:t> </a:t>
            </a:r>
            <a:endParaRPr lang="en-US" altLang="ko-KR" sz="3500" dirty="0"/>
          </a:p>
          <a:p>
            <a:pPr lvl="0">
              <a:defRPr/>
            </a:pPr>
            <a:r>
              <a:rPr lang="en-US" altLang="ko-KR" sz="3500" dirty="0" err="1"/>
              <a:t>Jaehyeok</a:t>
            </a:r>
            <a:r>
              <a:rPr lang="en-US" altLang="ko-KR" sz="3500" dirty="0"/>
              <a:t> Cho</a:t>
            </a:r>
          </a:p>
        </p:txBody>
      </p:sp>
    </p:spTree>
    <p:extLst>
      <p:ext uri="{BB962C8B-B14F-4D97-AF65-F5344CB8AC3E}">
        <p14:creationId xmlns:p14="http://schemas.microsoft.com/office/powerpoint/2010/main" val="163388336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F82E5-E53B-73D7-0F91-A7D967051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86E4F8E6-C282-A72C-30D8-1C1D76EA3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69031" cy="97536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C7CE521-D1B7-5FA2-64EF-A8E908ABEAE1}"/>
              </a:ext>
            </a:extLst>
          </p:cNvPr>
          <p:cNvSpPr txBox="1"/>
          <p:nvPr/>
        </p:nvSpPr>
        <p:spPr>
          <a:xfrm>
            <a:off x="7241720" y="701298"/>
            <a:ext cx="5119008" cy="8351004"/>
          </a:xfrm>
          <a:prstGeom prst="rect">
            <a:avLst/>
          </a:prstGeom>
          <a:solidFill>
            <a:schemeClr val="bg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#include &lt;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stdint.h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&gt;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#include "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ervp_printf.h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“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#include "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txt.h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“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#include "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ervp_mmio_util.h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“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#define IP_DATA(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) (MY_TEST_IP_SLAVE_BASEADDR + ((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) &lt;&lt; 2))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#define IP_CTRL    (MY_TEST_IP_SLAVE_BASEADDR + 0x800)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#define IP_STATUS  (MY_TEST_IP_SLAVE_BASEADDR + 0x808)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b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#define CHECK_LOAD(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call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)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do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{                 \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rc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= (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call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);                          \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(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rc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!= 0) {                            \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    printf("LOAD FAIL: %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-&gt;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rc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=%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d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\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",   \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           #call,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rc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);                   \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1;                             \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}                                         \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}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while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(0)</a:t>
            </a:r>
            <a:b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b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b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static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int8_t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input_token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[NUM_CHANNELS][NUM_HEIGHT][NUM_WIDTH];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main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()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{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printf("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Double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IP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test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\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");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CHECK_LOAD(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load_int_value_txt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Input_token.txt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",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input_token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));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b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(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= 0;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&lt; NUM_CHANNELS;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++) {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(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j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= 0;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j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&lt; NUM_HEIGHT;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j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++) {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       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(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k = 0; k &lt; NUM_WIDTH; k++) {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            printf("%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d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",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input_token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][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j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][k]);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        }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        printf("\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");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    }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    printf("\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");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}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printf(" ::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input_token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write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to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IP_DATA\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");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(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= 0;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&lt; 5;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++)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(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j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= 0;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j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&lt; 8;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j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++)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       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(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k = 0; k &lt; 8; k++)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           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mmio_write_data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(IP_DATA(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*8*8 +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j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*8 + k), (uint32_t)(int32_t)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input_token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][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j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][k]);  // 부호확장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mmio_write_data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(IP_CTRL, 1);                    // 처리 시작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printf(" :: IP_CTRL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written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\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");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while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((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mmio_read_data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(IP_STATUS) &amp; 1) == 0) ;  //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done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폴링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b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(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= 0;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&lt; 5;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++){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(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j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= 0;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j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&lt; 8;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j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++){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       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(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k = 0; k &lt; 8; k++){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            printf("%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d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", (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)(int32_t)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mmio_read_data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(IP_DATA(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*8*8 +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j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*8 + k)));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        }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        printf("\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");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    }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    printf("\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");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}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printf(" :: DONE\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");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b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ko-KR" altLang="ko-KR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0;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br>
              <a:rPr lang="ko-KR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endParaRPr lang="ko-KR" altLang="ko-KR" sz="800" dirty="0">
              <a:solidFill>
                <a:schemeClr val="bg1">
                  <a:lumMod val="10000"/>
                  <a:lumOff val="9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41253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880AD-FDE4-59A7-78CF-AC1310F19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11035DA4-E385-E2D5-AA02-A4BEB7AF1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0"/>
            <a:ext cx="4588962" cy="97536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C3EF331-70CA-FBAB-1D78-9C6288F6CD25}"/>
              </a:ext>
            </a:extLst>
          </p:cNvPr>
          <p:cNvSpPr txBox="1"/>
          <p:nvPr/>
        </p:nvSpPr>
        <p:spPr>
          <a:xfrm>
            <a:off x="5636712" y="166808"/>
            <a:ext cx="6511018" cy="9140964"/>
          </a:xfrm>
          <a:prstGeom prst="rect">
            <a:avLst/>
          </a:prstGeom>
          <a:solidFill>
            <a:schemeClr val="bg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module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MY_TEST_IP_DOUBLER</a:t>
            </a:r>
          </a:p>
          <a:p>
            <a:pPr algn="l"/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#(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parameter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SIZE_OF_MEMORYMAP = 'h1000,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parameter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BW_ADDR = 32,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parameter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BW_DATA = 32,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parameter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NUM_DATA = 320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)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(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clk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rstnn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,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rpsel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rpenable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rpwrite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rpaddr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rpwdata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rpready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rprdata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rpslverr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);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input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wire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clk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input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wire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rstnn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input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wire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rpsel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input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wire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rpenable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input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wire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rpwrite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input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wire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[BW_ADDR-1:0]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rpaddr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input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wire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[BW_DATA-1:0]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rpwdata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output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wire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rpready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output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reg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[BW_DATA-1:0]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rprdata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output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wire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rpslverr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localparam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ADDR_CTRL   = 12'h800;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localparam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ADDR_STATUS = 12'h808;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reg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[BW_DATA-1:0]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mem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[0:NUM_DATA-1];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reg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busy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reg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done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reg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[9:0]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idx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wire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access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rpsel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&amp;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rpenable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wire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wr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=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access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&amp;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rpwrite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wire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[BW_ADDR-1:0]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widx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rpaddr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&gt;&gt; 2;          //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byte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-&gt;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word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index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wire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is_data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= (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rpaddr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[11:0] &lt; (NUM_DATA&lt;&lt;2));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assign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rpready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= 1'b1;   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assign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rpslverr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= 1’b0;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always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@(posedge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clk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or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negedge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rstnn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)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begin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(!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rstnn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)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begin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busy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&lt;= 1'b0; 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done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&lt;= 1'b0; 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idx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&lt;= 10’d0;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end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else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busy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)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begin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mem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idx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] &lt;=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mem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idx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] +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mem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idx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];            // ×2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idx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== NUM_DATA-1)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begin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busy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&lt;= 1'b0; 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done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&lt;= 1'b1; 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end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else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           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idx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&lt;=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idx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+ 1’b1;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end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else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wr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)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begin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is_data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)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begin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mem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widx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] &lt;=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rpwdata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end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else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rpaddr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[11:0]==ADDR_CTRL &amp;&amp;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rpwdata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[0])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begin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busy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&lt;= 1'b1; 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done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&lt;= 1'b0; 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idx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&lt;= 10'd0;  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end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end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end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always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@(*)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begin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rpaddr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[11:0]==ADDR_STATUS) 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rprdata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= {31'b0,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done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};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else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              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    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rprdata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mem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widx</a:t>
            </a: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];</a:t>
            </a:r>
            <a:br>
              <a:rPr lang="en-US" altLang="ko-KR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800" dirty="0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end</a:t>
            </a:r>
            <a:endParaRPr lang="ko-KR" altLang="en-US" sz="800" dirty="0">
              <a:solidFill>
                <a:schemeClr val="bg1">
                  <a:lumMod val="10000"/>
                  <a:lumOff val="90000"/>
                </a:schemeClr>
              </a:solidFill>
              <a:latin typeface="Consolas" panose="020B0609020204030204" pitchFamily="49" charset="0"/>
            </a:endParaRPr>
          </a:p>
          <a:p>
            <a:pPr algn="l"/>
            <a:r>
              <a:rPr lang="ko-KR" altLang="en-US" sz="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endmodule</a:t>
            </a:r>
            <a:endParaRPr lang="ko-KR" altLang="en-US" sz="800" dirty="0">
              <a:solidFill>
                <a:schemeClr val="bg1">
                  <a:lumMod val="10000"/>
                  <a:lumOff val="9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77498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New_Template7">
  <a:themeElements>
    <a:clrScheme name="New_Template7">
      <a:dk1>
        <a:srgbClr val="494949"/>
      </a:dk1>
      <a:lt1>
        <a:srgbClr val="222222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Avenir Next Regular"/>
        <a:ea typeface="Avenir Next Regular"/>
        <a:cs typeface="Avenir Next Regular"/>
      </a:majorFont>
      <a:minorFont>
        <a:latin typeface="Arial"/>
        <a:ea typeface="Arial"/>
        <a:cs typeface="Arial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>
          <a:solidFill>
            <a:srgbClr val="5B5854"/>
          </a:solidFill>
          <a:prstDash val="solid"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2800" b="0" i="0" u="none" strike="noStrike" cap="all" spc="0" normalizeH="0" baseline="0">
            <a:solidFill>
              <a:srgbClr val="838787"/>
            </a:solidFill>
            <a:effectLst/>
            <a:uFillTx/>
            <a:latin typeface="DIN Condensed Bold"/>
            <a:ea typeface="DIN Condensed Bold"/>
            <a:cs typeface="DIN Condensed Bold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spDef>
    <a:lnDef>
      <a:spPr>
        <a:noFill/>
        <a:ln w="25400" cap="flat">
          <a:solidFill>
            <a:schemeClr val="accent1"/>
          </a:solidFill>
          <a:prstDash val="solid"/>
          <a:miter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lnDef>
    <a:txDef>
      <a:spPr>
        <a:noFill/>
        <a:ln w="12700" cap="flat">
          <a:noFill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FontTx/>
          <a:buNone/>
          <a:defRPr kumimoji="0" sz="2800" b="0" i="0" u="none" strike="noStrike" cap="none" spc="0" normalizeH="0" baseline="0">
            <a:solidFill>
              <a:srgbClr val="494949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txDef>
  </a:objectDefaults>
  <a:extraClrSchemeLst/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Avenir Next Regular"/>
        <a:ea typeface="Avenir Next Regular"/>
        <a:cs typeface="Avenir Next Regular"/>
      </a:majorFont>
      <a:minorFont>
        <a:latin typeface="Arial"/>
        <a:ea typeface="Arial"/>
        <a:cs typeface="Arial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>
          <a:solidFill>
            <a:srgbClr val="5B5854"/>
          </a:solidFill>
          <a:prstDash val="solid"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2800" b="0" i="0" u="none" strike="noStrike" cap="all" spc="0" normalizeH="0" baseline="0">
            <a:solidFill>
              <a:srgbClr val="838787"/>
            </a:solidFill>
            <a:effectLst/>
            <a:uFillTx/>
            <a:latin typeface="DIN Condensed Bold"/>
            <a:ea typeface="DIN Condensed Bold"/>
            <a:cs typeface="DIN Condensed Bold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spDef>
    <a:lnDef>
      <a:spPr>
        <a:noFill/>
        <a:ln w="25400" cap="flat">
          <a:solidFill>
            <a:schemeClr val="accent1"/>
          </a:solidFill>
          <a:prstDash val="solid"/>
          <a:miter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lnDef>
    <a:txDef>
      <a:spPr>
        <a:noFill/>
        <a:ln w="12700" cap="flat">
          <a:noFill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FontTx/>
          <a:buNone/>
          <a:defRPr kumimoji="0" sz="2800" b="0" i="0" u="none" strike="noStrike" cap="none" spc="0" normalizeH="0" baseline="0">
            <a:solidFill>
              <a:srgbClr val="494949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133482</TotalTime>
  <Words>1527</Words>
  <Application>Microsoft Office PowerPoint</Application>
  <PresentationFormat>사용자 지정</PresentationFormat>
  <Paragraphs>67</Paragraphs>
  <Slides>14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DIN Alternate Bold</vt:lpstr>
      <vt:lpstr>DIN Condensed Bold</vt:lpstr>
      <vt:lpstr>맑은 고딕</vt:lpstr>
      <vt:lpstr>Arial</vt:lpstr>
      <vt:lpstr>Consolas</vt:lpstr>
      <vt:lpstr>Tahoma</vt:lpstr>
      <vt:lpstr>Times New Roman</vt:lpstr>
      <vt:lpstr>New_Template7</vt:lpstr>
      <vt:lpstr>tip ddr rtl v0 - data doubler RTL test connection</vt:lpstr>
      <vt:lpstr>ModelSim simulation</vt:lpstr>
      <vt:lpstr>ModelSim launch</vt:lpstr>
      <vt:lpstr>Vivado report</vt:lpstr>
      <vt:lpstr>Test doubler module</vt:lpstr>
      <vt:lpstr>Connection between platform and RTL</vt:lpstr>
      <vt:lpstr>Address Map check</vt:lpstr>
      <vt:lpstr>APB protocol connection</vt:lpstr>
      <vt:lpstr>Updated information</vt:lpstr>
      <vt:lpstr>RISC-V communication with RTL</vt:lpstr>
      <vt:lpstr>Compile and Run CMDs</vt:lpstr>
      <vt:lpstr>Whole codes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Processor System with Zynq</dc:title>
  <dc:creator>Jaehyun</dc:creator>
  <cp:lastModifiedBy>조재혁</cp:lastModifiedBy>
  <cp:revision>3129</cp:revision>
  <dcterms:modified xsi:type="dcterms:W3CDTF">2026-07-01T08:46:33Z</dcterms:modified>
  <cp:version>1000.0000.01</cp:version>
</cp:coreProperties>
</file>